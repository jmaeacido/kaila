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45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00633" y="1828800"/>
            <a:ext cx="6651693" cy="712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4552"/>
                </a:solidFill>
              </a:defRPr>
            </a:pPr>
            <a:r>
              <a:rPr sz="4030"/>
              <a:t>KAILA Founder-Grade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314" y="2606040"/>
            <a:ext cx="8222892" cy="4031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5B6F74"/>
                </a:solidFill>
              </a:defRPr>
            </a:pPr>
            <a:r>
              <a:rPr sz="2020"/>
              <a:t>Complete founder presentation for a Gingoog City local services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657600"/>
            <a:ext cx="8412480" cy="1098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2A31"/>
                </a:solidFill>
              </a:defRPr>
            </a:pPr>
            <a:r>
              <a:rPr sz="1790"/>
              <a:t>KAILA answers the familiar question: Naa moy kaila?</a:t>
            </a:r>
          </a:p>
          <a:p>
            <a:pPr>
              <a:spcAft>
                <a:spcPts val="700"/>
              </a:spcAft>
              <a:defRPr sz="1600">
                <a:solidFill>
                  <a:srgbClr val="122A31"/>
                </a:solidFill>
              </a:defRPr>
            </a:pPr>
            <a:r>
              <a:rPr sz="1790"/>
              <a:t>Purpose: make skilled people visible and help communities find trusted local help faster.</a:t>
            </a:r>
          </a:p>
          <a:p>
            <a:pPr>
              <a:spcAft>
                <a:spcPts val="700"/>
              </a:spcAft>
              <a:defRPr sz="1600">
                <a:solidFill>
                  <a:srgbClr val="122A31"/>
                </a:solidFill>
              </a:defRPr>
            </a:pPr>
            <a:r>
              <a:rPr sz="1790"/>
              <a:t>Format: online HTML slideshow plus downloadable PowerPoint.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32546" y="644652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7945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7477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What This Presentation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01 Master Business Proposal: full business case, strategy, operations, risks, roadmap, and references.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02 Business Model Canvas and Lean Canvas: business assumptions and decision rules.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03 Market Validation and Feasibility Study: research, interviews, pilot, and go/no-go scoring.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04 Provider Recruitment and Operations Playbook: supply strategy, onboarding, rules, retention, and disputes.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05 MVP Functional Specification: users, modules, flows, database concept, and build sequence.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06 Investor Style Pitch Deck: concise opportunity narrative and co-founder ask.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07 Founders Agreement Discussion Draft: roles, ownership, vesting, decisions, confidentiality, and IP.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08 Three-Year Financial Projection: assumptions, revenue model, cost model, and unit economics.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09 Field Forms Pack: practical forms for surveys, signups, interviews, requests, job logs, and meetings.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2546" y="644652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7945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4375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Package Reading 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850603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File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Role in the Package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01 Master Business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Core strategy and founder-grade business case.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02 Canvas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Assumptions compressed into business and lean model views.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03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Evidence plan before building the app.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04 Provider Playbook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Supply-side recruitment and operating rules.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05 MVP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Product scope and engineering planning notes.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06 Pitch Deck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Short presentation narrative for early discussions.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07 Founders Agreement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Non-legal alignment guide for founder conversations.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08 Financial Projection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Editable planning model and unit economics.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09 Field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Operational forms for research and concierge pilot work.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2546" y="644652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1062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79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KAILA is a proposed local services marketplace for Philippine cities and municipalities, initially modeled for a focused local pilot.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The platform helps clients find trusted skilled workers and helps skilled workers become visible beyond personal networks.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Clients post requests with category, location, budget, urgency, and media attachments.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Providers receive relevant requests, accept budgets or submit counter-offers, and clients compare offers using price, rating, availability, and profile credibility.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After completion, both sides rate each other to build trust and operational accountability.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2546" y="644652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7172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Business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Working name: KAILA.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Brand meaning: KAILA connects to the local behavior of asking if someone knows a reliable person for a job.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Tagline options: Kung wala kay kaila, naa mi. Local help, easier to find. Find trusted local help. Make skilled people visible.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Mission: make skilled people visible and help communities find trusted local help faster.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Vision: every skilled worker can be discovered and every household can quickly find reliable help for everyday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2546" y="644652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0816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The deeper problem is broken discovery, not simply a shortage of skilled workers.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Clients do not know who is available, reliable, nearby, or fairly priced.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Skilled workers lose opportunities because they depend on personal networks, referrals, Facebook posts, and Messenger chats.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Trust is difficult because there is no single profile showing identity status, completed jobs, ratings, skills, and work history.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Urgent needs are harder to solve because clients cannot quickly identify who is available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2546" y="644652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1537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Customer Segments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357402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Segment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Description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Primary 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Households, renters, homeowners, and small businesses needing repairs, installation, maintenance, cleaning, design, troubleshooting, manpower, or technical help.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Primary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Experienced workers, freelancers, home-based skilled workers, mechanics, computer technicians, graphic designers, cleaners, and small shops.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Early adopters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Clients who already ask for help online and providers who already accept work through referrals or social media.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2546" y="644652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1940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Local communities have many skilled people, but discovery remains fragmented.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Internet and smartphone use make a digitally assisted marketplace realistic.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MSMEs and independent workers create a strong provider-side opportunity.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 dense city-level pilot can prove marketplace behavior before wider expansion.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The strongest opportunity is not just software; it is organizing trust, visibility, and request matching.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2546" y="644652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9150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Clients create service requests with category, budget, urgency, location, description, and optional photos or videos.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Providers receive matching requests based on service category and location.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Providers can accept the client budget or submit counter-offers.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Clients compare candidates and choose based on offer, rating, availability, completed jobs, and verification level.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Messaging, completion confirmation, and two-way ratings close the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2546" y="644652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8184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Client, Provider, and Trust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103133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Flow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Steps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Post request -&gt; receive offers -&gt; compare candidates -&gt; select provider -&gt; chat -&gt; confirm completion -&gt; rate provider.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Provider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Create profile -&gt; select categories -&gt; receive matching requests -&gt; submit offer -&gt; perform job -&gt; mark complete -&gt; rate client.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Trust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Profile details -&gt; verification level -&gt; completed jobs -&gt; ratings/reviews -&gt; dispute record -&gt; ongoing reliability score.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8801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Minimum Viable Product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20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Registration and profiles for clients, providers, admins, and optional operations staff.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 profiles with categories, skills, experience, location, photo, verification level, and availability.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Client request posting with budget, urgency, description, attachments, and location.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 dashboard, offers/counter-offers, client comparison, messaging, job statuses, ratings, reviews, admin dashboard, notifications, and basic reports.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Avoid overbuilding before validation: prove posting, offers, completion, ratings, and trust behavior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9804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Unique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For clients: find trusted local help faster, compare offers, view credibility, and reduce dependence on scattered referrals.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For providers: become visible, receive more opportunities, build reputation, and show proof of reliability.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For communities: unlock local skill supply, reduce search friction, and strengthen local economic activity.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KAILA is local, provider-first, and operationally validated before national expansion.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56298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Why Include Non-Certified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115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Many valuable skills are learned through experience, apprenticeship, family trade, self-study, or years of practice.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Limiting the platform only to certified professionals would exclude many capable local workers.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KAILA can separate trust levels: listed, identity verified, work verified, top rated, and certified/business verified.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This approach respects local reality while still giving clients trust signals and choice.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8426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Initial Service Categories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305115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Category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Examples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t>Appliance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Washing machines, refrigerators, aircon, fans, rice cookers, small appliances.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t>Plumbing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Leaks, clogged drains, faucet replacement, water lines, toilet repair.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t>Electrical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Lights, outlets, breakers, wiring assessment, installation, troubleshooting.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t>Computer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Formatting, virus removal, slow PC optimization, basic hardware replacement.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t>Cellphone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Screen, battery, charging port, speaker, camera, and basic software issues.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t>Mechanical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Motorcycles, small engines, basic vehicle concerns.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t>Home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Carpentry, welding, painting, installation, cleaning, odd jobs.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t>Digital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Graphic design, layout, tarpaulin design, basic digital work.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6279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Business Model Phases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089662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Phase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Model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Phase 1 - Free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Run a concierge pilot, build trust, recruit providers, and collect evidence before charging.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Phase 2 - Provider visibility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Featured listings, premium profiles, badges, and profile boosts.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Phase 3 - Transaction or lead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Lead credits, subscriptions, small commissions, ads, and business accounts after usage is proven.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6440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02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Current alternatives: Facebook groups, Messenger chats, personal referrals, marketplace posts, classified listings, and local directories.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Weaknesses: scattered information, weak comparison, unclear pricing, limited trust signals, and no structured job history.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KAILA advantage: structured request posting, provider profiles, ratings, verification levels, offers, operational support, and local marketplace density.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5674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20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Pilot principle: build provider supply first, then activate client demand.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Launch area: one focused city or barangay cluster; current sample geography is Gingoog City.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 target: recruit enough providers in the first 5 to 8 service categories.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Client target: collect real service requests and validate whether users will post jobs, compare offers, and rate after completion.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Launch offer: free pilot participation for both providers and clients.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50407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Operations Plan and Key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070078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Area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Details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Provider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Collect identity, contact, categories, experience, work samples, availability, service radius, and verification consent.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Help clients describe jobs, add photos, compare offers, and report problems.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Dispute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Review request details, chats, photos, agreed scope, price, completion confirmation, ratings, and complaint notes.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Safety and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Identity checks, two-way ratings, admin moderation, provider rules, and complaint tracking.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Active providers, requests, response rate, offers per request, completed jobs, ratings, repeat usage, disputes, provider earnings, and GMV.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6291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2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Marketplace cold start: recruit providers first and manually assist early matching.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Trust and safety: use verification levels, ratings, evidence collection, and admin review.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 inactivity: track response time and protect active providers with visibility benefits.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Facebook habit barrier: use Facebook and Messenger during pilot instead of fighting behavior immediately.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Pricing conflicts: clarify scope and use offer/counter-offer records.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Legal and liability risk: use clear terms, disclaimers, and legal review before formal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1758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12-Month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325660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Period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Focus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Months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Validation through surveys, interviews, desk research, and problem evidence.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Months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Supply build through provider recruitment, onboarding, and category focus.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Months 5-7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MVP development after validation signals are strong enough.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Months 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Pilot launch, track requests, response time, completed jobs, and satisfaction.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Months 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Optimize categories, pricing guidance, provider quality, client education, and monetization tests.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0098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01 Master Business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5531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Founder Roles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Business and strategy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 acquisition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Operations and support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Marketing and community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Finance and administration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Product and technology lead.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Clear ownership, contribution expectations, and decision rules should be discussed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9538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02 Business Model Canvas and Lean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56235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Business Model Canvas: Market Side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738818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Block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KAILA Assumption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Customer 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Clients: households, renters, homeowners, small businesses, students, institutions. Providers: skilled workers, technicians, freelancers, odd-job workers, certified and experienced providers.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Value propositions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Clients find trusted help faster. Providers become visible and build reputation. Communities unlock local skill supply.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Facebook, community groups, Messenger, referrals, barangay networks, alumni networks, local partners, mobile-friendly website, future app.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Customer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Trust-based marketplace, ratings, reviews, provider profiles, verification badges, support desk, dispute handling, and moderation.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Revenue streams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Free pilot first; later featured listings, premium profiles, lead credits, subscriptions, small commissions, advertising, and business accounts.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9538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02 Business Model Canvas and Lean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60220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Business Model Canvas: Operating Side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308879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Block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KAILA Assumption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Key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Founder team, provider network, client base, platform, brand, verification system, operations playbook, community trust.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Key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Provider recruitment, market validation, request matching, platform development, support, moderation, verification, marketing, analytics.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Key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Skilled workers, repair shops, hardware stores, electronics stores, schools, community leaders, local businesses, future payment partners.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Cost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Domain, hosting, SMS/email notifications, branding, marketing, field recruitment, support, legal setup, payment processing, development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9538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02 Business Model Canvas and Lean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0113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Lean Canvas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62224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Block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Assumption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Clients cannot easily find trusted providers; skilled workers remain invisible; social referrals are scattered.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Customer 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Pilot city households and small businesses; local skilled workers seeking more jobs.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Unique value proposition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KAILA answers Naa moy kaila? with trusted, rated, local service providers.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Request posting, category matching, provider profiles, offers, counter-offers, messaging, ratings, admin controls.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Unfair 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Local behavior insight, provider-first recruitment, community trust, and operational validation before full product build.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9538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02 Business Model Canvas and Lean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7500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Business Model Decision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Do not monetize before trust and usage are proven.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Start with provider visibility or lead products before commissions.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Keep the pilot narrow enough to manually support.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Prioritize categories with urgent need and reliable provider response.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If provider supply is weak, pause product development and recruit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8811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3851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Purpose of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587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Prove that the problem is real and the proposed solution is useful before spending time and money on a full app.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Validate demand from clients and willingness from providers.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Identify the strongest initial categories.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Test pricing behavior and negotiation comfort.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Find operational risks before development begins.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Create evidence that future co-founders can believe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8811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1118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305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How do residents currently find service providers?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Which services are hardest to find and most urgent?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What makes clients trust or distrust a provider?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Are clients willing to post their need in an organized platform?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Are providers willing to receive job notifications and submit offers?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What verification steps feel acceptable and fair?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What categories should be included in the pilot?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What would make people switch from Facebook referrals to KAILA?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8811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7776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Validation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8878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Stage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Activity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1 - Desk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Observe local Facebook groups and record service requests, language used, response time, comments, and pain points.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2 - Client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Survey at least 100 residents in the pilot area about recent service needs, trust, price, and platform willingness.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3 - Provider interviews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Interview at least 50 providers across the first 5 to 8 categories.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4 - Concierge 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Run the browser MVP/native app plus Facebook concierge posting and Messenger follow-up for 30 to 45 days.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5 - Go/no-go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Use a scoring system to decide whether to build, pivot, narrow scope, or pause.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8811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7180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Client Survey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335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In the past 6 months, did you need a repairman, technician, designer, mechanic, plumber, electrician, or other skilled worker?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How did you look for that person, and how long did it take?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What was the hardest part of finding help?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Did you compare prices from more than one provider?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What made you trust the provider?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Would you post a job and receive offers through a platform?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Would you upload photos or videos and rate the provider after completion?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Which categories would you most likely use?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8811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5371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Provider Interview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What services do you offer and how many years have you done this work?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How do clients usually find you and how many jobs do you get weekly?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Do you want more clients, and what areas can you cover?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Would you receive job requests through phone notifications or Messenger during the pilot?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Are you comfortable submitting offers or counter-offers?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What makes a client good or difficult to work with?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What verification steps are acceptable to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8811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3577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Concierge Pilot Setup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116008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Component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Details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Facebook page, Google Form for client requests, provider registration form, spreadsheet tracker, Messenger groups or broadcasts.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 submits request -&gt; operations checks completeness -&gt; provider lead forwards request -&gt; providers reply with offer -&gt; client chooses -&gt; admin logs outcome.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Why it matters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A manual pilot tests marketplace behavior before software complexity is introduced.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8811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2366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Validation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Measure client willingness to post requests.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Measure provider willingness to join and respond.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Track requests, offers, completed or strongly matched jobs, response time, and rating behavior.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Look for categories with enough demand and provider availability.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Use evidence to decide whether to build, narrow, redesign, or pause.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8811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0705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Go / No-Go Criteria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247828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Decision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Indicators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Proceed to 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Clients post real requests; providers respond; at least 15 jobs are completed or strongly matched; ratings behavior is acceptable.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Narrow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Only 1 to 2 categories show strong demand; some categories have weak response; clients need help describing jobs.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Pause or redesign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Providers refuse to participate, clients will not post requests, trust barriers are too high, or operations cannot support matching.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8811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03 Market Validation and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6420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Feasibility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Technical feasibility is high for a basic web MVP using common web technologies.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Operational feasibility depends on provider recruitment, response discipline, support, and dispute handling.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Market feasibility depends on whether people switch from informal referrals to a structured request and offer flow.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Financial feasibility should be tested after usage and trust are proven.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33915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7632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Provider Recruitment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53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KAILA is a two-sided marketplace, but the supply side must be built first.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Clients will only trust the platform if there are enough relevant, responsive, and credible providers.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 recruitment is the first operational priority.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Early provider density should focus on urgent and high-frequency categories.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33915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6075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Target Provider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Home-based appliance repair technicians.</a:t>
            </a:r>
          </a:p>
          <a:p>
            <a:r>
              <a:t>Electricians and plumbers who accept household jobs.</a:t>
            </a:r>
          </a:p>
          <a:p>
            <a:r>
              <a:t>Motorcycle mechanics and small engine repair workers.</a:t>
            </a:r>
          </a:p>
          <a:p>
            <a:r>
              <a:t>Computer repair technicians and software troubleshooters.</a:t>
            </a:r>
          </a:p>
          <a:p>
            <a:r>
              <a:t>Cellphone repair technicians and small phone repair stalls.</a:t>
            </a:r>
          </a:p>
          <a:p>
            <a:r>
              <a:t>Carpenters, welders, painters, and general maintenance workers.</a:t>
            </a:r>
          </a:p>
          <a:p>
            <a:r>
              <a:t>Graphic designers, layout artists, tarpaulin designers, and digital freelancers.</a:t>
            </a:r>
          </a:p>
          <a:p>
            <a:r>
              <a:t>Cleaning, gardening, errands, hauling, manpower providers, and small service shops.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33915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4734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Recruitment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Personal network: friends, neighbors, relatives, classmates, local contacts.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Facebook search: service posts, buy-and-sell groups, marketplace posts, pages of local technicians.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Field visits: repair shops, hardware stores, electronics stores, motorcycle shops, computer shops.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Community referrals: barangay contacts, homeowners, stores, alumni, churches, and community groups.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Provider-to-provider referrals: ask every provider to recommend two skilled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33915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2092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Provider Pitch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53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Simple version: We are building KAILA, a local platform that helps people find trusted workers.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Many clients ask online if anyone knows a plumber, electrician, technician, mechanic, or designer.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We want to list reliable providers so clients can find you when they need your service.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The pilot is free. You can accept or decline requests, and you can give your own offer.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33915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7057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Provider Onboarding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Full name and display name.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Contact number and preferred channel.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Service categories, specific skills, and years of experience.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Coverage area, travel limits, availability, and emergency availability.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Sample price range or minimum service fee.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Photos of previous work, tools, or shop.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Optional certificates, permit, training proof, valid ID, and consent to be contacted during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33915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6126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Provider Quality Levels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687516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Level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Meaning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1 - Listed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Basic profile information and selected service categories.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2 - Identity 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Submitted ID and passed basic identity check.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3 - Work 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Submitted work samples, references, or completed pilot jobs.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4 - Top 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Strong ratings, completed jobs, fast response, and low dispute rate.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5 - Certified or Business 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Optional certificate, training credential, shop, permit, or recognized professional background.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33915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8438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Operational Rules for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Respond honestly and only accept jobs you can perform.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Do not change price unfairly after arrival unless job scope changes.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Communicate delays early.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Respect client property and privacy.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Do not harass, threaten, pressure clients, or bypass pilot tracking.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Ask the client to confirm job completion before leaving when possible.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Accept that ratings and reviews are part of the trust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33915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9621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Retention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Give early providers a founding provider badge.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Share monthly performance summaries: requests received, offers sent, jobs completed, ratings.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Feature high-performing providers on the Facebook page.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Create category-based provider groups for updates and feedback.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Ask providers what jobs they want more of.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Avoid charging too early before providers feel real value.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Protect providers from abusive clients through two-way ratings.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33915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7803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Dispute Playbook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480372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Area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Details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Common disputes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Provider no-show, client no-show, price change after arrival, poor quality work, property damage, payment disagreement, scope misunderstanding, rude communication.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Evidence to collect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Original request, before/after photos or videos, chat messages, offer amount, agreed scope, completion confirmation, ratings, and complaint notes.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Possible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No action, private warning, rating remains, account restriction, removal from verified status, suspension, or permanent ban for severe cases.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33915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04 Provider Recruitment and Operations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5284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Provider Recruitment Targets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035142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Category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Minimum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Ideal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Reason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t>Appliance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household demand and urgent repair needs.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t>Plumbing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Leak and clog problems require fast response.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t>Electrical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Safety-sensitive and common household need.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t>Computer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fit with students, offices, and households.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t>Cellphone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Frequent phone screen, battery, charging, and software issues.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t>Mechanical / motorcycle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Common in local communities.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t>Carpentry / home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Frequent small repair and improvement jobs.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t>Graphic / digital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Useful for local events, businesses, and students.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r>
                        <a:t>General odd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Flexible supply for miscellaneous needs.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2454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6179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MVP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44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The MVP should prove marketplace behavior, not impress users with advanced technology.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It must be simple enough to build and operate, but complete enough to test request posting, provider response, offers, completed jobs, and ratings.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The MVP should support manual operations during pilot instead of forcing full automation too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2454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7525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User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978698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Role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Capabilities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Guest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View basic landing page and public categories.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Create requests, receive offers, choose providers, chat, confirm completion, rate providers.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Create profile, select categories, view matching requests, send offers, chat, update job status, rate clients.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Manage categories, users, verification, requests, disputes, reports, and settings.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Operations 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Optional role for manual matching, onboarding, and support during pilot.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2454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2581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587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Authentication and profiles: register/login, role selection, photo, contact info, location, provider categories, verification status.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Service requests: category, subcategory, description, budget, urgency, location, media attachments, status.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Offer system: accept budget, counter-offer, schedule, notes, candidate comparison, provider selection.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Messaging: basic chat once offer or selection exists; system messages; admin review access for disputes.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Ratings and reviews: client rates provider and provider rates client with practical reminders.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Admin dashboard: users, requests, provider verification, categories, disputes, basic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2454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54266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Urgency Levels and Job Status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581492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3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Type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Values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3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Urgency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Emergency, Today, This Week, Flexible, Scheduled.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3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Job statuses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Draft, Posted, Offers Received, Accepted, In Progress, Completed by Provider, Confirmed by Client, Rated, Cancelled, Disputed.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2454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6821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MVP Database Concept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547408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32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Entity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Purpose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Important Fields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All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id, name, phone, email, password, role, status, created_at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provider_profiles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Provider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user_id, bio, years_experience, service_radius, availability, verification_level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Service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id, name, parent_id, description, 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client_id, category_id, description, budget, urgency, location,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offers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Provider offers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request_id, provider_id, amount, notes, schedule,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Accepted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request_id, provider_id, agreed_amount, status, started_at, completed_at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Chat 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job_id/request_id, sender_id, message, created_at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Two-way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job_id, rater_id, ratee_id, score, review, rating_type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verifications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Trust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user_id, type, status, reviewed_by, reviewed_at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disputes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Issue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job_id, complaint_by, reason, details, status, resolution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2454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6492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2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Mobile-first responsive design.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Simple wording and Cebuano-friendly labels where useful.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Fast request posting with minimal required fields.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Safe file upload handling for photos/videos.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Basic moderation and admin review tools.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Avoid complex features until the marketplace behavior is proven.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2454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6269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Do Not Build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2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In-app payments.</a:t>
            </a:r>
          </a:p>
          <a:p>
            <a:r>
              <a:t>GPS live tracking.</a:t>
            </a:r>
          </a:p>
          <a:p>
            <a:r>
              <a:t>Native app polish beyond the current wrapper.</a:t>
            </a:r>
          </a:p>
          <a:p>
            <a:r>
              <a:t>Complex AI matching.</a:t>
            </a:r>
          </a:p>
          <a:p>
            <a:r>
              <a:t>Large-scale marketplace automation.</a:t>
            </a:r>
          </a:p>
          <a:p>
            <a:r>
              <a:t>Defer heavy automation and paid infrastructure until validation proves the core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24542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05 MVP Functional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4705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Build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3824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Landing page and registration.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 profiles and categories.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Client request posting.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 request dashboard.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Offer and counter-offer system.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Client selection flow.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Basic messaging.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Completion and ratings.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Admin dashboard and reports.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Notifications after core flows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19455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06 Investor Style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4079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Pitch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Everyday problem: when something breaks, people ask Naa moy kaila?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Opportunity: the problem is broken discovery, not lack of skilled people.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Solution: clients post service requests, providers respond with offers, and both sides build reputation.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Differentiation: local behavior, certified and experience-based providers, ratings, verification, completed job history, and operational discipline.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19455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06 Investor Style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53648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Pitch: Model, GTM, Validation,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70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Business model: free pilot, then premium visibility, lead credits, subscriptions, commissions, business accounts, and partnerships.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Go-to-market: recruit providers before client launch, start with one city or barangay cluster, use Facebook, referrals, community partners, and provider referrals.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Validation targets: interview 100 residents and 50 providers, recruit 50 providers, collect 30 real requests, complete or strongly match 15 jobs.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Co-founder ask: help validate demand, recruit provider network, design operations and trust systems, commit to clear roles and 90-day validation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816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07 Founders Agreement Discussion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4582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Important Note and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The founders agreement document is not legal advice and should not be signed as a final agreement without lawyer review.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Purpose: make expectations clear before major effort, money, time, or intellectual property is committed.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Many early teams fail because roles, ownership, and decision rights are unclear.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The draft is a conversation guide for founder alignment.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816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07 Founders Agreement Discussion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0897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Founding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Business validation continues through the live MVP and concierge pilot.</a:t>
            </a:r>
          </a:p>
          <a:p>
            <a:r>
              <a:t>No founder should be treated as merely a helper if expected to carry core responsibility.</a:t>
            </a:r>
          </a:p>
          <a:p>
            <a:r>
              <a:t>Ownership should reflect contribution, risk, time commitment, and long-term responsibility.</a:t>
            </a:r>
          </a:p>
          <a:p>
            <a:r>
              <a:t>Important decisions should be documented.</a:t>
            </a:r>
          </a:p>
          <a:p>
            <a:r>
              <a:t>The team should protect trust, fairness, and transparency from the beginning.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816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07 Founders Agreement Discussion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7956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Proposed Founder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587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Initiator / Product and Technology Lead: product vision, MVP design, development planning, technical direction.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Business and Strategy Lead: business model, partnerships, co-founder discussions, validation planning.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Operations Lead: provider onboarding, request handling, support, disputes, process design.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Provider Acquisition Lead: recruitment, verification, retention, provider feedback.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Marketing and Community Lead: client acquisition, content, local partnerships, community trust.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Finance and Administration Lead: financial model, budgets, records, compliance preparation.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816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07 Founders Agreement Discussion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52991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Ownership, Vesting, and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Ownership should be discussed based on role importance, contribution, risk, time commitment, capital, and long-term responsibility.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Recommended vesting concept: 4 years with a 1-year cliff, or a simpler milestone-based model for informal early teams.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Ordinary decisions may be decided by role owner.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Major financial, ownership, legal, strategic, or product-scope decisions should require founder approval.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Deadlocks should be resolved through documented discussion, adviser input, or pre-agreed voting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816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07 Founders Agreement Discussion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54791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Confidentiality, IP, and Founder Exit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Founders should protect sensitive documents, provider lists, financial plans, user data, code, and internal strategy.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Code created for KAILA should belong to the business entity once formed, subject to agreed founder rights.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Brand assets, documents, provider records, user research, and product designs should be treated as KAILA assets.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Departure rules should define what happens to ownership, access, confidentiality, and unfinished responsibilities.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36007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08 Three-Year Financial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5562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Financial Model Assumptions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04317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Assumption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Base Case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Starting active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Starting monthly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Monthly request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Completion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Average job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PHP 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Commission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0% in Phase 1 free pilot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Lead credit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PHP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Premium provider monthly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PHP 199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Monthly lean operating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PHP 2,500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36007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08 Three-Year Financial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0262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Financial Model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Assumptions sheet: editable base case values and notes.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Monthly projection: 36-month view for active providers, requests, completed jobs, GMV, revenue, expenses, and cash flow.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Annual summary: Year 1, Year 2, and Year 3 totals.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Unit economics: average job value, take rate, revenue per completed job, notification cost, and completion-rate logic.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Definition of Terms sheet: shared vocabulary for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36007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08 Three-Year Financial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6824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Revenue and Cost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115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Phase 1 should remain free while validation and trust are being proven.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Future revenue may come from premium profiles, featured listings, lead credits, subscriptions, small commissions, ads, and business accounts.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Costs include hosting, domain, notifications, marketing, field recruitment, support, legal setup, payment processing, and development time.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The model is a planning tool, not a promise of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14397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1987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Field Forms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t>The survey and interview forms are built into the KAILA app for validation and early operations.</a:t>
            </a:r>
          </a:p>
          <a:p>
            <a:r>
              <a:t>Printable or Google Form copies can remain as backup.</a:t>
            </a:r>
          </a:p>
          <a:p>
            <a:r>
              <a:t>The goal is to collect real client, provider, request, job, and meeting data during the Facebook concierge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14397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9915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Client Survey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20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Name or nickname, barangay/area, age range.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Recent service need and how the client found the provider.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Time needed to find help and whether price was clear.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Confidence in provider, what went well, what was frustrating.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Willingness to use KAILA, categories likely used, willingness to rate provider, willingness to upload problem photos or videos.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14397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3921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Provider Signup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2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Full name, display name, contact number, barangay/area.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Service categories, specific skills, years of experience.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Availability, emergency availability, coverage area.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Minimum service fee or price range.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Work photos, optional certificate or permit.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Willingness to be contacted for pilot requests, receive ratings, and submit ID for verified badge.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14397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9116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Provider Interview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How providers usually get clients and what problems they face getting jobs.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Most profitable services and jobs they avoid.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Response speed for urgent jobs and how they estimate price.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What would make them trust a platform like KAILA.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Concerns about ratings, ID verification, pricing, or client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14397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2017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Client Request Intake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Client name or nickname and contact method.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Barangay/area and service category.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Problem description, urgency, budget range, preferred schedule.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Photos/videos attached.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Permission to forward request to matching providers.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14397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29943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Completed Job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Request ID, client, provider, category.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Agreed amount.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Date posted, date accepted, date completed.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Client rating and provider rating.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Issue encountered, repeat client, and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14397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09 Field Forms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51698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Founder Meeting Notes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22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Date and attendees.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Decisions made.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Assumptions tested.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Metrics reviewed.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Problems found.</a:t>
            </a:r>
          </a:p>
          <a:p>
            <a:pPr>
              <a:spcAft>
                <a:spcPts val="700"/>
              </a:spcAft>
              <a:defRPr sz="1700">
                <a:solidFill>
                  <a:srgbClr val="122A31"/>
                </a:solidFill>
              </a:defRPr>
            </a:pPr>
            <a:r>
              <a:rPr sz="1900"/>
              <a:t>Next actions, owner per action, deadline, and open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5657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6B70"/>
                </a:solidFill>
              </a:defRPr>
            </a:pPr>
            <a:r>
              <a:rPr sz="1200"/>
              <a:t>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36501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B4552"/>
                </a:solidFill>
              </a:defRPr>
            </a:pPr>
            <a:r>
              <a:rPr sz="2800"/>
              <a:t>Definition of Key Terms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227408"/>
              </p:ext>
            </p:extLst>
          </p:nvPr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Term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4552"/>
                          </a:solidFill>
                        </a:defRPr>
                      </a:pPr>
                      <a:r>
                        <a:rPr sz="1400"/>
                        <a:t>Meaning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KAILA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The proposed local services marketplace that helps clients find trusted local help and skilled workers become visible.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A person, household, business, or organization that posts a service need or hires a provider.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A skilled worker, freelancer, technician, shop, or service professional offering work.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Service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A client post describing job, location, budget, urgency, details, and optional files.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A provider response with price, availability, scope notes, or schedule.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Concierge 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Marketplace test using the existing app plus Facebook page posts, Messenger follow-up, and manual operations support.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Go/No-Go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22A31"/>
                          </a:solidFill>
                        </a:defRPr>
                      </a:pPr>
                      <a:r>
                        <a:rPr sz="1400"/>
                        <a:t>Evidence thresholds used to decide whether to proceed, narrow, redesign, or pause.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447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F6B70"/>
                </a:solidFill>
              </a:defRPr>
            </a:pPr>
            <a:r>
              <a:rPr sz="1200"/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4877489" cy="678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4552"/>
                </a:solidFill>
              </a:defRPr>
            </a:pPr>
            <a:r>
              <a:rPr sz="3810"/>
              <a:t>Founder Decision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149840" cy="199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22A31"/>
                </a:solidFill>
              </a:defRPr>
            </a:pPr>
            <a:r>
              <a:rPr sz="2240"/>
              <a:t>KAILA should be treated as a validation project first and software project second.</a:t>
            </a:r>
          </a:p>
          <a:p>
            <a:pPr>
              <a:spcAft>
                <a:spcPts val="700"/>
              </a:spcAft>
              <a:defRPr sz="2000">
                <a:solidFill>
                  <a:srgbClr val="122A31"/>
                </a:solidFill>
              </a:defRPr>
            </a:pPr>
            <a:r>
              <a:rPr sz="2240"/>
              <a:t>The next best move is a disciplined Gingoog City concierge pilot: recruit providers, collect requests, match manually, measure trust, and decide with evidence.</a:t>
            </a:r>
          </a:p>
          <a:p>
            <a:pPr>
              <a:spcAft>
                <a:spcPts val="700"/>
              </a:spcAft>
              <a:defRPr sz="2000">
                <a:solidFill>
                  <a:srgbClr val="122A31"/>
                </a:solidFill>
              </a:defRPr>
            </a:pPr>
            <a:r>
              <a:rPr sz="2240"/>
              <a:t>If demand and provider response are strong, build the MVP around the proven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21125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B4552"/>
                </a:solidFill>
              </a:defRPr>
            </a:pPr>
            <a:r>
              <a:rPr sz="1200"/>
              <a:t>KAILA Founder-Grade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4000" y="6446520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 b="0">
                <a:solidFill>
                  <a:srgbClr val="5B6F74"/>
                </a:solidFill>
              </a:defRPr>
            </a:pPr>
            <a:r>
              <a:rPr sz="1200"/>
              <a:t>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6331</Words>
  <Application>Microsoft Office PowerPoint</Application>
  <PresentationFormat>Widescreen</PresentationFormat>
  <Paragraphs>838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Mark Agustin Acido</cp:lastModifiedBy>
  <cp:revision>2</cp:revision>
  <dcterms:created xsi:type="dcterms:W3CDTF">2013-01-27T09:14:16Z</dcterms:created>
  <dcterms:modified xsi:type="dcterms:W3CDTF">2026-05-31T09:07:43Z</dcterms:modified>
  <cp:category/>
</cp:coreProperties>
</file>