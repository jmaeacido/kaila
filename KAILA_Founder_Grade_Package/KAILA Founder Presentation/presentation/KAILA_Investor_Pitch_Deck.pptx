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09560" y="0"/>
            <a:ext cx="4297680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1945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F4B942"/>
                </a:solidFill>
                <a:latin typeface="Arial"/>
              </a:rPr>
              <a:t>INVESTOR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512064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5800" b="1">
                <a:solidFill>
                  <a:srgbClr val="FFFFFF"/>
                </a:solidFill>
                <a:latin typeface="Arial"/>
              </a:rPr>
              <a:t>KAILA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40280"/>
            <a:ext cx="603504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400" b="1">
                <a:solidFill>
                  <a:srgbClr val="FFFFFF"/>
                </a:solidFill>
                <a:latin typeface="Arial"/>
              </a:rPr>
              <a:t>The On-Demand Services Marketplace for the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063240"/>
            <a:ext cx="3931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600" b="1">
                <a:solidFill>
                  <a:srgbClr val="F4B942"/>
                </a:solidFill>
                <a:latin typeface="Arial"/>
              </a:rPr>
              <a:t>Kung wala kay kaila, naa mi.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257800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FFFFFF"/>
                </a:solidFill>
                <a:latin typeface="Arial"/>
              </a:rPr>
              <a:t>John Mark Agustin E. Acido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5568696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FFFFFF"/>
                </a:solidFill>
                <a:latin typeface="Arial"/>
              </a:rPr>
              <a:t>94jmaea94@gmail.com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879592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FFFFFF"/>
                </a:solidFill>
                <a:latin typeface="Arial"/>
              </a:rPr>
              <a:t>Pilot City: Gingoog 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840480"/>
            <a:ext cx="27432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400" b="1">
                <a:solidFill>
                  <a:srgbClr val="10242A"/>
                </a:solidFill>
                <a:latin typeface="Arial"/>
              </a:rPr>
              <a:t>Pilot proof in Gingoog City. National expansion story for the Philippines.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Finding trusted local help is still informal, slow, and hard to verify.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516636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5166360" cy="109728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084832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606040"/>
            <a:ext cx="4754880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Hard to find trusted workers quickly
No standardized pricing or offer comparison
No clear guarantees, ratings, or work history
Communication scattered across referrals, Facebook, and Messenger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28800"/>
            <a:ext cx="516636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828800"/>
            <a:ext cx="5166360" cy="109728"/>
          </a:xfrm>
          <a:prstGeom prst="rect">
            <a:avLst/>
          </a:prstGeom>
          <a:solidFill>
            <a:srgbClr val="E8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2084832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Service Providers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2606040"/>
            <a:ext cx="4754880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Depend heavily on referrals
Inconsistent job flow and income
Limited digital presence
Difficult to acquire customers outside their network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KAILA turns informal referrals into a structured request, match, pay, and review workflow.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9202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2376" y="2340864"/>
            <a:ext cx="438912" cy="438912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441448"/>
            <a:ext cx="1828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100" b="1">
                <a:solidFill>
                  <a:srgbClr val="10242A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999232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547872"/>
            <a:ext cx="1417320" cy="594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Customer opens KAILA and posts the service need.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3035808"/>
            <a:ext cx="25603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567179"/>
                </a:solidFill>
                <a:latin typeface="Arial"/>
              </a:rPr>
              <a:t>-&gt;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07208" y="2057400"/>
            <a:ext cx="19202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26664" y="2340864"/>
            <a:ext cx="438912" cy="438912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2441448"/>
            <a:ext cx="1828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100" b="1">
                <a:solidFill>
                  <a:srgbClr val="10242A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6664" y="2999232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547872"/>
            <a:ext cx="1417320" cy="594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Relevant local providers receive the request.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2" y="3035808"/>
            <a:ext cx="25603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567179"/>
                </a:solidFill>
                <a:latin typeface="Arial"/>
              </a:rPr>
              <a:t>-&gt;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11496" y="2057400"/>
            <a:ext cx="19202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30952" y="2340864"/>
            <a:ext cx="438912" cy="438912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2441448"/>
            <a:ext cx="1828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100" b="1">
                <a:solidFill>
                  <a:srgbClr val="10242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0952" y="2999232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3547872"/>
            <a:ext cx="1417320" cy="594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Provider performs the agreed service.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035808"/>
            <a:ext cx="25603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567179"/>
                </a:solidFill>
                <a:latin typeface="Arial"/>
              </a:rPr>
              <a:t>-&gt;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15784" y="2057400"/>
            <a:ext cx="19202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35240" y="2340864"/>
            <a:ext cx="438912" cy="438912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63256" y="2441448"/>
            <a:ext cx="1828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100" b="1">
                <a:solidFill>
                  <a:srgbClr val="10242A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2999232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547872"/>
            <a:ext cx="1417320" cy="594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Payment is completed or recorded.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90888" y="3035808"/>
            <a:ext cx="25603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567179"/>
                </a:solidFill>
                <a:latin typeface="Arial"/>
              </a:rPr>
              <a:t>-&gt;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20072" y="2057400"/>
            <a:ext cx="19202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939528" y="2340864"/>
            <a:ext cx="438912" cy="438912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67544" y="2441448"/>
            <a:ext cx="1828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100" b="1">
                <a:solidFill>
                  <a:srgbClr val="10242A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9528" y="2999232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9528" y="3547872"/>
            <a:ext cx="1417320" cy="594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Both sides build visible reputation.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MARKET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Philippines is the upside market; Gingoog City is the proof market.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32461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84831"/>
            <a:ext cx="9144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400" b="1">
                <a:solidFill>
                  <a:srgbClr val="0B4552"/>
                </a:solidFill>
                <a:latin typeface="Arial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697480"/>
            <a:ext cx="2468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10242A"/>
                </a:solidFill>
                <a:latin typeface="Arial"/>
              </a:rPr>
              <a:t>Philippine local services spend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337560"/>
            <a:ext cx="2514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567179"/>
                </a:solidFill>
                <a:latin typeface="Arial"/>
              </a:rPr>
              <a:t>Est. PHP 250B+ annual addressable household and small-business service activity.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28800"/>
            <a:ext cx="32461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2084831"/>
            <a:ext cx="9144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400" b="1">
                <a:solidFill>
                  <a:srgbClr val="0E6D72"/>
                </a:solidFill>
                <a:latin typeface="Arial"/>
              </a:rPr>
              <a:t>SAM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2697480"/>
            <a:ext cx="2468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10242A"/>
                </a:solidFill>
                <a:latin typeface="Arial"/>
              </a:rPr>
              <a:t>Digitally reachable early categories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3337560"/>
            <a:ext cx="2514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567179"/>
                </a:solidFill>
                <a:latin typeface="Arial"/>
              </a:rPr>
              <a:t>Est. PHP 25B-50B across repair, maintenance, cleaning, digital services, and skilled work.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828800"/>
            <a:ext cx="32461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6" y="2084831"/>
            <a:ext cx="9144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400" b="1">
                <a:solidFill>
                  <a:srgbClr val="E86F51"/>
                </a:solidFill>
                <a:latin typeface="Arial"/>
              </a:rPr>
              <a:t>SOM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2697480"/>
            <a:ext cx="2468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10242A"/>
                </a:solidFill>
                <a:latin typeface="Arial"/>
              </a:rPr>
              <a:t>3-year realistic capture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6" y="3337560"/>
            <a:ext cx="2514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567179"/>
                </a:solidFill>
                <a:latin typeface="Arial"/>
              </a:rPr>
              <a:t>Est. PHP 20M-60M GMV from disciplined city-by-city expansion after Gingoog validation.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86400"/>
            <a:ext cx="98755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Sizing is an explicit planning estimate using PSA household/service spend categories, DTI MSME data, and KAILA category assumptions.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PRODUCT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The browser MVP and native wrapper now show the core marketplace workflow.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828800"/>
            <a:ext cx="41148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2240280"/>
            <a:ext cx="3429000" cy="2560320"/>
          </a:xfrm>
          <a:prstGeom prst="rect">
            <a:avLst/>
          </a:prstGeom>
          <a:noFill/>
        </p:spPr>
        <p:txBody>
          <a:bodyPr wrap="square" lIns="45720" rIns="45720" tIns="27432" bIns="27432">
            <a:norm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0242A"/>
                </a:solidFill>
                <a:latin typeface="Arial"/>
              </a:defRPr>
            </a:pPr>
            <a:r>
              <a:t>Request board for client needs and provider offers</a:t>
            </a:r>
          </a:p>
          <a:p>
            <a:pPr>
              <a:spcAft>
                <a:spcPts val="800"/>
              </a:spcAft>
              <a:defRPr sz="1300">
                <a:solidFill>
                  <a:srgbClr val="10242A"/>
                </a:solidFill>
                <a:latin typeface="Arial"/>
              </a:defRPr>
            </a:pPr>
            <a:r>
              <a:t>Provider directory with categories, areas, and trust signals</a:t>
            </a:r>
          </a:p>
          <a:p>
            <a:pPr>
              <a:spcAft>
                <a:spcPts val="800"/>
              </a:spcAft>
              <a:defRPr sz="1300">
                <a:solidFill>
                  <a:srgbClr val="10242A"/>
                </a:solidFill>
                <a:latin typeface="Arial"/>
              </a:defRPr>
            </a:pPr>
            <a:r>
              <a:t>Admin-style dashboard for pilot operations and manual matching</a:t>
            </a:r>
          </a:p>
          <a:p>
            <a:pPr>
              <a:spcAft>
                <a:spcPts val="800"/>
              </a:spcAft>
              <a:defRPr sz="1300">
                <a:solidFill>
                  <a:srgbClr val="10242A"/>
                </a:solidFill>
                <a:latin typeface="Arial"/>
              </a:defRPr>
            </a:pPr>
            <a:r>
              <a:t>Browser PWA and native Android wrapper available for pilot testing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BUSINESS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KAILA monetizes after the marketplace proves real provider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920240"/>
            <a:ext cx="2926080" cy="566928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27797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Revenue 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920240"/>
            <a:ext cx="7132320" cy="566928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13632" y="2029968"/>
            <a:ext cx="69860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Description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48716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596896"/>
            <a:ext cx="277977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10242A"/>
                </a:solidFill>
                <a:latin typeface="Arial"/>
              </a:rPr>
              <a:t>Service fee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487168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13632" y="2596896"/>
            <a:ext cx="698601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1">
                <a:solidFill>
                  <a:srgbClr val="10242A"/>
                </a:solidFill>
                <a:latin typeface="Arial"/>
              </a:rPr>
              <a:t>% commission per completed transaction after trust is proven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054096"/>
            <a:ext cx="2926080" cy="566928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163824"/>
            <a:ext cx="277977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10242A"/>
                </a:solidFill>
                <a:latin typeface="Arial"/>
              </a:rPr>
              <a:t>Featured listings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54096"/>
            <a:ext cx="7132320" cy="566928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13632" y="3163824"/>
            <a:ext cx="698601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1">
                <a:solidFill>
                  <a:srgbClr val="10242A"/>
                </a:solidFill>
                <a:latin typeface="Arial"/>
              </a:rPr>
              <a:t>Provider promotion and profile boosts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621024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3730752"/>
            <a:ext cx="277977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10242A"/>
                </a:solidFill>
                <a:latin typeface="Arial"/>
              </a:rPr>
              <a:t>Subscription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21024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13632" y="3730752"/>
            <a:ext cx="698601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1">
                <a:solidFill>
                  <a:srgbClr val="10242A"/>
                </a:solidFill>
                <a:latin typeface="Arial"/>
              </a:rPr>
              <a:t>Premium provider accounts with better visibility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187952"/>
            <a:ext cx="2926080" cy="566928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4297680"/>
            <a:ext cx="277977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10242A"/>
                </a:solidFill>
                <a:latin typeface="Arial"/>
              </a:rPr>
              <a:t>Ads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187952"/>
            <a:ext cx="7132320" cy="566928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13632" y="4297680"/>
            <a:ext cx="698601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1">
                <a:solidFill>
                  <a:srgbClr val="10242A"/>
                </a:solidFill>
                <a:latin typeface="Arial"/>
              </a:rPr>
              <a:t>Local business promotions and category sponsorships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WHY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The behavior is already digital; the trust system is missing.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4663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4663440" cy="109728"/>
          </a:xfrm>
          <a:prstGeom prst="rect">
            <a:avLst/>
          </a:prstGeom>
          <a:solidFill>
            <a:srgbClr val="1FA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084832"/>
            <a:ext cx="4251959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97.5M internet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606040"/>
            <a:ext cx="4251959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DataReportal reported 83.8% internet penetration in the Philippines in January 2025.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79" y="1828800"/>
            <a:ext cx="4663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79" y="1828800"/>
            <a:ext cx="4663440" cy="109728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7" y="2084832"/>
            <a:ext cx="4251959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142M mobile connections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7" y="2606040"/>
            <a:ext cx="4251959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Mobile connectivity is larger than the population, making mobile-first matching practical.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520440"/>
            <a:ext cx="4663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520440"/>
            <a:ext cx="4663440" cy="109728"/>
          </a:xfrm>
          <a:prstGeom prst="rect">
            <a:avLst/>
          </a:prstGeom>
          <a:solidFill>
            <a:srgbClr val="0E6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776472"/>
            <a:ext cx="4251959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57.4% digital payment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297680"/>
            <a:ext cx="4251959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BSP reported digital retail payments reached 57.4% of transaction volume in 2024.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79" y="3520440"/>
            <a:ext cx="4663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79" y="3520440"/>
            <a:ext cx="4663440" cy="109728"/>
          </a:xfrm>
          <a:prstGeom prst="rect">
            <a:avLst/>
          </a:prstGeom>
          <a:solidFill>
            <a:srgbClr val="E8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7" y="3776472"/>
            <a:ext cx="4251959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MSME-heavy economy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7" y="4297680"/>
            <a:ext cx="4251959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DTI reports MSMEs make up 99.66% of Philippine business establishments.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KAILA wins by combining local focus, search, verification, ratings, and structured workflows.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828800"/>
            <a:ext cx="2743200" cy="457200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38528"/>
            <a:ext cx="259689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FFFFFF"/>
                </a:solidFill>
                <a:latin typeface="Arial"/>
              </a:rPr>
              <a:t>Feature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828800"/>
            <a:ext cx="2194560" cy="457200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1938528"/>
            <a:ext cx="2048255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06440" y="1828800"/>
            <a:ext cx="2560320" cy="457200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9592" y="1938528"/>
            <a:ext cx="2414015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FFFFFF"/>
                </a:solidFill>
                <a:latin typeface="Arial"/>
              </a:rPr>
              <a:t>Generic Marketplace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59" y="1828800"/>
            <a:ext cx="2194560" cy="457200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1" y="1938528"/>
            <a:ext cx="2048255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FFFFFF"/>
                </a:solidFill>
                <a:latin typeface="Arial"/>
              </a:rPr>
              <a:t>KAILA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2286000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39572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Searchability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80" y="2286000"/>
            <a:ext cx="2194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85032" y="23957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No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06440" y="2286000"/>
            <a:ext cx="2560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9592" y="2395728"/>
            <a:ext cx="241401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59" y="2286000"/>
            <a:ext cx="2194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1" y="23957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2743200"/>
            <a:ext cx="274320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285292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Ratings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2743200"/>
            <a:ext cx="219456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85032" y="28529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2743200"/>
            <a:ext cx="256032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9592" y="2852928"/>
            <a:ext cx="241401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66759" y="2743200"/>
            <a:ext cx="219456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39911" y="28529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" y="3200400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" y="331012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Verification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11880" y="3200400"/>
            <a:ext cx="2194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85032" y="33101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No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3200400"/>
            <a:ext cx="2560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79592" y="3310128"/>
            <a:ext cx="241401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Partial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59" y="3200400"/>
            <a:ext cx="2194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39911" y="33101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3657600"/>
            <a:ext cx="274320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1832" y="376732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Local focus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11880" y="3657600"/>
            <a:ext cx="219456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85032" y="37673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Partial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06440" y="3657600"/>
            <a:ext cx="256032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79592" y="3767328"/>
            <a:ext cx="241401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Partial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6759" y="3657600"/>
            <a:ext cx="219456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39911" y="37673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8680" y="4114800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832" y="422452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Request-to-offer workflow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11880" y="4114800"/>
            <a:ext cx="2194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85032" y="42245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No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4114800"/>
            <a:ext cx="2560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79592" y="4224528"/>
            <a:ext cx="241401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66759" y="4114800"/>
            <a:ext cx="2194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39911" y="42245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4572000"/>
            <a:ext cx="274320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1832" y="468172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Pilot operations support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11880" y="4572000"/>
            <a:ext cx="219456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85032" y="46817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572000"/>
            <a:ext cx="256032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79592" y="4681728"/>
            <a:ext cx="241401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No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66759" y="4572000"/>
            <a:ext cx="219456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39911" y="46817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Yes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GO-TO-MARKET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Start narrow in Gingoog City, prove density, then replicate the playbook.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329184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28800"/>
            <a:ext cx="3291840" cy="109728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2"/>
            <a:ext cx="28803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Demand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606040"/>
            <a:ext cx="2880360" cy="23317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Facebook groups
Barangay partnerships
Local ads and referrals
Small business outreach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828800"/>
            <a:ext cx="329184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828800"/>
            <a:ext cx="3291840" cy="109728"/>
          </a:xfrm>
          <a:prstGeom prst="rect">
            <a:avLst/>
          </a:prstGeom>
          <a:solidFill>
            <a:srgbClr val="1FA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084832"/>
            <a:ext cx="28803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Supply Side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06040"/>
            <a:ext cx="2880360" cy="23317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Skilled workers
Freelancers
Tradespeople
Repair shops and service microbusinesses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28800"/>
            <a:ext cx="329184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28800"/>
            <a:ext cx="3291840" cy="109728"/>
          </a:xfrm>
          <a:prstGeom prst="rect">
            <a:avLst/>
          </a:prstGeom>
          <a:solidFill>
            <a:srgbClr val="E8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8" y="2084832"/>
            <a:ext cx="28803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Gingoog 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2606040"/>
            <a:ext cx="2880360" cy="23317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Recruit providers first
Run concierge matching
Measure response and completion
Convert proof into MVP improvements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Current stage: founder-grade package, browser MVP, native wrapper, and Gingoog validation plan.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075688"/>
            <a:ext cx="7315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900" b="1">
                <a:solidFill>
                  <a:srgbClr val="0B4552"/>
                </a:solidFill>
                <a:latin typeface="Arial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05740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Target providers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874519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2075688"/>
            <a:ext cx="7315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900" b="1">
                <a:solidFill>
                  <a:srgbClr val="0B4552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05740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Client survey responses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1874519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2075688"/>
            <a:ext cx="7315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900" b="1">
                <a:solidFill>
                  <a:srgbClr val="0B4552"/>
                </a:solidFill>
                <a:latin typeface="Arial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205740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Real service requests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0896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3310128"/>
            <a:ext cx="7315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900" b="1">
                <a:solidFill>
                  <a:srgbClr val="0B4552"/>
                </a:solidFill>
                <a:latin typeface="Arial"/>
              </a:rPr>
              <a:t>15+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29184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Completed or strongly matched jobs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10896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3310128"/>
            <a:ext cx="7315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900" b="1">
                <a:solidFill>
                  <a:srgbClr val="0B4552"/>
                </a:solidFill>
                <a:latin typeface="Arial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329184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Starting service categories incl. cellphone repair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310896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5008" y="3310128"/>
            <a:ext cx="7315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900" b="1">
                <a:solidFill>
                  <a:srgbClr val="0B4552"/>
                </a:solidFill>
                <a:latin typeface="Arial"/>
              </a:rPr>
              <a:t>30-45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29184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Active pilot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74920"/>
            <a:ext cx="99669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If actual interviews, waitlist, survey results, or pilot jobs are added, this becomes the strongest investor proof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FINANCIAL PROJECTIONS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Lean 3-year model: founder-led pilot before paid marketplace.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2743200" cy="438912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938528"/>
            <a:ext cx="259689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828800"/>
            <a:ext cx="2194560" cy="438912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2" y="1938528"/>
            <a:ext cx="2048255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FFFFFF"/>
                </a:solidFill>
                <a:latin typeface="Arial"/>
              </a:rPr>
              <a:t>Year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1828800"/>
            <a:ext cx="2194560" cy="438912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6712" y="1938528"/>
            <a:ext cx="2048255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FFFFFF"/>
                </a:solidFill>
                <a:latin typeface="Arial"/>
              </a:rPr>
              <a:t>Year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1828800"/>
            <a:ext cx="2194560" cy="438912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1272" y="1938528"/>
            <a:ext cx="2048255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FFFFFF"/>
                </a:solidFill>
                <a:latin typeface="Arial"/>
              </a:rPr>
              <a:t>Year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267712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2377440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Active providers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2267712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02152" y="2377440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150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3560" y="2267712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96712" y="2377440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600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2267712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1272" y="2377440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10242A"/>
                </a:solidFill>
                <a:latin typeface="Arial"/>
              </a:rPr>
              <a:t>1,800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2706624"/>
            <a:ext cx="274320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Completed jobs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9000" y="2706624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2152" y="2816352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900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60" y="2706624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6712" y="2816352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7,200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2706624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91272" y="2816352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10242A"/>
                </a:solidFill>
                <a:latin typeface="Arial"/>
              </a:rPr>
              <a:t>32,400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145536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" y="3255264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GMV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29000" y="3145536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3255264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PHP 0.9M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23560" y="3145536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96712" y="3255264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PHP 8.6M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18120" y="3145536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91272" y="3255264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10242A"/>
                </a:solidFill>
                <a:latin typeface="Arial"/>
              </a:rPr>
              <a:t>PHP 48.6M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3584448"/>
            <a:ext cx="274320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8952" y="3694176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Revenue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29000" y="3584448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02152" y="3694176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PHP 0.2M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23560" y="3584448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96712" y="3694176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PHP 1.7M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18120" y="3584448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91272" y="3694176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10242A"/>
                </a:solidFill>
                <a:latin typeface="Arial"/>
              </a:rPr>
              <a:t>PHP 7.3M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4023360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952" y="413308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Expenses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29000" y="4023360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02152" y="413308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PHP 0.3M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23560" y="4023360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96712" y="413308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PHP 0.9M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18120" y="4023360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91272" y="413308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10242A"/>
                </a:solidFill>
                <a:latin typeface="Arial"/>
              </a:rPr>
              <a:t>PHP 1.8M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800" y="4462272"/>
            <a:ext cx="274320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8952" y="4572000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Profit / Loss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29000" y="4462272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02152" y="4572000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(PHP 0.1M)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23560" y="4462272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96712" y="4572000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PHP 0.8M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18120" y="4462272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91272" y="4572000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10242A"/>
                </a:solidFill>
                <a:latin typeface="Arial"/>
              </a:rPr>
              <a:t>PHP 5.5M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7240" y="5440680"/>
            <a:ext cx="96926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567179"/>
                </a:solidFill>
                <a:latin typeface="Arial"/>
              </a:rPr>
              <a:t>Assumptions are included in the investor package workbook and should be updated after the Gingoog pilot.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FUNDING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Seeking lean pilot support after building the first browser MVP and native wrapper.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526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2075688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200" b="1">
                <a:solidFill>
                  <a:srgbClr val="0B4552"/>
                </a:solidFill>
                <a:latin typeface="Arial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039112"/>
            <a:ext cx="17373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MVP polish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377439"/>
            <a:ext cx="16459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PHP 100,000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874519"/>
            <a:ext cx="4526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2075688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200" b="1">
                <a:solidFill>
                  <a:srgbClr val="0B4552"/>
                </a:solidFill>
                <a:latin typeface="Arial"/>
              </a:rPr>
              <a:t>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039112"/>
            <a:ext cx="17373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Local marketing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377439"/>
            <a:ext cx="16459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PHP 175,000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91839"/>
            <a:ext cx="4526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3493008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200" b="1">
                <a:solidFill>
                  <a:srgbClr val="0B4552"/>
                </a:solidFill>
                <a:latin typeface="Arial"/>
              </a:rPr>
              <a:t>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456432"/>
            <a:ext cx="17373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794759"/>
            <a:ext cx="16459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PHP 150,000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291839"/>
            <a:ext cx="4526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3493008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200" b="1">
                <a:solidFill>
                  <a:srgbClr val="0B4552"/>
                </a:solidFill>
                <a:latin typeface="Arial"/>
              </a:rPr>
              <a:t>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456432"/>
            <a:ext cx="17373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Legal/Admin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794759"/>
            <a:ext cx="16459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PHP 75,000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98755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Use free resources first; paid spend should support only field validation, page growth, support, and essential app polish.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Founder-led by a technical builder with validation-first discipline.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8006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3977639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000" b="1">
                <a:solidFill>
                  <a:srgbClr val="0B4552"/>
                </a:solidFill>
                <a:latin typeface="Arial"/>
              </a:rPr>
              <a:t>John Mark Agustin E. Acido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88920"/>
            <a:ext cx="3931920" cy="1645920"/>
          </a:xfrm>
          <a:prstGeom prst="rect">
            <a:avLst/>
          </a:prstGeom>
          <a:noFill/>
        </p:spPr>
        <p:txBody>
          <a:bodyPr wrap="square" lIns="45720" rIns="45720" tIns="27432" bIns="27432">
            <a:norm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10242A"/>
                </a:solidFill>
                <a:latin typeface="Arial"/>
              </a:defRPr>
            </a:pPr>
            <a:r>
              <a:t>Product and technology lead</a:t>
            </a:r>
          </a:p>
          <a:p>
            <a:pPr>
              <a:spcAft>
                <a:spcPts val="800"/>
              </a:spcAft>
              <a:defRPr sz="1250">
                <a:solidFill>
                  <a:srgbClr val="10242A"/>
                </a:solidFill>
                <a:latin typeface="Arial"/>
              </a:defRPr>
            </a:pPr>
            <a:r>
              <a:t>Web development and prototype execution</a:t>
            </a:r>
          </a:p>
          <a:p>
            <a:pPr>
              <a:spcAft>
                <a:spcPts val="800"/>
              </a:spcAft>
              <a:defRPr sz="1250">
                <a:solidFill>
                  <a:srgbClr val="10242A"/>
                </a:solidFill>
                <a:latin typeface="Arial"/>
              </a:defRPr>
            </a:pPr>
            <a:r>
              <a:t>Founder-grade business documentation and MVP planning</a:t>
            </a:r>
          </a:p>
          <a:p>
            <a:pPr>
              <a:spcAft>
                <a:spcPts val="800"/>
              </a:spcAft>
              <a:defRPr sz="1250">
                <a:solidFill>
                  <a:srgbClr val="10242A"/>
                </a:solidFill>
                <a:latin typeface="Arial"/>
              </a:defRPr>
            </a:pPr>
            <a:r>
              <a:t>Local pilot design for Gingoog 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74519"/>
            <a:ext cx="4251960" cy="3246120"/>
          </a:xfrm>
          <a:prstGeom prst="round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267712"/>
            <a:ext cx="320040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rial"/>
              </a:rPr>
              <a:t>Next strategic hires / co-founders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971800"/>
            <a:ext cx="3108960" cy="1143000"/>
          </a:xfrm>
          <a:prstGeom prst="rect">
            <a:avLst/>
          </a:prstGeom>
          <a:noFill/>
        </p:spPr>
        <p:txBody>
          <a:bodyPr wrap="square" lIns="45720" rIns="45720" tIns="27432" bIns="27432">
            <a:norm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Operations lead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Provider acquisition lead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Marketing/community lead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Become the leading on-demand services platform for Philippine cities.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10149840" cy="3566160"/>
          </a:xfrm>
          <a:prstGeom prst="round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423160"/>
            <a:ext cx="9052560" cy="2148840"/>
          </a:xfrm>
          <a:prstGeom prst="rect">
            <a:avLst/>
          </a:prstGeom>
          <a:noFill/>
        </p:spPr>
        <p:txBody>
          <a:bodyPr wrap="square" lIns="45720" rIns="45720" tIns="27432" bIns="27432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Arial"/>
              </a:defRPr>
            </a:pPr>
            <a:r>
              <a:t>Start with one disciplined pilot in Gingoog City.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Arial"/>
              </a:defRPr>
            </a:pPr>
            <a:r>
              <a:t>Prove matching, trust, ratings, and provider value manually.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Arial"/>
              </a:defRPr>
            </a:pPr>
            <a:r>
              <a:t>Improve the MVP around the proven workflow.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Arial"/>
              </a:defRPr>
            </a:pPr>
            <a:r>
              <a:t>Expand city-by-city with a repeatable local operations playbook.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INVESTOR PACKAGE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What investors can review next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2"/>
            <a:ext cx="23317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Investor pitch deck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82880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084832"/>
            <a:ext cx="23317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Market sizing and assumptions memo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82880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2084832"/>
            <a:ext cx="23317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Starter 3-year financial 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06324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19272"/>
            <a:ext cx="23317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Business plan outline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06324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319272"/>
            <a:ext cx="23317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Due diligence data room checklist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98755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0B4552"/>
                </a:solidFill>
                <a:latin typeface="Arial"/>
              </a:rPr>
              <a:t>The immediate next milestone is the Gingoog City validation sprint.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