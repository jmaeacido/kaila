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9768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F4B942"/>
                </a:solidFill>
                <a:latin typeface="Arial"/>
              </a:rPr>
              <a:t>INVESTOR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512064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5800" b="1">
                <a:solidFill>
                  <a:srgbClr val="FFFFFF"/>
                </a:solidFill>
                <a:latin typeface="Arial"/>
              </a:rPr>
              <a:t>KAILA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0280"/>
            <a:ext cx="60350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The On-Demand Services Marketplace for the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6324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600" b="1">
                <a:solidFill>
                  <a:srgbClr val="F4B942"/>
                </a:solidFill>
                <a:latin typeface="Arial"/>
              </a:rPr>
              <a:t>Kung wala kay kaila, naa mi.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257800"/>
            <a:ext cx="49377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0">
                <a:solidFill>
                  <a:srgbClr val="FFFFFF"/>
                </a:solidFill>
                <a:latin typeface="Arial"/>
              </a:rPr>
              <a:t>John Mark Agustin E. Acido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568696"/>
            <a:ext cx="49377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0">
                <a:solidFill>
                  <a:srgbClr val="FFFFFF"/>
                </a:solidFill>
                <a:latin typeface="Arial"/>
              </a:rPr>
              <a:t>94jmaea94@gmail.com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879592"/>
            <a:ext cx="49377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0">
                <a:solidFill>
                  <a:srgbClr val="FFFFFF"/>
                </a:solidFill>
                <a:latin typeface="Arial"/>
              </a:rPr>
              <a:t>Pilot City: Gingoog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840480"/>
            <a:ext cx="27432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400" b="1">
                <a:solidFill>
                  <a:srgbClr val="10242A"/>
                </a:solidFill>
                <a:latin typeface="Arial"/>
              </a:rPr>
              <a:t>Pilot proof in Gingoog City. National expansion story for the Philippines.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Finding trusted local help is still informal, slow, and hard to verify.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1663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5166360" cy="10972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606040"/>
            <a:ext cx="475488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Hard to find trusted workers quickly
No standardized pricing or offer comparison
No clear guarantees, ratings, or work history
Communication scattered across referrals, Facebook, and Messenger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1663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166360" cy="109728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084832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Service Providers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606040"/>
            <a:ext cx="475488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Depend heavily on referrals
Inconsistent job flow and income
Limited digital presence
Difficult to acquire customers outside their 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KAILA turns informal referrals into a structured request, match, pay, and review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920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340864"/>
            <a:ext cx="438912" cy="438912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41448"/>
            <a:ext cx="1828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10242A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999232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547872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Customer opens KAILA and posts the service need.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3035808"/>
            <a:ext cx="25603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567179"/>
                </a:solidFill>
                <a:latin typeface="Arial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7208" y="2057400"/>
            <a:ext cx="1920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26664" y="2340864"/>
            <a:ext cx="438912" cy="438912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441448"/>
            <a:ext cx="1828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10242A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2999232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3547872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Relevant local providers receive the request.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3035808"/>
            <a:ext cx="25603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567179"/>
                </a:solidFill>
                <a:latin typeface="Arial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11496" y="2057400"/>
            <a:ext cx="1920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30952" y="2340864"/>
            <a:ext cx="438912" cy="438912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8968" y="2441448"/>
            <a:ext cx="1828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10242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999232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3547872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Provider performs the agreed service.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035808"/>
            <a:ext cx="25603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567179"/>
                </a:solidFill>
                <a:latin typeface="Arial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5784" y="2057400"/>
            <a:ext cx="1920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35240" y="2340864"/>
            <a:ext cx="438912" cy="438912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63256" y="2441448"/>
            <a:ext cx="1828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10242A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999232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547872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Payment is completed or recorded.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3035808"/>
            <a:ext cx="25603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567179"/>
                </a:solidFill>
                <a:latin typeface="Arial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0072" y="2057400"/>
            <a:ext cx="1920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39528" y="2340864"/>
            <a:ext cx="438912" cy="438912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67544" y="2441448"/>
            <a:ext cx="1828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10242A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2999232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9528" y="3547872"/>
            <a:ext cx="14173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Both sides build visible reputation.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Philippines is the upside market; Gingoog City is the proof market.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1"/>
            <a:ext cx="914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400" b="1">
                <a:solidFill>
                  <a:srgbClr val="0B4552"/>
                </a:solidFill>
                <a:latin typeface="Arial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97480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10242A"/>
                </a:solidFill>
                <a:latin typeface="Arial"/>
              </a:rPr>
              <a:t>Philippine local services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337560"/>
            <a:ext cx="2514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567179"/>
                </a:solidFill>
                <a:latin typeface="Arial"/>
              </a:rPr>
              <a:t>Est. PHP 250B+ annual addressable household and small-business service activity.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084831"/>
            <a:ext cx="914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400" b="1">
                <a:solidFill>
                  <a:srgbClr val="0E6D72"/>
                </a:solidFill>
                <a:latin typeface="Arial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697480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10242A"/>
                </a:solidFill>
                <a:latin typeface="Arial"/>
              </a:rPr>
              <a:t>Digitally reachable early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337560"/>
            <a:ext cx="2514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567179"/>
                </a:solidFill>
                <a:latin typeface="Arial"/>
              </a:rPr>
              <a:t>Est. PHP 25B-50B across repair, maintenance, cleaning, digital services, and skilled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246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084831"/>
            <a:ext cx="914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400" b="1">
                <a:solidFill>
                  <a:srgbClr val="E86F51"/>
                </a:solidFill>
                <a:latin typeface="Arial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697480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10242A"/>
                </a:solidFill>
                <a:latin typeface="Arial"/>
              </a:rPr>
              <a:t>3-year realistic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3337560"/>
            <a:ext cx="2514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567179"/>
                </a:solidFill>
                <a:latin typeface="Arial"/>
              </a:rPr>
              <a:t>Est. PHP 20M-60M GMV from disciplined city-by-city expansion after Gingoog 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9875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00" b="0">
                <a:solidFill>
                  <a:srgbClr val="567179"/>
                </a:solidFill>
                <a:latin typeface="Arial"/>
              </a:rPr>
              <a:t>Sizing is an explicit planning estimate using PSA household/service spend categories, DTI MSME data, and KAILA category assumptions.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PRODUCT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The browser MVP and native wrapper now show the core marketplace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828800"/>
            <a:ext cx="4114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2240280"/>
            <a:ext cx="342900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0242A"/>
                </a:solidFill>
                <a:latin typeface="Arial"/>
              </a:defRPr>
            </a:pPr>
            <a:r>
              <a:t>Request board for client needs and provider offers</a:t>
            </a:r>
          </a:p>
          <a:p>
            <a:pPr>
              <a:spcAft>
                <a:spcPts val="800"/>
              </a:spcAft>
              <a:defRPr sz="1300">
                <a:solidFill>
                  <a:srgbClr val="10242A"/>
                </a:solidFill>
                <a:latin typeface="Arial"/>
              </a:defRPr>
            </a:pPr>
            <a:r>
              <a:t>Provider directory with categories, areas, and trust signals</a:t>
            </a:r>
          </a:p>
          <a:p>
            <a:pPr>
              <a:spcAft>
                <a:spcPts val="800"/>
              </a:spcAft>
              <a:defRPr sz="1300">
                <a:solidFill>
                  <a:srgbClr val="10242A"/>
                </a:solidFill>
                <a:latin typeface="Arial"/>
              </a:defRPr>
            </a:pPr>
            <a:r>
              <a:t>Admin-style dashboard for pilot operations and manual matching</a:t>
            </a:r>
          </a:p>
          <a:p>
            <a:pPr>
              <a:spcAft>
                <a:spcPts val="800"/>
              </a:spcAft>
              <a:defRPr sz="1300">
                <a:solidFill>
                  <a:srgbClr val="10242A"/>
                </a:solidFill>
                <a:latin typeface="Arial"/>
              </a:defRPr>
            </a:pPr>
            <a:r>
              <a:t>Browser PWA and native Android wrapper available for pilot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KAILA monetizes after the marketplace proves real provider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2926080" cy="566928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27797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Revenue 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920240"/>
            <a:ext cx="7132320" cy="566928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2029968"/>
            <a:ext cx="698601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87168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596896"/>
            <a:ext cx="277977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0">
                <a:solidFill>
                  <a:srgbClr val="10242A"/>
                </a:solidFill>
                <a:latin typeface="Arial"/>
              </a:rPr>
              <a:t>Service fee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487168"/>
            <a:ext cx="7132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2" y="2596896"/>
            <a:ext cx="6986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1">
                <a:solidFill>
                  <a:srgbClr val="10242A"/>
                </a:solidFill>
                <a:latin typeface="Arial"/>
              </a:rPr>
              <a:t>% commission per completed transaction after trust is proven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054096"/>
            <a:ext cx="2926080" cy="566928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163824"/>
            <a:ext cx="277977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0">
                <a:solidFill>
                  <a:srgbClr val="10242A"/>
                </a:solidFill>
                <a:latin typeface="Arial"/>
              </a:rPr>
              <a:t>Featured listings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54096"/>
            <a:ext cx="7132320" cy="566928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2" y="3163824"/>
            <a:ext cx="6986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1">
                <a:solidFill>
                  <a:srgbClr val="10242A"/>
                </a:solidFill>
                <a:latin typeface="Arial"/>
              </a:rPr>
              <a:t>Provider promotion and profile boosts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621024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730752"/>
            <a:ext cx="277977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0">
                <a:solidFill>
                  <a:srgbClr val="10242A"/>
                </a:solidFill>
                <a:latin typeface="Arial"/>
              </a:rPr>
              <a:t>Subscription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21024"/>
            <a:ext cx="7132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3730752"/>
            <a:ext cx="6986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1">
                <a:solidFill>
                  <a:srgbClr val="10242A"/>
                </a:solidFill>
                <a:latin typeface="Arial"/>
              </a:rPr>
              <a:t>Premium provider accounts with better visibility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187952"/>
            <a:ext cx="2926080" cy="566928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297680"/>
            <a:ext cx="277977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0">
                <a:solidFill>
                  <a:srgbClr val="10242A"/>
                </a:solidFill>
                <a:latin typeface="Arial"/>
              </a:rPr>
              <a:t>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187952"/>
            <a:ext cx="7132320" cy="566928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4297680"/>
            <a:ext cx="6986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00" b="1">
                <a:solidFill>
                  <a:srgbClr val="10242A"/>
                </a:solidFill>
                <a:latin typeface="Arial"/>
              </a:rPr>
              <a:t>Local business promotions and category sponsorships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The behavior is already digital; the trust system is missing.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4663440" cy="109728"/>
          </a:xfrm>
          <a:prstGeom prst="rect">
            <a:avLst/>
          </a:prstGeom>
          <a:solidFill>
            <a:srgbClr val="1F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4251959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97.5M internet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606040"/>
            <a:ext cx="4251959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DataReportal reported 83.8% internet penetration in the Philippines in January 2025.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828800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828800"/>
            <a:ext cx="4663440" cy="10972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7" y="2084832"/>
            <a:ext cx="4251959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142M mobile connections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7" y="2606040"/>
            <a:ext cx="4251959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Mobile connectivity is larger than the population, making mobile-first matching practical.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20440"/>
            <a:ext cx="4663440" cy="109728"/>
          </a:xfrm>
          <a:prstGeom prst="rect">
            <a:avLst/>
          </a:prstGeom>
          <a:solidFill>
            <a:srgbClr val="0E6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776472"/>
            <a:ext cx="4251959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57.4% digital payment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297680"/>
            <a:ext cx="4251959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BSP reported digital retail payments reached 57.4% of transaction volume in 2024.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3520440"/>
            <a:ext cx="4663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3520440"/>
            <a:ext cx="4663440" cy="109728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7" y="3776472"/>
            <a:ext cx="4251959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MSME-heavy economy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7" y="4297680"/>
            <a:ext cx="4251959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DTI reports MSMEs make up 99.66% of Philippine business establishments.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KAILA wins by combining local focus, search, verification, ratings, and structured workflows.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2743200" cy="457200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38528"/>
            <a:ext cx="259689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938528"/>
            <a:ext cx="204825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Facebook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828800"/>
            <a:ext cx="2560320" cy="457200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1938528"/>
            <a:ext cx="241401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Generic Marketplace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59" y="1828800"/>
            <a:ext cx="2194560" cy="457200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1938528"/>
            <a:ext cx="204825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KAILA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28600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395728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Searchability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2860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23957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228600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9592" y="2395728"/>
            <a:ext cx="241401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59" y="22860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1" y="23957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743200"/>
            <a:ext cx="274320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2852928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Ratings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2743200"/>
            <a:ext cx="219456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85032" y="28529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743200"/>
            <a:ext cx="256032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9592" y="2852928"/>
            <a:ext cx="241401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59" y="2743200"/>
            <a:ext cx="219456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1" y="28529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320040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3310128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Verification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32004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85032" y="33101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20040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79592" y="3310128"/>
            <a:ext cx="241401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Partial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59" y="32004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1" y="33101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3657600"/>
            <a:ext cx="274320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3767328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Local focus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3657600"/>
            <a:ext cx="219456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85032" y="37673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Partial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3657600"/>
            <a:ext cx="256032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9592" y="3767328"/>
            <a:ext cx="241401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Partial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59" y="3657600"/>
            <a:ext cx="219456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9911" y="37673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" y="411480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" y="4224528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Request-to-offer workflow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11880" y="41148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85032" y="42245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06440" y="411480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79592" y="4224528"/>
            <a:ext cx="241401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Partial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66759" y="41148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39911" y="42245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4572000"/>
            <a:ext cx="274320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" y="4681728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Pilot operations support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11880" y="4572000"/>
            <a:ext cx="219456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85032" y="46817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4572000"/>
            <a:ext cx="256032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79592" y="4681728"/>
            <a:ext cx="241401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10242A"/>
                </a:solidFill>
                <a:latin typeface="Arial"/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66759" y="4572000"/>
            <a:ext cx="2194560" cy="457200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9911" y="468172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Yes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Start narrow in Gingoog City, prove density, then replicate the playbook.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2918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291840" cy="10972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2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Demand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06040"/>
            <a:ext cx="2880360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Facebook groups
Barangay partnerships
Local ads and referrals
Small business outreach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2918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28800"/>
            <a:ext cx="3291840" cy="109728"/>
          </a:xfrm>
          <a:prstGeom prst="rect">
            <a:avLst/>
          </a:prstGeom>
          <a:solidFill>
            <a:srgbClr val="1F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2084832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Supply 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606040"/>
            <a:ext cx="2880360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Skilled workers
Freelancers
Tradespeople
Repair shops and service microbusinesses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2918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291840" cy="109728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084832"/>
            <a:ext cx="2880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00" b="1">
                <a:solidFill>
                  <a:srgbClr val="0B4552"/>
                </a:solidFill>
                <a:latin typeface="Arial"/>
              </a:rPr>
              <a:t>Gingoog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606040"/>
            <a:ext cx="2880360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10242A"/>
                </a:solidFill>
                <a:latin typeface="Arial"/>
              </a:rPr>
              <a:t>Recruit providers first
Run concierge matching
Measure response and completion
Convert proof into MVP improvements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Current stage: founder-grade package, browser MVP, native wrapper, and Gingoog validation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7568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900" b="1">
                <a:solidFill>
                  <a:srgbClr val="0B4552"/>
                </a:solidFill>
                <a:latin typeface="Arial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57400"/>
            <a:ext cx="16916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Target providers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7568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900" b="1">
                <a:solidFill>
                  <a:srgbClr val="0B4552"/>
                </a:solidFill>
                <a:latin typeface="Arial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57400"/>
            <a:ext cx="16916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Client survey responses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74519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07568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900" b="1">
                <a:solidFill>
                  <a:srgbClr val="0B4552"/>
                </a:solidFill>
                <a:latin typeface="Arial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057400"/>
            <a:ext cx="16916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Real service requests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08960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1012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900" b="1">
                <a:solidFill>
                  <a:srgbClr val="0B4552"/>
                </a:solidFill>
                <a:latin typeface="Arial"/>
              </a:rPr>
              <a:t>15+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291840"/>
            <a:ext cx="16916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Completed or strongly matched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108960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331012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900" b="1">
                <a:solidFill>
                  <a:srgbClr val="0B4552"/>
                </a:solidFill>
                <a:latin typeface="Arial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291840"/>
            <a:ext cx="16916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Starting service categories incl. cellphone repair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108960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331012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900" b="1">
                <a:solidFill>
                  <a:srgbClr val="0B4552"/>
                </a:solidFill>
                <a:latin typeface="Arial"/>
              </a:rPr>
              <a:t>30-45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291840"/>
            <a:ext cx="16916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1">
                <a:solidFill>
                  <a:srgbClr val="10242A"/>
                </a:solidFill>
                <a:latin typeface="Arial"/>
              </a:rPr>
              <a:t>Active pilot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74920"/>
            <a:ext cx="99669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00" b="0">
                <a:solidFill>
                  <a:srgbClr val="567179"/>
                </a:solidFill>
                <a:latin typeface="Arial"/>
              </a:rPr>
              <a:t>If actual interviews, waitlist, survey results, or pilot jobs are added, this becomes the strongest investor proof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FINANCIAL PROJECTIONS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Lean 3-year model: micro-budget pilot before paid marketplace.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2743200" cy="438912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38528"/>
            <a:ext cx="259689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194560" cy="438912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938528"/>
            <a:ext cx="204825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Year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828800"/>
            <a:ext cx="2194560" cy="438912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6712" y="1938528"/>
            <a:ext cx="204825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Year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828800"/>
            <a:ext cx="2194560" cy="438912"/>
          </a:xfrm>
          <a:prstGeom prst="rect">
            <a:avLst/>
          </a:prstGeom>
          <a:solidFill>
            <a:srgbClr val="0B4552"/>
          </a:solidFill>
          <a:ln w="12700">
            <a:solidFill>
              <a:srgbClr val="0B4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2" y="1938528"/>
            <a:ext cx="2048255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Year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26771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377440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Active providers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267712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377440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150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2267712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6712" y="2377440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267712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2" y="2377440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10242A"/>
                </a:solidFill>
                <a:latin typeface="Arial"/>
              </a:rPr>
              <a:t>1,800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706624"/>
            <a:ext cx="274320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Completed jobs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706624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2816352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900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2706624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816352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7,200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2706624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1272" y="2816352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10242A"/>
                </a:solidFill>
                <a:latin typeface="Arial"/>
              </a:rPr>
              <a:t>32,400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14553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3255264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GMV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145536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3255264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PHP 0.9M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3145536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96712" y="3255264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PHP 8.6M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3145536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91272" y="3255264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10242A"/>
                </a:solidFill>
                <a:latin typeface="Arial"/>
              </a:rPr>
              <a:t>PHP 48.6M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3584448"/>
            <a:ext cx="274320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3694176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Revenue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3584448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02152" y="3694176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PHP 0.2M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23560" y="3584448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96712" y="3694176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PHP 1.7M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3584448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91272" y="3694176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10242A"/>
                </a:solidFill>
                <a:latin typeface="Arial"/>
              </a:rPr>
              <a:t>PHP 7.3M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402336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4133088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Expenses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4023360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02152" y="413308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PHP 36K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4023360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96712" y="413308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PHP 60K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4023360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91272" y="4133088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10242A"/>
                </a:solidFill>
                <a:latin typeface="Arial"/>
              </a:rPr>
              <a:t>PHP 120K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4462272"/>
            <a:ext cx="274320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8952" y="4572000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Profit / Loss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4462272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02152" y="4572000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PHP 144K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23560" y="4462272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96712" y="4572000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0">
                <a:solidFill>
                  <a:srgbClr val="10242A"/>
                </a:solidFill>
                <a:latin typeface="Arial"/>
              </a:rPr>
              <a:t>PHP 1.67M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18120" y="4462272"/>
            <a:ext cx="2194560" cy="438912"/>
          </a:xfrm>
          <a:prstGeom prst="rect">
            <a:avLst/>
          </a:prstGeom>
          <a:solidFill>
            <a:srgbClr val="F7F3EA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91272" y="4572000"/>
            <a:ext cx="2048255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00" b="1">
                <a:solidFill>
                  <a:srgbClr val="10242A"/>
                </a:solidFill>
                <a:latin typeface="Arial"/>
              </a:rPr>
              <a:t>PHP 7.17M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5440680"/>
            <a:ext cx="96926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050" b="0">
                <a:solidFill>
                  <a:srgbClr val="567179"/>
                </a:solidFill>
                <a:latin typeface="Arial"/>
              </a:rPr>
              <a:t>Assumptions are included in the investor package workbook and should be updated after the Gingoog pilot.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FUNDING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No large raise needed: optional micro-budget support for the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75688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200" b="1">
                <a:solidFill>
                  <a:srgbClr val="0B4552"/>
                </a:solidFill>
                <a:latin typeface="Arial"/>
              </a:rPr>
              <a:t>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39112"/>
            <a:ext cx="17373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MVP polish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377439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00" b="0">
                <a:solidFill>
                  <a:srgbClr val="567179"/>
                </a:solidFill>
                <a:latin typeface="Arial"/>
              </a:rPr>
              <a:t>PHP 5,000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2075688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200" b="1">
                <a:solidFill>
                  <a:srgbClr val="0B4552"/>
                </a:solidFill>
                <a:latin typeface="Arial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39112"/>
            <a:ext cx="17373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Page/content boosts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77439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00" b="0">
                <a:solidFill>
                  <a:srgbClr val="567179"/>
                </a:solidFill>
                <a:latin typeface="Arial"/>
              </a:rPr>
              <a:t>PHP 20,000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91839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493008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200" b="1">
                <a:solidFill>
                  <a:srgbClr val="0B4552"/>
                </a:solidFill>
                <a:latin typeface="Arial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456432"/>
            <a:ext cx="17373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Field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794759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00" b="0">
                <a:solidFill>
                  <a:srgbClr val="567179"/>
                </a:solidFill>
                <a:latin typeface="Arial"/>
              </a:rPr>
              <a:t>PHP 15,000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291839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3493008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200" b="1">
                <a:solidFill>
                  <a:srgbClr val="0B4552"/>
                </a:solidFill>
                <a:latin typeface="Arial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456432"/>
            <a:ext cx="17373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Admin 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794759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00" b="0">
                <a:solidFill>
                  <a:srgbClr val="567179"/>
                </a:solidFill>
                <a:latin typeface="Arial"/>
              </a:rPr>
              <a:t>PHP 10,000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00" b="0">
                <a:solidFill>
                  <a:srgbClr val="567179"/>
                </a:solidFill>
                <a:latin typeface="Arial"/>
              </a:rPr>
              <a:t>Use free resources first; this optional PHP 50,000 ceiling covers only small boosts, field validation, and essentials.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Founder-led by a technical builder with validation-first discipline.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48006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3977639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000" b="1">
                <a:solidFill>
                  <a:srgbClr val="0B4552"/>
                </a:solidFill>
                <a:latin typeface="Arial"/>
              </a:rPr>
              <a:t>John Mark Agustin E. Acido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88920"/>
            <a:ext cx="393192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0242A"/>
                </a:solidFill>
                <a:latin typeface="Arial"/>
              </a:defRPr>
            </a:pPr>
            <a:r>
              <a:t>Product and technology lead</a:t>
            </a:r>
          </a:p>
          <a:p>
            <a:pPr>
              <a:spcAft>
                <a:spcPts val="800"/>
              </a:spcAft>
              <a:defRPr sz="1250">
                <a:solidFill>
                  <a:srgbClr val="10242A"/>
                </a:solidFill>
                <a:latin typeface="Arial"/>
              </a:defRPr>
            </a:pPr>
            <a:r>
              <a:t>Web development and prototype execution</a:t>
            </a:r>
          </a:p>
          <a:p>
            <a:pPr>
              <a:spcAft>
                <a:spcPts val="800"/>
              </a:spcAft>
              <a:defRPr sz="1250">
                <a:solidFill>
                  <a:srgbClr val="10242A"/>
                </a:solidFill>
                <a:latin typeface="Arial"/>
              </a:defRPr>
            </a:pPr>
            <a:r>
              <a:t>Founder-grade business documentation and MVP planning</a:t>
            </a:r>
          </a:p>
          <a:p>
            <a:pPr>
              <a:spcAft>
                <a:spcPts val="800"/>
              </a:spcAft>
              <a:defRPr sz="1250">
                <a:solidFill>
                  <a:srgbClr val="10242A"/>
                </a:solidFill>
                <a:latin typeface="Arial"/>
              </a:defRPr>
            </a:pPr>
            <a:r>
              <a:t>Local pilot design for Gingoog 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4251960" cy="3246120"/>
          </a:xfrm>
          <a:prstGeom prst="round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267712"/>
            <a:ext cx="3200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Next strategic hires / co-founders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971800"/>
            <a:ext cx="310896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Operations lead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Provider acquisition lead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Marketing/community lead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Become the leading on-demand services platform for Philippine cities.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10149840" cy="3566160"/>
          </a:xfrm>
          <a:prstGeom prst="round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23160"/>
            <a:ext cx="9052560" cy="21488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Start with one disciplined pilot in Gingoog City.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Prove matching, trust, ratings, and provider value manually.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Improve the MVP around the proven workflow.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Expand city-by-city with a repeatable local operations playbook.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800" b="1">
                <a:solidFill>
                  <a:srgbClr val="567179"/>
                </a:solidFill>
                <a:latin typeface="Arial"/>
              </a:rPr>
              <a:t>KAILA Investor Pitch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01968"/>
            <a:ext cx="411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800" b="0">
                <a:solidFill>
                  <a:srgbClr val="567179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00" b="1">
                <a:solidFill>
                  <a:srgbClr val="0E6D72"/>
                </a:solidFill>
                <a:latin typeface="Arial"/>
              </a:rPr>
              <a:t>INVESTOR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31520"/>
            <a:ext cx="104241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300" b="1">
                <a:solidFill>
                  <a:srgbClr val="10242A"/>
                </a:solidFill>
                <a:latin typeface="Arial"/>
              </a:rPr>
              <a:t>What investors can review 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2"/>
            <a:ext cx="2331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Investor pitch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2"/>
            <a:ext cx="2331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Market sizing and assumptions memo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828800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084832"/>
            <a:ext cx="2331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Starter 3-year financial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319272"/>
            <a:ext cx="2331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Business plan outline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063240"/>
            <a:ext cx="2971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19272"/>
            <a:ext cx="2331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10242A"/>
                </a:solidFill>
                <a:latin typeface="Arial"/>
              </a:rPr>
              <a:t>Due diligence data room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9875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00" b="1">
                <a:solidFill>
                  <a:srgbClr val="0B4552"/>
                </a:solidFill>
                <a:latin typeface="Arial"/>
              </a:rPr>
              <a:t>The immediate next milestone is the Gingoog City validation sprint.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