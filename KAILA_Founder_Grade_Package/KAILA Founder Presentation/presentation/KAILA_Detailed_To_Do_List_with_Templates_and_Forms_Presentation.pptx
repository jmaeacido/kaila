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0E5A7A"/>
          </a:solidFill>
          <a:ln w="12700">
            <a:solidFill>
              <a:srgbClr val="0E5A7A"/>
            </a:solidFill>
            <a:prstDash val="solid"/>
          </a:ln>
        </p:spPr>
      </p:sp>
      <p:sp>
        <p:nvSpPr>
          <p:cNvPr id="3" name="Shape 1"/>
          <p:cNvSpPr/>
          <p:nvPr/>
        </p:nvSpPr>
        <p:spPr>
          <a:xfrm>
            <a:off x="0" y="274320"/>
            <a:ext cx="12191695" cy="128016"/>
          </a:xfrm>
          <a:prstGeom prst="rect">
            <a:avLst/>
          </a:prstGeom>
          <a:solidFill>
            <a:srgbClr val="F2C94C"/>
          </a:solidFill>
          <a:ln w="12700">
            <a:solidFill>
              <a:srgbClr val="F2C94C"/>
            </a:solidFill>
            <a:prstDash val="solid"/>
          </a:ln>
        </p:spPr>
      </p:sp>
      <p:sp>
        <p:nvSpPr>
          <p:cNvPr id="4" name="Text 2"/>
          <p:cNvSpPr/>
          <p:nvPr/>
        </p:nvSpPr>
        <p:spPr>
          <a:xfrm>
            <a:off x="502920" y="960120"/>
            <a:ext cx="11155680" cy="548640"/>
          </a:xfrm>
          <a:prstGeom prst="rect">
            <a:avLst/>
          </a:prstGeom>
          <a:noFill/>
          <a:ln/>
        </p:spPr>
        <p:txBody>
          <a:bodyPr wrap="square" lIns="0" tIns="0" rIns="0" bIns="0" rtlCol="0" anchor="ctr"/>
          <a:lstStyle/>
          <a:p>
            <a:pPr indent="0" marL="0">
              <a:buNone/>
            </a:pPr>
            <a:r>
              <a:rPr lang="en-US" sz="4800" b="1" dirty="0">
                <a:solidFill>
                  <a:srgbClr val="0E5A7A"/>
                </a:solidFill>
                <a:latin typeface="Aptos Display" pitchFamily="34" charset="0"/>
                <a:ea typeface="Aptos Display" pitchFamily="34" charset="-122"/>
                <a:cs typeface="Aptos Display" pitchFamily="34" charset="-120"/>
              </a:rPr>
              <a:t>KAILA</a:t>
            </a:r>
            <a:endParaRPr lang="en-US" sz="4800" dirty="0"/>
          </a:p>
        </p:txBody>
      </p:sp>
      <p:sp>
        <p:nvSpPr>
          <p:cNvPr id="5" name="Text 3"/>
          <p:cNvSpPr/>
          <p:nvPr/>
        </p:nvSpPr>
        <p:spPr>
          <a:xfrm>
            <a:off x="502920" y="1627632"/>
            <a:ext cx="11155680" cy="475488"/>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Detailed To-Do List + Complete Templates and Forms</a:t>
            </a:r>
            <a:endParaRPr lang="en-US" sz="3000" dirty="0"/>
          </a:p>
        </p:txBody>
      </p:sp>
      <p:sp>
        <p:nvSpPr>
          <p:cNvPr id="6" name="Text 4"/>
          <p:cNvSpPr/>
          <p:nvPr/>
        </p:nvSpPr>
        <p:spPr>
          <a:xfrm>
            <a:off x="502920" y="2212848"/>
            <a:ext cx="10789920" cy="457200"/>
          </a:xfrm>
          <a:prstGeom prst="rect">
            <a:avLst/>
          </a:prstGeom>
          <a:noFill/>
          <a:ln/>
        </p:spPr>
        <p:txBody>
          <a:bodyPr wrap="square" lIns="0" tIns="0" rIns="0" bIns="0" rtlCol="0" anchor="ctr">
            <a:normAutofit/>
          </a:bodyPr>
          <a:lstStyle/>
          <a:p>
            <a:pPr indent="0" marL="0">
              <a:buNone/>
            </a:pPr>
            <a:r>
              <a:rPr lang="en-US" sz="1900" dirty="0">
                <a:solidFill>
                  <a:srgbClr val="5A6B7A"/>
                </a:solidFill>
                <a:latin typeface="Aptos" pitchFamily="34" charset="0"/>
                <a:ea typeface="Aptos" pitchFamily="34" charset="-122"/>
                <a:cs typeface="Aptos" pitchFamily="34" charset="-120"/>
              </a:rPr>
              <a:t>Readable PowerPoint version with larger text and the full forms/templates pack included.</a:t>
            </a:r>
            <a:endParaRPr lang="en-US" sz="1900" dirty="0"/>
          </a:p>
        </p:txBody>
      </p:sp>
      <p:sp>
        <p:nvSpPr>
          <p:cNvPr id="7" name="Shape 5"/>
          <p:cNvSpPr/>
          <p:nvPr/>
        </p:nvSpPr>
        <p:spPr>
          <a:xfrm>
            <a:off x="502920" y="3063240"/>
            <a:ext cx="3200400" cy="1051560"/>
          </a:xfrm>
          <a:prstGeom prst="roundRect">
            <a:avLst>
              <a:gd name="adj" fmla="val 6957"/>
            </a:avLst>
          </a:prstGeom>
          <a:solidFill>
            <a:srgbClr val="EAF5FA"/>
          </a:solidFill>
          <a:ln w="12700">
            <a:solidFill>
              <a:srgbClr val="B9D8E6"/>
            </a:solidFill>
            <a:prstDash val="solid"/>
          </a:ln>
        </p:spPr>
      </p:sp>
      <p:sp>
        <p:nvSpPr>
          <p:cNvPr id="8" name="Text 6"/>
          <p:cNvSpPr/>
          <p:nvPr/>
        </p:nvSpPr>
        <p:spPr>
          <a:xfrm>
            <a:off x="704088" y="3246120"/>
            <a:ext cx="2788920" cy="256032"/>
          </a:xfrm>
          <a:prstGeom prst="rect">
            <a:avLst/>
          </a:prstGeom>
          <a:noFill/>
          <a:ln/>
        </p:spPr>
        <p:txBody>
          <a:bodyPr wrap="square" lIns="0" tIns="0" rIns="0" bIns="0" rtlCol="0" anchor="ctr"/>
          <a:lstStyle/>
          <a:p>
            <a:pPr indent="0" marL="0">
              <a:buNone/>
            </a:pPr>
            <a:r>
              <a:rPr lang="en-US" sz="1800" b="1" dirty="0">
                <a:solidFill>
                  <a:srgbClr val="0E5A7A"/>
                </a:solidFill>
              </a:rPr>
              <a:t>Validation first</a:t>
            </a:r>
            <a:endParaRPr lang="en-US" sz="1800" dirty="0"/>
          </a:p>
        </p:txBody>
      </p:sp>
      <p:sp>
        <p:nvSpPr>
          <p:cNvPr id="9" name="Text 7"/>
          <p:cNvSpPr/>
          <p:nvPr/>
        </p:nvSpPr>
        <p:spPr>
          <a:xfrm>
            <a:off x="704088" y="3584448"/>
            <a:ext cx="2788920" cy="320040"/>
          </a:xfrm>
          <a:prstGeom prst="rect">
            <a:avLst/>
          </a:prstGeom>
          <a:noFill/>
          <a:ln/>
        </p:spPr>
        <p:txBody>
          <a:bodyPr wrap="square" lIns="0" tIns="0" rIns="0" bIns="0" rtlCol="0" anchor="ctr"/>
          <a:lstStyle/>
          <a:p>
            <a:pPr indent="0" marL="0">
              <a:buNone/>
            </a:pPr>
            <a:r>
              <a:rPr lang="en-US" sz="1450" dirty="0">
                <a:solidFill>
                  <a:srgbClr val="17324D"/>
                </a:solidFill>
              </a:rPr>
              <a:t>Build proof before building the app.</a:t>
            </a:r>
            <a:endParaRPr lang="en-US" sz="1450" dirty="0"/>
          </a:p>
        </p:txBody>
      </p:sp>
      <p:sp>
        <p:nvSpPr>
          <p:cNvPr id="10" name="Shape 8"/>
          <p:cNvSpPr/>
          <p:nvPr/>
        </p:nvSpPr>
        <p:spPr>
          <a:xfrm>
            <a:off x="4343400" y="3063240"/>
            <a:ext cx="3200400" cy="1051560"/>
          </a:xfrm>
          <a:prstGeom prst="roundRect">
            <a:avLst>
              <a:gd name="adj" fmla="val 6957"/>
            </a:avLst>
          </a:prstGeom>
          <a:solidFill>
            <a:srgbClr val="ECF7ED"/>
          </a:solidFill>
          <a:ln w="12700">
            <a:solidFill>
              <a:srgbClr val="BBDDBE"/>
            </a:solidFill>
            <a:prstDash val="solid"/>
          </a:ln>
        </p:spPr>
      </p:sp>
      <p:sp>
        <p:nvSpPr>
          <p:cNvPr id="11" name="Text 9"/>
          <p:cNvSpPr/>
          <p:nvPr/>
        </p:nvSpPr>
        <p:spPr>
          <a:xfrm>
            <a:off x="4544568" y="3246120"/>
            <a:ext cx="2788920" cy="256032"/>
          </a:xfrm>
          <a:prstGeom prst="rect">
            <a:avLst/>
          </a:prstGeom>
          <a:noFill/>
          <a:ln/>
        </p:spPr>
        <p:txBody>
          <a:bodyPr wrap="square" lIns="0" tIns="0" rIns="0" bIns="0" rtlCol="0" anchor="ctr"/>
          <a:lstStyle/>
          <a:p>
            <a:pPr indent="0" marL="0">
              <a:buNone/>
            </a:pPr>
            <a:r>
              <a:rPr lang="en-US" sz="1800" b="1" dirty="0">
                <a:solidFill>
                  <a:srgbClr val="2E7D32"/>
                </a:solidFill>
              </a:rPr>
              <a:t>Provider supply first</a:t>
            </a:r>
            <a:endParaRPr lang="en-US" sz="1800" dirty="0"/>
          </a:p>
        </p:txBody>
      </p:sp>
      <p:sp>
        <p:nvSpPr>
          <p:cNvPr id="12" name="Text 10"/>
          <p:cNvSpPr/>
          <p:nvPr/>
        </p:nvSpPr>
        <p:spPr>
          <a:xfrm>
            <a:off x="4544568" y="3584448"/>
            <a:ext cx="2788920" cy="320040"/>
          </a:xfrm>
          <a:prstGeom prst="rect">
            <a:avLst/>
          </a:prstGeom>
          <a:noFill/>
          <a:ln/>
        </p:spPr>
        <p:txBody>
          <a:bodyPr wrap="square" lIns="0" tIns="0" rIns="0" bIns="0" rtlCol="0" anchor="ctr"/>
          <a:lstStyle/>
          <a:p>
            <a:pPr indent="0" marL="0">
              <a:buNone/>
            </a:pPr>
            <a:r>
              <a:rPr lang="en-US" sz="1450" dirty="0">
                <a:solidFill>
                  <a:srgbClr val="17324D"/>
                </a:solidFill>
              </a:rPr>
              <a:t>Recruit providers before client launch.</a:t>
            </a:r>
            <a:endParaRPr lang="en-US" sz="1450" dirty="0"/>
          </a:p>
        </p:txBody>
      </p:sp>
      <p:sp>
        <p:nvSpPr>
          <p:cNvPr id="13" name="Shape 11"/>
          <p:cNvSpPr/>
          <p:nvPr/>
        </p:nvSpPr>
        <p:spPr>
          <a:xfrm>
            <a:off x="8183880" y="3063240"/>
            <a:ext cx="3200400" cy="1051560"/>
          </a:xfrm>
          <a:prstGeom prst="roundRect">
            <a:avLst>
              <a:gd name="adj" fmla="val 6957"/>
            </a:avLst>
          </a:prstGeom>
          <a:solidFill>
            <a:srgbClr val="FFF7D6"/>
          </a:solidFill>
          <a:ln w="12700">
            <a:solidFill>
              <a:srgbClr val="EAD777"/>
            </a:solidFill>
            <a:prstDash val="solid"/>
          </a:ln>
        </p:spPr>
      </p:sp>
      <p:sp>
        <p:nvSpPr>
          <p:cNvPr id="14" name="Text 12"/>
          <p:cNvSpPr/>
          <p:nvPr/>
        </p:nvSpPr>
        <p:spPr>
          <a:xfrm>
            <a:off x="8385048" y="3246120"/>
            <a:ext cx="2788920" cy="256032"/>
          </a:xfrm>
          <a:prstGeom prst="rect">
            <a:avLst/>
          </a:prstGeom>
          <a:noFill/>
          <a:ln/>
        </p:spPr>
        <p:txBody>
          <a:bodyPr wrap="square" lIns="0" tIns="0" rIns="0" bIns="0" rtlCol="0" anchor="ctr"/>
          <a:lstStyle/>
          <a:p>
            <a:pPr indent="0" marL="0">
              <a:buNone/>
            </a:pPr>
            <a:r>
              <a:rPr lang="en-US" sz="1800" b="1" dirty="0">
                <a:solidFill>
                  <a:srgbClr val="9A7100"/>
                </a:solidFill>
              </a:rPr>
              <a:t>Trust first</a:t>
            </a:r>
            <a:endParaRPr lang="en-US" sz="1800" dirty="0"/>
          </a:p>
        </p:txBody>
      </p:sp>
      <p:sp>
        <p:nvSpPr>
          <p:cNvPr id="15" name="Text 13"/>
          <p:cNvSpPr/>
          <p:nvPr/>
        </p:nvSpPr>
        <p:spPr>
          <a:xfrm>
            <a:off x="8385048" y="3584448"/>
            <a:ext cx="2788920" cy="320040"/>
          </a:xfrm>
          <a:prstGeom prst="rect">
            <a:avLst/>
          </a:prstGeom>
          <a:noFill/>
          <a:ln/>
        </p:spPr>
        <p:txBody>
          <a:bodyPr wrap="square" lIns="0" tIns="0" rIns="0" bIns="0" rtlCol="0" anchor="ctr"/>
          <a:lstStyle/>
          <a:p>
            <a:pPr indent="0" marL="0">
              <a:buNone/>
            </a:pPr>
            <a:r>
              <a:rPr lang="en-US" sz="1450" dirty="0">
                <a:solidFill>
                  <a:srgbClr val="17324D"/>
                </a:solidFill>
              </a:rPr>
              <a:t>Use levels, ratings, and records.</a:t>
            </a:r>
            <a:endParaRPr lang="en-US" sz="1450" dirty="0"/>
          </a:p>
        </p:txBody>
      </p:sp>
      <p:sp>
        <p:nvSpPr>
          <p:cNvPr id="16" name="Text 14"/>
          <p:cNvSpPr/>
          <p:nvPr/>
        </p:nvSpPr>
        <p:spPr>
          <a:xfrm>
            <a:off x="502920" y="5212080"/>
            <a:ext cx="11155680" cy="411480"/>
          </a:xfrm>
          <a:prstGeom prst="rect">
            <a:avLst/>
          </a:prstGeom>
          <a:noFill/>
          <a:ln/>
        </p:spPr>
        <p:txBody>
          <a:bodyPr wrap="square" lIns="0" tIns="0" rIns="0" bIns="0" rtlCol="0" anchor="ctr"/>
          <a:lstStyle/>
          <a:p>
            <a:pPr indent="0" marL="0">
              <a:buNone/>
            </a:pPr>
            <a:r>
              <a:rPr lang="en-US" sz="1900" b="1" dirty="0">
                <a:solidFill>
                  <a:srgbClr val="17324D"/>
                </a:solidFill>
              </a:rPr>
              <a:t>Prepared for the first KAILA Gingoog Concierge Pilot</a:t>
            </a:r>
            <a:endParaRPr lang="en-US" sz="1900" dirty="0"/>
          </a:p>
        </p:txBody>
      </p:sp>
      <p:sp>
        <p:nvSpPr>
          <p:cNvPr id="17" name="Text 15"/>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KAILA</a:t>
            </a:r>
            <a:endParaRPr lang="en-US" sz="850" dirty="0"/>
          </a:p>
        </p:txBody>
      </p:sp>
      <p:sp>
        <p:nvSpPr>
          <p:cNvPr id="18" name="Text 16"/>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Guide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How to Use This Deck</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Designed to be readable on-screen and useful as an operations checklist.</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Guide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02</a:t>
            </a:r>
            <a:endParaRPr lang="en-US" sz="850" dirty="0"/>
          </a:p>
        </p:txBody>
      </p:sp>
      <p:sp>
        <p:nvSpPr>
          <p:cNvPr id="8" name="Text 6"/>
          <p:cNvSpPr/>
          <p:nvPr/>
        </p:nvSpPr>
        <p:spPr>
          <a:xfrm>
            <a:off x="502920" y="1554480"/>
            <a:ext cx="11109960" cy="4526280"/>
          </a:xfrm>
          <a:prstGeom prst="rect">
            <a:avLst/>
          </a:prstGeom>
          <a:noFill/>
          <a:ln/>
        </p:spPr>
        <p:txBody>
          <a:bodyPr wrap="square" lIns="1016" tIns="1016" rIns="1016" bIns="1016" rtlCol="0" anchor="ctr">
            <a:normAutofit/>
          </a:bodyPr>
          <a:lstStyle/>
          <a:p>
            <a:pPr marL="203200" indent="-203200">
              <a:buSzPct val="100000"/>
              <a:buChar char="•"/>
            </a:pPr>
            <a:r>
              <a:rPr lang="en-US" sz="1850" dirty="0">
                <a:solidFill>
                  <a:srgbClr val="17324D"/>
                </a:solidFill>
                <a:latin typeface="Aptos" pitchFamily="34" charset="0"/>
                <a:ea typeface="Aptos" pitchFamily="34" charset="-122"/>
                <a:cs typeface="Aptos" pitchFamily="34" charset="-120"/>
              </a:rPr>
              <a:t>Use Section 1 as the startup execution guide for the first 90 days.</a:t>
            </a:r>
            <a:endParaRPr lang="en-US" sz="1850" dirty="0"/>
          </a:p>
          <a:p>
            <a:pPr marL="203200" indent="-203200">
              <a:buSzPct val="100000"/>
              <a:buChar char="•"/>
            </a:pPr>
            <a:r>
              <a:rPr lang="en-US" sz="1850" dirty="0">
                <a:solidFill>
                  <a:srgbClr val="17324D"/>
                </a:solidFill>
                <a:latin typeface="Aptos" pitchFamily="34" charset="0"/>
                <a:ea typeface="Aptos" pitchFamily="34" charset="-122"/>
                <a:cs typeface="Aptos" pitchFamily="34" charset="-120"/>
              </a:rPr>
              <a:t>Use Section 2 as the complete templates/forms pack for Google Forms, Google Sheets, Messenger, and meetings.</a:t>
            </a:r>
            <a:endParaRPr lang="en-US" sz="1850" dirty="0"/>
          </a:p>
          <a:p>
            <a:pPr marL="203200" indent="-203200">
              <a:buSzPct val="100000"/>
              <a:buChar char="•"/>
            </a:pPr>
            <a:r>
              <a:rPr lang="en-US" sz="1850" dirty="0">
                <a:solidFill>
                  <a:srgbClr val="17324D"/>
                </a:solidFill>
                <a:latin typeface="Aptos" pitchFamily="34" charset="0"/>
                <a:ea typeface="Aptos" pitchFamily="34" charset="-122"/>
                <a:cs typeface="Aptos" pitchFamily="34" charset="-120"/>
              </a:rPr>
              <a:t>Copy each form field exactly, then adjust local wording if needed.</a:t>
            </a:r>
            <a:endParaRPr lang="en-US" sz="1850" dirty="0"/>
          </a:p>
          <a:p>
            <a:pPr marL="203200" indent="-203200">
              <a:buSzPct val="100000"/>
              <a:buChar char="•"/>
            </a:pPr>
            <a:r>
              <a:rPr lang="en-US" sz="1850" dirty="0">
                <a:solidFill>
                  <a:srgbClr val="17324D"/>
                </a:solidFill>
                <a:latin typeface="Aptos" pitchFamily="34" charset="0"/>
                <a:ea typeface="Aptos" pitchFamily="34" charset="-122"/>
                <a:cs typeface="Aptos" pitchFamily="34" charset="-120"/>
              </a:rPr>
              <a:t>Keep this deck as the operating playbook during the concierge pilot.</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C"/>
          </a:solidFill>
          <a:ln w="12700">
            <a:solidFill>
              <a:srgbClr val="333333">
                <a:alpha val="0"/>
              </a:srgbClr>
            </a:solidFill>
            <a:prstDash val="solid"/>
          </a:ln>
        </p:spPr>
      </p:sp>
      <p:sp>
        <p:nvSpPr>
          <p:cNvPr id="3" name="Shape 1"/>
          <p:cNvSpPr/>
          <p:nvPr/>
        </p:nvSpPr>
        <p:spPr>
          <a:xfrm>
            <a:off x="0" y="0"/>
            <a:ext cx="12191695" cy="292608"/>
          </a:xfrm>
          <a:prstGeom prst="rect">
            <a:avLst/>
          </a:prstGeom>
          <a:solidFill>
            <a:srgbClr val="0E5A7A"/>
          </a:solidFill>
          <a:ln w="12700">
            <a:solidFill>
              <a:srgbClr val="0E5A7A"/>
            </a:solidFill>
            <a:prstDash val="solid"/>
          </a:ln>
        </p:spPr>
      </p:sp>
      <p:sp>
        <p:nvSpPr>
          <p:cNvPr id="4" name="Shape 2"/>
          <p:cNvSpPr/>
          <p:nvPr/>
        </p:nvSpPr>
        <p:spPr>
          <a:xfrm>
            <a:off x="685800" y="1005840"/>
            <a:ext cx="146304" cy="4480560"/>
          </a:xfrm>
          <a:prstGeom prst="rect">
            <a:avLst/>
          </a:prstGeom>
          <a:solidFill>
            <a:srgbClr val="0E5A7A"/>
          </a:solidFill>
          <a:ln w="12700">
            <a:solidFill>
              <a:srgbClr val="0E5A7A"/>
            </a:solidFill>
            <a:prstDash val="solid"/>
          </a:ln>
        </p:spPr>
      </p:sp>
      <p:sp>
        <p:nvSpPr>
          <p:cNvPr id="5" name="Text 3"/>
          <p:cNvSpPr/>
          <p:nvPr/>
        </p:nvSpPr>
        <p:spPr>
          <a:xfrm>
            <a:off x="1005840" y="1170432"/>
            <a:ext cx="9875520" cy="822960"/>
          </a:xfrm>
          <a:prstGeom prst="rect">
            <a:avLst/>
          </a:prstGeom>
          <a:noFill/>
          <a:ln/>
        </p:spPr>
        <p:txBody>
          <a:bodyPr wrap="square" lIns="0" tIns="0" rIns="0" bIns="0" rtlCol="0" anchor="ctr"/>
          <a:lstStyle/>
          <a:p>
            <a:pPr indent="0" marL="0">
              <a:buNone/>
            </a:pPr>
            <a:r>
              <a:rPr lang="en-US" sz="4200" b="1" dirty="0">
                <a:solidFill>
                  <a:srgbClr val="17324D"/>
                </a:solidFill>
                <a:latin typeface="Aptos Display" pitchFamily="34" charset="0"/>
                <a:ea typeface="Aptos Display" pitchFamily="34" charset="-122"/>
                <a:cs typeface="Aptos Display" pitchFamily="34" charset="-120"/>
              </a:rPr>
              <a:t>Section 1</a:t>
            </a:r>
            <a:endParaRPr lang="en-US" sz="4200" dirty="0"/>
          </a:p>
        </p:txBody>
      </p:sp>
      <p:sp>
        <p:nvSpPr>
          <p:cNvPr id="6" name="Text 4"/>
          <p:cNvSpPr/>
          <p:nvPr/>
        </p:nvSpPr>
        <p:spPr>
          <a:xfrm>
            <a:off x="1005840" y="2029968"/>
            <a:ext cx="9692640" cy="502920"/>
          </a:xfrm>
          <a:prstGeom prst="rect">
            <a:avLst/>
          </a:prstGeom>
          <a:noFill/>
          <a:ln/>
        </p:spPr>
        <p:txBody>
          <a:bodyPr wrap="square" lIns="0" tIns="0" rIns="0" bIns="0" rtlCol="0" anchor="ctr"/>
          <a:lstStyle/>
          <a:p>
            <a:pPr indent="0" marL="0">
              <a:buNone/>
            </a:pPr>
            <a:r>
              <a:rPr lang="en-US" sz="2000" dirty="0">
                <a:solidFill>
                  <a:srgbClr val="5A6B7A"/>
                </a:solidFill>
                <a:latin typeface="Aptos" pitchFamily="34" charset="0"/>
                <a:ea typeface="Aptos" pitchFamily="34" charset="-122"/>
                <a:cs typeface="Aptos" pitchFamily="34" charset="-120"/>
              </a:rPr>
              <a:t>Execution Roadmap</a:t>
            </a:r>
            <a:endParaRPr lang="en-US" sz="2000" dirty="0"/>
          </a:p>
        </p:txBody>
      </p:sp>
      <p:sp>
        <p:nvSpPr>
          <p:cNvPr id="7" name="Text 5"/>
          <p:cNvSpPr/>
          <p:nvPr/>
        </p:nvSpPr>
        <p:spPr>
          <a:xfrm>
            <a:off x="1005840" y="2834640"/>
            <a:ext cx="9875520" cy="2194560"/>
          </a:xfrm>
          <a:prstGeom prst="rect">
            <a:avLst/>
          </a:prstGeom>
          <a:noFill/>
          <a:ln/>
        </p:spPr>
        <p:txBody>
          <a:bodyPr wrap="square" lIns="635" tIns="635" rIns="635" bIns="635" rtlCol="0" anchor="ctr"/>
          <a:lstStyle/>
          <a:p>
            <a:pPr marL="228600" indent="-228600">
              <a:buSzPct val="100000"/>
              <a:buChar char="•"/>
            </a:pPr>
            <a:r>
              <a:rPr lang="en-US" sz="2000" dirty="0">
                <a:solidFill>
                  <a:srgbClr val="17324D"/>
                </a:solidFill>
                <a:latin typeface="Aptos" pitchFamily="34" charset="0"/>
                <a:ea typeface="Aptos" pitchFamily="34" charset="-122"/>
                <a:cs typeface="Aptos" pitchFamily="34" charset="-120"/>
              </a:rPr>
              <a:t>90-day sequence</a:t>
            </a:r>
            <a:endParaRPr lang="en-US" sz="2000" dirty="0"/>
          </a:p>
          <a:p>
            <a:pPr marL="228600" indent="-228600">
              <a:buSzPct val="100000"/>
              <a:buChar char="•"/>
            </a:pPr>
            <a:r>
              <a:rPr lang="en-US" sz="2000" dirty="0">
                <a:solidFill>
                  <a:srgbClr val="17324D"/>
                </a:solidFill>
                <a:latin typeface="Aptos" pitchFamily="34" charset="0"/>
                <a:ea typeface="Aptos" pitchFamily="34" charset="-122"/>
                <a:cs typeface="Aptos" pitchFamily="34" charset="-120"/>
              </a:rPr>
              <a:t>Founder alignment</a:t>
            </a:r>
            <a:endParaRPr lang="en-US" sz="2000" dirty="0"/>
          </a:p>
          <a:p>
            <a:pPr marL="228600" indent="-228600">
              <a:buSzPct val="100000"/>
              <a:buChar char="•"/>
            </a:pPr>
            <a:r>
              <a:rPr lang="en-US" sz="2000" dirty="0">
                <a:solidFill>
                  <a:srgbClr val="17324D"/>
                </a:solidFill>
                <a:latin typeface="Aptos" pitchFamily="34" charset="0"/>
                <a:ea typeface="Aptos" pitchFamily="34" charset="-122"/>
                <a:cs typeface="Aptos" pitchFamily="34" charset="-120"/>
              </a:rPr>
              <a:t>Provider-first pilot</a:t>
            </a:r>
            <a:endParaRPr lang="en-US" sz="2000" dirty="0"/>
          </a:p>
          <a:p>
            <a:pPr marL="228600" indent="-228600">
              <a:buSzPct val="100000"/>
              <a:buChar char="•"/>
            </a:pPr>
            <a:r>
              <a:rPr lang="en-US" sz="2000" dirty="0">
                <a:solidFill>
                  <a:srgbClr val="17324D"/>
                </a:solidFill>
                <a:latin typeface="Aptos" pitchFamily="34" charset="0"/>
                <a:ea typeface="Aptos" pitchFamily="34" charset="-122"/>
                <a:cs typeface="Aptos" pitchFamily="34" charset="-120"/>
              </a:rPr>
              <a:t>Manual matching workflow</a:t>
            </a:r>
            <a:endParaRPr lang="en-US" sz="2000" dirty="0"/>
          </a:p>
          <a:p>
            <a:pPr marL="228600" indent="-228600">
              <a:buSzPct val="100000"/>
              <a:buChar char="•"/>
            </a:pPr>
            <a:r>
              <a:rPr lang="en-US" sz="2000" dirty="0">
                <a:solidFill>
                  <a:srgbClr val="17324D"/>
                </a:solidFill>
                <a:latin typeface="Aptos" pitchFamily="34" charset="0"/>
                <a:ea typeface="Aptos" pitchFamily="34" charset="-122"/>
                <a:cs typeface="Aptos" pitchFamily="34" charset="-120"/>
              </a:rPr>
              <a:t>Metrics and go/no-go decision</a:t>
            </a:r>
            <a:endParaRPr lang="en-US" sz="2000" dirty="0"/>
          </a:p>
        </p:txBody>
      </p:sp>
      <p:sp>
        <p:nvSpPr>
          <p:cNvPr id="8" name="Text 6"/>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KAILA</a:t>
            </a:r>
            <a:endParaRPr lang="en-US" sz="850" dirty="0"/>
          </a:p>
        </p:txBody>
      </p:sp>
      <p:sp>
        <p:nvSpPr>
          <p:cNvPr id="9" name="Text 7"/>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Guide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The Main Rule</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KAILA starts as a validation project before it becomes a software project.</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Guide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04</a:t>
            </a:r>
            <a:endParaRPr lang="en-US" sz="850" dirty="0"/>
          </a:p>
        </p:txBody>
      </p:sp>
      <p:sp>
        <p:nvSpPr>
          <p:cNvPr id="8" name="Shape 6"/>
          <p:cNvSpPr/>
          <p:nvPr/>
        </p:nvSpPr>
        <p:spPr>
          <a:xfrm>
            <a:off x="502920" y="1508760"/>
            <a:ext cx="3566160" cy="1234440"/>
          </a:xfrm>
          <a:prstGeom prst="roundRect">
            <a:avLst>
              <a:gd name="adj" fmla="val 5926"/>
            </a:avLst>
          </a:prstGeom>
          <a:solidFill>
            <a:srgbClr val="FFF0F0"/>
          </a:solidFill>
          <a:ln w="12700">
            <a:solidFill>
              <a:srgbClr val="C9D6E2"/>
            </a:solidFill>
            <a:prstDash val="solid"/>
          </a:ln>
        </p:spPr>
      </p:sp>
      <p:sp>
        <p:nvSpPr>
          <p:cNvPr id="9" name="Text 7"/>
          <p:cNvSpPr/>
          <p:nvPr/>
        </p:nvSpPr>
        <p:spPr>
          <a:xfrm>
            <a:off x="66751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B00020"/>
                </a:solidFill>
                <a:latin typeface="Aptos" pitchFamily="34" charset="0"/>
                <a:ea typeface="Aptos" pitchFamily="34" charset="-122"/>
                <a:cs typeface="Aptos" pitchFamily="34" charset="-120"/>
              </a:rPr>
              <a:t>Risky path</a:t>
            </a:r>
            <a:endParaRPr lang="en-US" sz="1600" dirty="0"/>
          </a:p>
        </p:txBody>
      </p:sp>
      <p:sp>
        <p:nvSpPr>
          <p:cNvPr id="10" name="Text 8"/>
          <p:cNvSpPr/>
          <p:nvPr/>
        </p:nvSpPr>
        <p:spPr>
          <a:xfrm>
            <a:off x="66751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Full app → no users → wasted time</a:t>
            </a:r>
            <a:endParaRPr lang="en-US" sz="1450" dirty="0"/>
          </a:p>
        </p:txBody>
      </p:sp>
      <p:sp>
        <p:nvSpPr>
          <p:cNvPr id="11" name="Shape 9"/>
          <p:cNvSpPr/>
          <p:nvPr/>
        </p:nvSpPr>
        <p:spPr>
          <a:xfrm>
            <a:off x="4297680" y="1508760"/>
            <a:ext cx="3566160" cy="1234440"/>
          </a:xfrm>
          <a:prstGeom prst="roundRect">
            <a:avLst>
              <a:gd name="adj" fmla="val 5926"/>
            </a:avLst>
          </a:prstGeom>
          <a:solidFill>
            <a:srgbClr val="EAF7EA"/>
          </a:solidFill>
          <a:ln w="12700">
            <a:solidFill>
              <a:srgbClr val="C9D6E2"/>
            </a:solidFill>
            <a:prstDash val="solid"/>
          </a:ln>
        </p:spPr>
      </p:sp>
      <p:sp>
        <p:nvSpPr>
          <p:cNvPr id="12" name="Text 10"/>
          <p:cNvSpPr/>
          <p:nvPr/>
        </p:nvSpPr>
        <p:spPr>
          <a:xfrm>
            <a:off x="446227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2E7D32"/>
                </a:solidFill>
                <a:latin typeface="Aptos" pitchFamily="34" charset="0"/>
                <a:ea typeface="Aptos" pitchFamily="34" charset="-122"/>
                <a:cs typeface="Aptos" pitchFamily="34" charset="-120"/>
              </a:rPr>
              <a:t>Right path</a:t>
            </a:r>
            <a:endParaRPr lang="en-US" sz="1600" dirty="0"/>
          </a:p>
        </p:txBody>
      </p:sp>
      <p:sp>
        <p:nvSpPr>
          <p:cNvPr id="13" name="Text 11"/>
          <p:cNvSpPr/>
          <p:nvPr/>
        </p:nvSpPr>
        <p:spPr>
          <a:xfrm>
            <a:off x="446227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Manual pilot → evidence → focused MVP</a:t>
            </a:r>
            <a:endParaRPr lang="en-US" sz="1450" dirty="0"/>
          </a:p>
        </p:txBody>
      </p:sp>
      <p:sp>
        <p:nvSpPr>
          <p:cNvPr id="14" name="Shape 12"/>
          <p:cNvSpPr/>
          <p:nvPr/>
        </p:nvSpPr>
        <p:spPr>
          <a:xfrm>
            <a:off x="8092440" y="1508760"/>
            <a:ext cx="3566160" cy="1234440"/>
          </a:xfrm>
          <a:prstGeom prst="roundRect">
            <a:avLst>
              <a:gd name="adj" fmla="val 5926"/>
            </a:avLst>
          </a:prstGeom>
          <a:solidFill>
            <a:srgbClr val="EAF5FA"/>
          </a:solidFill>
          <a:ln w="12700">
            <a:solidFill>
              <a:srgbClr val="C9D6E2"/>
            </a:solidFill>
            <a:prstDash val="solid"/>
          </a:ln>
        </p:spPr>
      </p:sp>
      <p:sp>
        <p:nvSpPr>
          <p:cNvPr id="15" name="Text 13"/>
          <p:cNvSpPr/>
          <p:nvPr/>
        </p:nvSpPr>
        <p:spPr>
          <a:xfrm>
            <a:off x="825703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0E5A7A"/>
                </a:solidFill>
                <a:latin typeface="Aptos" pitchFamily="34" charset="0"/>
                <a:ea typeface="Aptos" pitchFamily="34" charset="-122"/>
                <a:cs typeface="Aptos" pitchFamily="34" charset="-120"/>
              </a:rPr>
              <a:t>First proof needed</a:t>
            </a:r>
            <a:endParaRPr lang="en-US" sz="1600" dirty="0"/>
          </a:p>
        </p:txBody>
      </p:sp>
      <p:sp>
        <p:nvSpPr>
          <p:cNvPr id="16" name="Text 14"/>
          <p:cNvSpPr/>
          <p:nvPr/>
        </p:nvSpPr>
        <p:spPr>
          <a:xfrm>
            <a:off x="825703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Requests, provider offers, completed/strongly matched jobs, ratings, manageable disputes.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Guide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90-Day Starting Roadmap</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A disciplined sequence for turning KAILA into evidence.</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Guide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05</a:t>
            </a:r>
            <a:endParaRPr lang="en-US" sz="850" dirty="0"/>
          </a:p>
        </p:txBody>
      </p:sp>
      <p:sp>
        <p:nvSpPr>
          <p:cNvPr id="8" name="Shape 6"/>
          <p:cNvSpPr/>
          <p:nvPr/>
        </p:nvSpPr>
        <p:spPr>
          <a:xfrm>
            <a:off x="502920" y="1828800"/>
            <a:ext cx="2114093" cy="1234440"/>
          </a:xfrm>
          <a:prstGeom prst="chevron">
            <a:avLst/>
          </a:prstGeom>
          <a:solidFill>
            <a:srgbClr val="EAF5FA"/>
          </a:solidFill>
          <a:ln w="12700">
            <a:solidFill>
              <a:srgbClr val="0E5A7A"/>
            </a:solidFill>
            <a:prstDash val="solid"/>
          </a:ln>
        </p:spPr>
      </p:sp>
      <p:sp>
        <p:nvSpPr>
          <p:cNvPr id="9" name="Text 7"/>
          <p:cNvSpPr/>
          <p:nvPr/>
        </p:nvSpPr>
        <p:spPr>
          <a:xfrm>
            <a:off x="576072" y="2011680"/>
            <a:ext cx="292608" cy="320040"/>
          </a:xfrm>
          <a:prstGeom prst="rect">
            <a:avLst/>
          </a:prstGeom>
          <a:noFill/>
          <a:ln/>
        </p:spPr>
        <p:txBody>
          <a:bodyPr wrap="square" lIns="0" tIns="0" rIns="0" bIns="0" rtlCol="0" anchor="ctr"/>
          <a:lstStyle/>
          <a:p>
            <a:pPr algn="ctr" indent="0" marL="0">
              <a:buNone/>
            </a:pPr>
            <a:r>
              <a:rPr lang="en-US" sz="1800" b="1" dirty="0">
                <a:solidFill>
                  <a:srgbClr val="0E5A7A"/>
                </a:solidFill>
              </a:rPr>
              <a:t>1</a:t>
            </a:r>
            <a:endParaRPr lang="en-US" sz="1800" dirty="0"/>
          </a:p>
        </p:txBody>
      </p:sp>
      <p:sp>
        <p:nvSpPr>
          <p:cNvPr id="10" name="Text 8"/>
          <p:cNvSpPr/>
          <p:nvPr/>
        </p:nvSpPr>
        <p:spPr>
          <a:xfrm>
            <a:off x="886968" y="2029968"/>
            <a:ext cx="1547165" cy="310896"/>
          </a:xfrm>
          <a:prstGeom prst="rect">
            <a:avLst/>
          </a:prstGeom>
          <a:noFill/>
          <a:ln/>
        </p:spPr>
        <p:txBody>
          <a:bodyPr wrap="square" lIns="0" tIns="0" rIns="0" bIns="0" rtlCol="0" anchor="ctr">
            <a:normAutofit/>
          </a:bodyPr>
          <a:lstStyle/>
          <a:p>
            <a:pPr indent="0" marL="0">
              <a:buNone/>
            </a:pPr>
            <a:r>
              <a:rPr lang="en-US" sz="1370" b="1" dirty="0">
                <a:solidFill>
                  <a:srgbClr val="17324D"/>
                </a:solidFill>
              </a:rPr>
              <a:t>Days 1–7</a:t>
            </a:r>
            <a:endParaRPr lang="en-US" sz="1370" dirty="0"/>
          </a:p>
        </p:txBody>
      </p:sp>
      <p:sp>
        <p:nvSpPr>
          <p:cNvPr id="11" name="Text 9"/>
          <p:cNvSpPr/>
          <p:nvPr/>
        </p:nvSpPr>
        <p:spPr>
          <a:xfrm>
            <a:off x="886968" y="2395728"/>
            <a:ext cx="1547165" cy="475488"/>
          </a:xfrm>
          <a:prstGeom prst="rect">
            <a:avLst/>
          </a:prstGeom>
          <a:noFill/>
          <a:ln/>
        </p:spPr>
        <p:txBody>
          <a:bodyPr wrap="square" lIns="0" tIns="0" rIns="0" bIns="0" rtlCol="0" anchor="ctr">
            <a:normAutofit/>
          </a:bodyPr>
          <a:lstStyle/>
          <a:p>
            <a:pPr indent="0" marL="0">
              <a:buNone/>
            </a:pPr>
            <a:r>
              <a:rPr lang="en-US" sz="1180" dirty="0">
                <a:solidFill>
                  <a:srgbClr val="17324D"/>
                </a:solidFill>
              </a:rPr>
              <a:t>Foundation: scope, forms, sheets, scripts</a:t>
            </a:r>
            <a:endParaRPr lang="en-US" sz="1180" dirty="0"/>
          </a:p>
        </p:txBody>
      </p:sp>
      <p:sp>
        <p:nvSpPr>
          <p:cNvPr id="12" name="Shape 10"/>
          <p:cNvSpPr/>
          <p:nvPr/>
        </p:nvSpPr>
        <p:spPr>
          <a:xfrm>
            <a:off x="2763317" y="1828800"/>
            <a:ext cx="2114093" cy="1234440"/>
          </a:xfrm>
          <a:prstGeom prst="chevron">
            <a:avLst/>
          </a:prstGeom>
          <a:solidFill>
            <a:srgbClr val="ECF7ED"/>
          </a:solidFill>
          <a:ln w="12700">
            <a:solidFill>
              <a:srgbClr val="2E7D32"/>
            </a:solidFill>
            <a:prstDash val="solid"/>
          </a:ln>
        </p:spPr>
      </p:sp>
      <p:sp>
        <p:nvSpPr>
          <p:cNvPr id="13" name="Text 11"/>
          <p:cNvSpPr/>
          <p:nvPr/>
        </p:nvSpPr>
        <p:spPr>
          <a:xfrm>
            <a:off x="2836469" y="2011680"/>
            <a:ext cx="292608" cy="320040"/>
          </a:xfrm>
          <a:prstGeom prst="rect">
            <a:avLst/>
          </a:prstGeom>
          <a:noFill/>
          <a:ln/>
        </p:spPr>
        <p:txBody>
          <a:bodyPr wrap="square" lIns="0" tIns="0" rIns="0" bIns="0" rtlCol="0" anchor="ctr"/>
          <a:lstStyle/>
          <a:p>
            <a:pPr algn="ctr" indent="0" marL="0">
              <a:buNone/>
            </a:pPr>
            <a:r>
              <a:rPr lang="en-US" sz="1800" b="1" dirty="0">
                <a:solidFill>
                  <a:srgbClr val="2E7D32"/>
                </a:solidFill>
              </a:rPr>
              <a:t>2</a:t>
            </a:r>
            <a:endParaRPr lang="en-US" sz="1800" dirty="0"/>
          </a:p>
        </p:txBody>
      </p:sp>
      <p:sp>
        <p:nvSpPr>
          <p:cNvPr id="14" name="Text 12"/>
          <p:cNvSpPr/>
          <p:nvPr/>
        </p:nvSpPr>
        <p:spPr>
          <a:xfrm>
            <a:off x="3147365" y="2029968"/>
            <a:ext cx="1547165" cy="310896"/>
          </a:xfrm>
          <a:prstGeom prst="rect">
            <a:avLst/>
          </a:prstGeom>
          <a:noFill/>
          <a:ln/>
        </p:spPr>
        <p:txBody>
          <a:bodyPr wrap="square" lIns="0" tIns="0" rIns="0" bIns="0" rtlCol="0" anchor="ctr">
            <a:normAutofit/>
          </a:bodyPr>
          <a:lstStyle/>
          <a:p>
            <a:pPr indent="0" marL="0">
              <a:buNone/>
            </a:pPr>
            <a:r>
              <a:rPr lang="en-US" sz="1370" b="1" dirty="0">
                <a:solidFill>
                  <a:srgbClr val="17324D"/>
                </a:solidFill>
              </a:rPr>
              <a:t>Days 8–21</a:t>
            </a:r>
            <a:endParaRPr lang="en-US" sz="1370" dirty="0"/>
          </a:p>
        </p:txBody>
      </p:sp>
      <p:sp>
        <p:nvSpPr>
          <p:cNvPr id="15" name="Text 13"/>
          <p:cNvSpPr/>
          <p:nvPr/>
        </p:nvSpPr>
        <p:spPr>
          <a:xfrm>
            <a:off x="3147365" y="2395728"/>
            <a:ext cx="1547165" cy="475488"/>
          </a:xfrm>
          <a:prstGeom prst="rect">
            <a:avLst/>
          </a:prstGeom>
          <a:noFill/>
          <a:ln/>
        </p:spPr>
        <p:txBody>
          <a:bodyPr wrap="square" lIns="0" tIns="0" rIns="0" bIns="0" rtlCol="0" anchor="ctr">
            <a:normAutofit/>
          </a:bodyPr>
          <a:lstStyle/>
          <a:p>
            <a:pPr indent="0" marL="0">
              <a:buNone/>
            </a:pPr>
            <a:r>
              <a:rPr lang="en-US" sz="1180" dirty="0">
                <a:solidFill>
                  <a:srgbClr val="17324D"/>
                </a:solidFill>
              </a:rPr>
              <a:t>Recruit providers and build supply</a:t>
            </a:r>
            <a:endParaRPr lang="en-US" sz="1180" dirty="0"/>
          </a:p>
        </p:txBody>
      </p:sp>
      <p:sp>
        <p:nvSpPr>
          <p:cNvPr id="16" name="Shape 14"/>
          <p:cNvSpPr/>
          <p:nvPr/>
        </p:nvSpPr>
        <p:spPr>
          <a:xfrm>
            <a:off x="5023714" y="1828800"/>
            <a:ext cx="2114093" cy="1234440"/>
          </a:xfrm>
          <a:prstGeom prst="chevron">
            <a:avLst/>
          </a:prstGeom>
          <a:solidFill>
            <a:srgbClr val="EAF5FA"/>
          </a:solidFill>
          <a:ln w="12700">
            <a:solidFill>
              <a:srgbClr val="0E5A7A"/>
            </a:solidFill>
            <a:prstDash val="solid"/>
          </a:ln>
        </p:spPr>
      </p:sp>
      <p:sp>
        <p:nvSpPr>
          <p:cNvPr id="17" name="Text 15"/>
          <p:cNvSpPr/>
          <p:nvPr/>
        </p:nvSpPr>
        <p:spPr>
          <a:xfrm>
            <a:off x="5096866" y="2011680"/>
            <a:ext cx="292608" cy="320040"/>
          </a:xfrm>
          <a:prstGeom prst="rect">
            <a:avLst/>
          </a:prstGeom>
          <a:noFill/>
          <a:ln/>
        </p:spPr>
        <p:txBody>
          <a:bodyPr wrap="square" lIns="0" tIns="0" rIns="0" bIns="0" rtlCol="0" anchor="ctr"/>
          <a:lstStyle/>
          <a:p>
            <a:pPr algn="ctr" indent="0" marL="0">
              <a:buNone/>
            </a:pPr>
            <a:r>
              <a:rPr lang="en-US" sz="1800" b="1" dirty="0">
                <a:solidFill>
                  <a:srgbClr val="0E5A7A"/>
                </a:solidFill>
              </a:rPr>
              <a:t>3</a:t>
            </a:r>
            <a:endParaRPr lang="en-US" sz="1800" dirty="0"/>
          </a:p>
        </p:txBody>
      </p:sp>
      <p:sp>
        <p:nvSpPr>
          <p:cNvPr id="18" name="Text 16"/>
          <p:cNvSpPr/>
          <p:nvPr/>
        </p:nvSpPr>
        <p:spPr>
          <a:xfrm>
            <a:off x="5407762" y="2029968"/>
            <a:ext cx="1547165" cy="310896"/>
          </a:xfrm>
          <a:prstGeom prst="rect">
            <a:avLst/>
          </a:prstGeom>
          <a:noFill/>
          <a:ln/>
        </p:spPr>
        <p:txBody>
          <a:bodyPr wrap="square" lIns="0" tIns="0" rIns="0" bIns="0" rtlCol="0" anchor="ctr">
            <a:normAutofit/>
          </a:bodyPr>
          <a:lstStyle/>
          <a:p>
            <a:pPr indent="0" marL="0">
              <a:buNone/>
            </a:pPr>
            <a:r>
              <a:rPr lang="en-US" sz="1370" b="1" dirty="0">
                <a:solidFill>
                  <a:srgbClr val="17324D"/>
                </a:solidFill>
              </a:rPr>
              <a:t>Days 22–30</a:t>
            </a:r>
            <a:endParaRPr lang="en-US" sz="1370" dirty="0"/>
          </a:p>
        </p:txBody>
      </p:sp>
      <p:sp>
        <p:nvSpPr>
          <p:cNvPr id="19" name="Text 17"/>
          <p:cNvSpPr/>
          <p:nvPr/>
        </p:nvSpPr>
        <p:spPr>
          <a:xfrm>
            <a:off x="5407762" y="2395728"/>
            <a:ext cx="1547165" cy="475488"/>
          </a:xfrm>
          <a:prstGeom prst="rect">
            <a:avLst/>
          </a:prstGeom>
          <a:noFill/>
          <a:ln/>
        </p:spPr>
        <p:txBody>
          <a:bodyPr wrap="square" lIns="0" tIns="0" rIns="0" bIns="0" rtlCol="0" anchor="ctr">
            <a:normAutofit/>
          </a:bodyPr>
          <a:lstStyle/>
          <a:p>
            <a:pPr indent="0" marL="0">
              <a:buNone/>
            </a:pPr>
            <a:r>
              <a:rPr lang="en-US" sz="1180" dirty="0">
                <a:solidFill>
                  <a:srgbClr val="17324D"/>
                </a:solidFill>
              </a:rPr>
              <a:t>Validate client demand</a:t>
            </a:r>
            <a:endParaRPr lang="en-US" sz="1180" dirty="0"/>
          </a:p>
        </p:txBody>
      </p:sp>
      <p:sp>
        <p:nvSpPr>
          <p:cNvPr id="20" name="Shape 18"/>
          <p:cNvSpPr/>
          <p:nvPr/>
        </p:nvSpPr>
        <p:spPr>
          <a:xfrm>
            <a:off x="7284110" y="1828800"/>
            <a:ext cx="2114093" cy="1234440"/>
          </a:xfrm>
          <a:prstGeom prst="chevron">
            <a:avLst/>
          </a:prstGeom>
          <a:solidFill>
            <a:srgbClr val="ECF7ED"/>
          </a:solidFill>
          <a:ln w="12700">
            <a:solidFill>
              <a:srgbClr val="2E7D32"/>
            </a:solidFill>
            <a:prstDash val="solid"/>
          </a:ln>
        </p:spPr>
      </p:sp>
      <p:sp>
        <p:nvSpPr>
          <p:cNvPr id="21" name="Text 19"/>
          <p:cNvSpPr/>
          <p:nvPr/>
        </p:nvSpPr>
        <p:spPr>
          <a:xfrm>
            <a:off x="7357262" y="2011680"/>
            <a:ext cx="292608" cy="320040"/>
          </a:xfrm>
          <a:prstGeom prst="rect">
            <a:avLst/>
          </a:prstGeom>
          <a:noFill/>
          <a:ln/>
        </p:spPr>
        <p:txBody>
          <a:bodyPr wrap="square" lIns="0" tIns="0" rIns="0" bIns="0" rtlCol="0" anchor="ctr"/>
          <a:lstStyle/>
          <a:p>
            <a:pPr algn="ctr" indent="0" marL="0">
              <a:buNone/>
            </a:pPr>
            <a:r>
              <a:rPr lang="en-US" sz="1800" b="1" dirty="0">
                <a:solidFill>
                  <a:srgbClr val="2E7D32"/>
                </a:solidFill>
              </a:rPr>
              <a:t>4</a:t>
            </a:r>
            <a:endParaRPr lang="en-US" sz="1800" dirty="0"/>
          </a:p>
        </p:txBody>
      </p:sp>
      <p:sp>
        <p:nvSpPr>
          <p:cNvPr id="22" name="Text 20"/>
          <p:cNvSpPr/>
          <p:nvPr/>
        </p:nvSpPr>
        <p:spPr>
          <a:xfrm>
            <a:off x="7668158" y="2029968"/>
            <a:ext cx="1547165" cy="310896"/>
          </a:xfrm>
          <a:prstGeom prst="rect">
            <a:avLst/>
          </a:prstGeom>
          <a:noFill/>
          <a:ln/>
        </p:spPr>
        <p:txBody>
          <a:bodyPr wrap="square" lIns="0" tIns="0" rIns="0" bIns="0" rtlCol="0" anchor="ctr">
            <a:normAutofit/>
          </a:bodyPr>
          <a:lstStyle/>
          <a:p>
            <a:pPr indent="0" marL="0">
              <a:buNone/>
            </a:pPr>
            <a:r>
              <a:rPr lang="en-US" sz="1370" b="1" dirty="0">
                <a:solidFill>
                  <a:srgbClr val="17324D"/>
                </a:solidFill>
              </a:rPr>
              <a:t>Days 31–75</a:t>
            </a:r>
            <a:endParaRPr lang="en-US" sz="1370" dirty="0"/>
          </a:p>
        </p:txBody>
      </p:sp>
      <p:sp>
        <p:nvSpPr>
          <p:cNvPr id="23" name="Text 21"/>
          <p:cNvSpPr/>
          <p:nvPr/>
        </p:nvSpPr>
        <p:spPr>
          <a:xfrm>
            <a:off x="7668158" y="2395728"/>
            <a:ext cx="1547165" cy="475488"/>
          </a:xfrm>
          <a:prstGeom prst="rect">
            <a:avLst/>
          </a:prstGeom>
          <a:noFill/>
          <a:ln/>
        </p:spPr>
        <p:txBody>
          <a:bodyPr wrap="square" lIns="0" tIns="0" rIns="0" bIns="0" rtlCol="0" anchor="ctr">
            <a:normAutofit/>
          </a:bodyPr>
          <a:lstStyle/>
          <a:p>
            <a:pPr indent="0" marL="0">
              <a:buNone/>
            </a:pPr>
            <a:r>
              <a:rPr lang="en-US" sz="1180" dirty="0">
                <a:solidFill>
                  <a:srgbClr val="17324D"/>
                </a:solidFill>
              </a:rPr>
              <a:t>Run concierge pilot</a:t>
            </a:r>
            <a:endParaRPr lang="en-US" sz="1180" dirty="0"/>
          </a:p>
        </p:txBody>
      </p:sp>
      <p:sp>
        <p:nvSpPr>
          <p:cNvPr id="24" name="Shape 22"/>
          <p:cNvSpPr/>
          <p:nvPr/>
        </p:nvSpPr>
        <p:spPr>
          <a:xfrm>
            <a:off x="9544507" y="1828800"/>
            <a:ext cx="2114093" cy="1234440"/>
          </a:xfrm>
          <a:prstGeom prst="chevron">
            <a:avLst/>
          </a:prstGeom>
          <a:solidFill>
            <a:srgbClr val="EAF5FA"/>
          </a:solidFill>
          <a:ln w="12700">
            <a:solidFill>
              <a:srgbClr val="0E5A7A"/>
            </a:solidFill>
            <a:prstDash val="solid"/>
          </a:ln>
        </p:spPr>
      </p:sp>
      <p:sp>
        <p:nvSpPr>
          <p:cNvPr id="25" name="Text 23"/>
          <p:cNvSpPr/>
          <p:nvPr/>
        </p:nvSpPr>
        <p:spPr>
          <a:xfrm>
            <a:off x="9617659" y="2011680"/>
            <a:ext cx="292608" cy="320040"/>
          </a:xfrm>
          <a:prstGeom prst="rect">
            <a:avLst/>
          </a:prstGeom>
          <a:noFill/>
          <a:ln/>
        </p:spPr>
        <p:txBody>
          <a:bodyPr wrap="square" lIns="0" tIns="0" rIns="0" bIns="0" rtlCol="0" anchor="ctr"/>
          <a:lstStyle/>
          <a:p>
            <a:pPr algn="ctr" indent="0" marL="0">
              <a:buNone/>
            </a:pPr>
            <a:r>
              <a:rPr lang="en-US" sz="1800" b="1" dirty="0">
                <a:solidFill>
                  <a:srgbClr val="0E5A7A"/>
                </a:solidFill>
              </a:rPr>
              <a:t>5</a:t>
            </a:r>
            <a:endParaRPr lang="en-US" sz="1800" dirty="0"/>
          </a:p>
        </p:txBody>
      </p:sp>
      <p:sp>
        <p:nvSpPr>
          <p:cNvPr id="26" name="Text 24"/>
          <p:cNvSpPr/>
          <p:nvPr/>
        </p:nvSpPr>
        <p:spPr>
          <a:xfrm>
            <a:off x="9928555" y="2029968"/>
            <a:ext cx="1547165" cy="310896"/>
          </a:xfrm>
          <a:prstGeom prst="rect">
            <a:avLst/>
          </a:prstGeom>
          <a:noFill/>
          <a:ln/>
        </p:spPr>
        <p:txBody>
          <a:bodyPr wrap="square" lIns="0" tIns="0" rIns="0" bIns="0" rtlCol="0" anchor="ctr">
            <a:normAutofit/>
          </a:bodyPr>
          <a:lstStyle/>
          <a:p>
            <a:pPr indent="0" marL="0">
              <a:buNone/>
            </a:pPr>
            <a:r>
              <a:rPr lang="en-US" sz="1370" b="1" dirty="0">
                <a:solidFill>
                  <a:srgbClr val="17324D"/>
                </a:solidFill>
              </a:rPr>
              <a:t>Days 76–90</a:t>
            </a:r>
            <a:endParaRPr lang="en-US" sz="1370" dirty="0"/>
          </a:p>
        </p:txBody>
      </p:sp>
      <p:sp>
        <p:nvSpPr>
          <p:cNvPr id="27" name="Text 25"/>
          <p:cNvSpPr/>
          <p:nvPr/>
        </p:nvSpPr>
        <p:spPr>
          <a:xfrm>
            <a:off x="9928555" y="2395728"/>
            <a:ext cx="1547165" cy="475488"/>
          </a:xfrm>
          <a:prstGeom prst="rect">
            <a:avLst/>
          </a:prstGeom>
          <a:noFill/>
          <a:ln/>
        </p:spPr>
        <p:txBody>
          <a:bodyPr wrap="square" lIns="0" tIns="0" rIns="0" bIns="0" rtlCol="0" anchor="ctr">
            <a:normAutofit/>
          </a:bodyPr>
          <a:lstStyle/>
          <a:p>
            <a:pPr indent="0" marL="0">
              <a:buNone/>
            </a:pPr>
            <a:r>
              <a:rPr lang="en-US" sz="1180" dirty="0">
                <a:solidFill>
                  <a:srgbClr val="17324D"/>
                </a:solidFill>
              </a:rPr>
              <a:t>Review and decide</a:t>
            </a:r>
            <a:endParaRPr lang="en-US" sz="1180" dirty="0"/>
          </a:p>
        </p:txBody>
      </p:sp>
      <p:sp>
        <p:nvSpPr>
          <p:cNvPr id="28" name="Text 26"/>
          <p:cNvSpPr/>
          <p:nvPr/>
        </p:nvSpPr>
        <p:spPr>
          <a:xfrm>
            <a:off x="502920" y="3886200"/>
            <a:ext cx="11155680" cy="822960"/>
          </a:xfrm>
          <a:prstGeom prst="rect">
            <a:avLst/>
          </a:prstGeom>
          <a:noFill/>
          <a:ln/>
        </p:spPr>
        <p:txBody>
          <a:bodyPr wrap="square" lIns="635" tIns="635" rIns="635" bIns="635" rtlCol="0" anchor="ctr">
            <a:normAutofit/>
          </a:bodyPr>
          <a:lstStyle/>
          <a:p>
            <a:pPr indent="0" marL="0">
              <a:buNone/>
            </a:pPr>
            <a:r>
              <a:rPr lang="en-US" sz="2200" b="1" dirty="0">
                <a:solidFill>
                  <a:srgbClr val="17324D"/>
                </a:solidFill>
              </a:rPr>
              <a:t>Record every step: request time, providers contacted, response time, offers, selected provider, agreed amount, completion, ratings, and issues.</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Checklist</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Phase 0: Founder Alignment</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Agree on the operating philosophy before asking anyone to join.</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Checklist</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06</a:t>
            </a:r>
            <a:endParaRPr lang="en-US" sz="850" dirty="0"/>
          </a:p>
        </p:txBody>
      </p:sp>
      <p:sp>
        <p:nvSpPr>
          <p:cNvPr id="8" name="Text 6"/>
          <p:cNvSpPr/>
          <p:nvPr/>
        </p:nvSpPr>
        <p:spPr>
          <a:xfrm>
            <a:off x="502920" y="1508760"/>
            <a:ext cx="5417820" cy="4754880"/>
          </a:xfrm>
          <a:prstGeom prst="rect">
            <a:avLst/>
          </a:prstGeom>
          <a:noFill/>
          <a:ln/>
        </p:spPr>
        <p:txBody>
          <a:bodyPr wrap="square" lIns="1270" tIns="1270" rIns="1270" bIns="1270" rtlCol="0" anchor="ctr">
            <a:normAutofit/>
          </a:bodyPr>
          <a:lstStyle/>
          <a:p>
            <a:pPr indent="0" marL="0">
              <a:buNone/>
            </a:pPr>
            <a:r>
              <a:rPr lang="en-US" sz="1750" dirty="0">
                <a:solidFill>
                  <a:srgbClr val="17324D"/>
                </a:solidFill>
                <a:latin typeface="Aptos" pitchFamily="34" charset="0"/>
                <a:ea typeface="Aptos" pitchFamily="34" charset="-122"/>
                <a:cs typeface="Aptos" pitchFamily="34" charset="-120"/>
              </a:rPr>
              <a:t>☐ Write: KAILA is validation first, software second.</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Agree that the first version is manual, free, local, and provider-first.</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Define KAILA as a local trust and service-matching system, not just an app.</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Name the first pilot owner and backup owner.</a:t>
            </a:r>
            <a:endParaRPr lang="en-US" sz="1750" dirty="0"/>
          </a:p>
        </p:txBody>
      </p:sp>
      <p:sp>
        <p:nvSpPr>
          <p:cNvPr id="9" name="Text 7"/>
          <p:cNvSpPr/>
          <p:nvPr/>
        </p:nvSpPr>
        <p:spPr>
          <a:xfrm>
            <a:off x="6240780" y="1508760"/>
            <a:ext cx="5417820" cy="4754880"/>
          </a:xfrm>
          <a:prstGeom prst="rect">
            <a:avLst/>
          </a:prstGeom>
          <a:noFill/>
          <a:ln/>
        </p:spPr>
        <p:txBody>
          <a:bodyPr wrap="square" lIns="1270" tIns="1270" rIns="1270" bIns="1270" rtlCol="0" anchor="ctr">
            <a:normAutofit/>
          </a:bodyPr>
          <a:lstStyle/>
          <a:p>
            <a:pPr indent="0" marL="0">
              <a:buNone/>
            </a:pPr>
            <a:r>
              <a:rPr lang="en-US" sz="1750" dirty="0">
                <a:solidFill>
                  <a:srgbClr val="17324D"/>
                </a:solidFill>
                <a:latin typeface="Aptos" pitchFamily="34" charset="0"/>
                <a:ea typeface="Aptos" pitchFamily="34" charset="-122"/>
                <a:cs typeface="Aptos" pitchFamily="34" charset="-120"/>
              </a:rPr>
              <a:t>☐ List founder roles even if one person handles several roles.</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Create a simple decision log for major choices.</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Agree that provider trust levels will be used from the start.</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Agree not to monetize until usage and trust are proven.</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Guide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Phase 1: Define the First Pilot</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Keep the first version narrow enough to operate and measure.</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Guide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07</a:t>
            </a:r>
            <a:endParaRPr lang="en-US" sz="850" dirty="0"/>
          </a:p>
        </p:txBody>
      </p:sp>
      <p:sp>
        <p:nvSpPr>
          <p:cNvPr id="8" name="Text 6"/>
          <p:cNvSpPr/>
          <p:nvPr/>
        </p:nvSpPr>
        <p:spPr>
          <a:xfrm>
            <a:off x="502920" y="1380744"/>
            <a:ext cx="201168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2715768" y="1380744"/>
            <a:ext cx="894283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2011680" cy="640080"/>
          </a:xfrm>
          <a:prstGeom prst="rect">
            <a:avLst/>
          </a:prstGeom>
          <a:noFill/>
          <a:ln/>
        </p:spPr>
        <p:txBody>
          <a:bodyPr wrap="square" lIns="0" tIns="0" rIns="0" bIns="0" rtlCol="0" anchor="ctr">
            <a:normAutofit/>
          </a:bodyPr>
          <a:lstStyle/>
          <a:p>
            <a:pPr indent="0" marL="0">
              <a:buNone/>
            </a:pPr>
            <a:r>
              <a:rPr lang="en-US" sz="1650" b="1" dirty="0">
                <a:solidFill>
                  <a:srgbClr val="17324D"/>
                </a:solidFill>
                <a:latin typeface="Aptos" pitchFamily="34" charset="0"/>
                <a:ea typeface="Aptos" pitchFamily="34" charset="-122"/>
                <a:cs typeface="Aptos" pitchFamily="34" charset="-120"/>
              </a:rPr>
              <a:t>Pilot area</a:t>
            </a:r>
            <a:endParaRPr lang="en-US" sz="1650" dirty="0"/>
          </a:p>
        </p:txBody>
      </p:sp>
      <p:sp>
        <p:nvSpPr>
          <p:cNvPr id="11" name="Text 9"/>
          <p:cNvSpPr/>
          <p:nvPr/>
        </p:nvSpPr>
        <p:spPr>
          <a:xfrm>
            <a:off x="2715768" y="1700784"/>
            <a:ext cx="8942832" cy="640080"/>
          </a:xfrm>
          <a:prstGeom prst="rect">
            <a:avLst/>
          </a:prstGeom>
          <a:noFill/>
          <a:ln/>
        </p:spPr>
        <p:txBody>
          <a:bodyPr wrap="square" lIns="0" tIns="0" rIns="0" bIns="0" rtlCol="0" anchor="ctr">
            <a:normAutofit/>
          </a:bodyPr>
          <a:lstStyle/>
          <a:p>
            <a:pPr indent="0" marL="0">
              <a:buNone/>
            </a:pPr>
            <a:r>
              <a:rPr lang="en-US" sz="1650" dirty="0">
                <a:solidFill>
                  <a:srgbClr val="17324D"/>
                </a:solidFill>
                <a:latin typeface="Aptos" pitchFamily="34" charset="0"/>
                <a:ea typeface="Aptos" pitchFamily="34" charset="-122"/>
                <a:cs typeface="Aptos" pitchFamily="34" charset="-120"/>
              </a:rPr>
              <a:t>Gingoog City or selected barangay cluster. List exact barangays before launch.</a:t>
            </a:r>
            <a:endParaRPr lang="en-US" sz="1650" dirty="0"/>
          </a:p>
        </p:txBody>
      </p:sp>
      <p:sp>
        <p:nvSpPr>
          <p:cNvPr id="12" name="Shape 10"/>
          <p:cNvSpPr/>
          <p:nvPr/>
        </p:nvSpPr>
        <p:spPr>
          <a:xfrm>
            <a:off x="502920" y="2359152"/>
            <a:ext cx="11155680" cy="0"/>
          </a:xfrm>
          <a:prstGeom prst="line">
            <a:avLst/>
          </a:prstGeom>
          <a:noFill/>
          <a:ln w="5080">
            <a:solidFill>
              <a:srgbClr val="C9D6E2">
                <a:alpha val="60000"/>
              </a:srgbClr>
            </a:solidFill>
            <a:prstDash val="solid"/>
          </a:ln>
        </p:spPr>
      </p:sp>
      <p:sp>
        <p:nvSpPr>
          <p:cNvPr id="13" name="Text 11"/>
          <p:cNvSpPr/>
          <p:nvPr/>
        </p:nvSpPr>
        <p:spPr>
          <a:xfrm>
            <a:off x="502920" y="2414016"/>
            <a:ext cx="2011680" cy="640080"/>
          </a:xfrm>
          <a:prstGeom prst="rect">
            <a:avLst/>
          </a:prstGeom>
          <a:noFill/>
          <a:ln/>
        </p:spPr>
        <p:txBody>
          <a:bodyPr wrap="square" lIns="0" tIns="0" rIns="0" bIns="0" rtlCol="0" anchor="ctr">
            <a:normAutofit/>
          </a:bodyPr>
          <a:lstStyle/>
          <a:p>
            <a:pPr indent="0" marL="0">
              <a:buNone/>
            </a:pPr>
            <a:r>
              <a:rPr lang="en-US" sz="1650" b="1" dirty="0">
                <a:solidFill>
                  <a:srgbClr val="17324D"/>
                </a:solidFill>
                <a:latin typeface="Aptos" pitchFamily="34" charset="0"/>
                <a:ea typeface="Aptos" pitchFamily="34" charset="-122"/>
                <a:cs typeface="Aptos" pitchFamily="34" charset="-120"/>
              </a:rPr>
              <a:t>Clients</a:t>
            </a:r>
            <a:endParaRPr lang="en-US" sz="1650" dirty="0"/>
          </a:p>
        </p:txBody>
      </p:sp>
      <p:sp>
        <p:nvSpPr>
          <p:cNvPr id="14" name="Text 12"/>
          <p:cNvSpPr/>
          <p:nvPr/>
        </p:nvSpPr>
        <p:spPr>
          <a:xfrm>
            <a:off x="2715768" y="2414016"/>
            <a:ext cx="8942832" cy="640080"/>
          </a:xfrm>
          <a:prstGeom prst="rect">
            <a:avLst/>
          </a:prstGeom>
          <a:noFill/>
          <a:ln/>
        </p:spPr>
        <p:txBody>
          <a:bodyPr wrap="square" lIns="0" tIns="0" rIns="0" bIns="0" rtlCol="0" anchor="ctr">
            <a:normAutofit/>
          </a:bodyPr>
          <a:lstStyle/>
          <a:p>
            <a:pPr indent="0" marL="0">
              <a:buNone/>
            </a:pPr>
            <a:r>
              <a:rPr lang="en-US" sz="1650" dirty="0">
                <a:solidFill>
                  <a:srgbClr val="17324D"/>
                </a:solidFill>
                <a:latin typeface="Aptos" pitchFamily="34" charset="0"/>
                <a:ea typeface="Aptos" pitchFamily="34" charset="-122"/>
                <a:cs typeface="Aptos" pitchFamily="34" charset="-120"/>
              </a:rPr>
              <a:t>Households, renters, homeowners, students, small businesses, offices, and local shops.</a:t>
            </a:r>
            <a:endParaRPr lang="en-US" sz="1650" dirty="0"/>
          </a:p>
        </p:txBody>
      </p:sp>
      <p:sp>
        <p:nvSpPr>
          <p:cNvPr id="15" name="Shape 13"/>
          <p:cNvSpPr/>
          <p:nvPr/>
        </p:nvSpPr>
        <p:spPr>
          <a:xfrm>
            <a:off x="502920" y="3072384"/>
            <a:ext cx="11155680" cy="0"/>
          </a:xfrm>
          <a:prstGeom prst="line">
            <a:avLst/>
          </a:prstGeom>
          <a:noFill/>
          <a:ln w="5080">
            <a:solidFill>
              <a:srgbClr val="C9D6E2">
                <a:alpha val="60000"/>
              </a:srgbClr>
            </a:solidFill>
            <a:prstDash val="solid"/>
          </a:ln>
        </p:spPr>
      </p:sp>
      <p:sp>
        <p:nvSpPr>
          <p:cNvPr id="16" name="Text 14"/>
          <p:cNvSpPr/>
          <p:nvPr/>
        </p:nvSpPr>
        <p:spPr>
          <a:xfrm>
            <a:off x="502920" y="3127248"/>
            <a:ext cx="2011680" cy="640080"/>
          </a:xfrm>
          <a:prstGeom prst="rect">
            <a:avLst/>
          </a:prstGeom>
          <a:noFill/>
          <a:ln/>
        </p:spPr>
        <p:txBody>
          <a:bodyPr wrap="square" lIns="0" tIns="0" rIns="0" bIns="0" rtlCol="0" anchor="ctr">
            <a:normAutofit/>
          </a:bodyPr>
          <a:lstStyle/>
          <a:p>
            <a:pPr indent="0" marL="0">
              <a:buNone/>
            </a:pPr>
            <a:r>
              <a:rPr lang="en-US" sz="1650" b="1" dirty="0">
                <a:solidFill>
                  <a:srgbClr val="17324D"/>
                </a:solidFill>
                <a:latin typeface="Aptos" pitchFamily="34" charset="0"/>
                <a:ea typeface="Aptos" pitchFamily="34" charset="-122"/>
                <a:cs typeface="Aptos" pitchFamily="34" charset="-120"/>
              </a:rPr>
              <a:t>Providers</a:t>
            </a:r>
            <a:endParaRPr lang="en-US" sz="1650" dirty="0"/>
          </a:p>
        </p:txBody>
      </p:sp>
      <p:sp>
        <p:nvSpPr>
          <p:cNvPr id="17" name="Text 15"/>
          <p:cNvSpPr/>
          <p:nvPr/>
        </p:nvSpPr>
        <p:spPr>
          <a:xfrm>
            <a:off x="2715768" y="3127248"/>
            <a:ext cx="8942832" cy="640080"/>
          </a:xfrm>
          <a:prstGeom prst="rect">
            <a:avLst/>
          </a:prstGeom>
          <a:noFill/>
          <a:ln/>
        </p:spPr>
        <p:txBody>
          <a:bodyPr wrap="square" lIns="0" tIns="0" rIns="0" bIns="0" rtlCol="0" anchor="ctr">
            <a:normAutofit/>
          </a:bodyPr>
          <a:lstStyle/>
          <a:p>
            <a:pPr indent="0" marL="0">
              <a:buNone/>
            </a:pPr>
            <a:r>
              <a:rPr lang="en-US" sz="1650" dirty="0">
                <a:solidFill>
                  <a:srgbClr val="17324D"/>
                </a:solidFill>
                <a:latin typeface="Aptos" pitchFamily="34" charset="0"/>
                <a:ea typeface="Aptos" pitchFamily="34" charset="-122"/>
                <a:cs typeface="Aptos" pitchFamily="34" charset="-120"/>
              </a:rPr>
              <a:t>Skilled workers, repair technicians, freelancers, small shops, experienced workers, certified providers if available.</a:t>
            </a:r>
            <a:endParaRPr lang="en-US" sz="1650" dirty="0"/>
          </a:p>
        </p:txBody>
      </p:sp>
      <p:sp>
        <p:nvSpPr>
          <p:cNvPr id="18" name="Shape 16"/>
          <p:cNvSpPr/>
          <p:nvPr/>
        </p:nvSpPr>
        <p:spPr>
          <a:xfrm>
            <a:off x="502920" y="3785616"/>
            <a:ext cx="11155680" cy="0"/>
          </a:xfrm>
          <a:prstGeom prst="line">
            <a:avLst/>
          </a:prstGeom>
          <a:noFill/>
          <a:ln w="5080">
            <a:solidFill>
              <a:srgbClr val="C9D6E2">
                <a:alpha val="60000"/>
              </a:srgbClr>
            </a:solidFill>
            <a:prstDash val="solid"/>
          </a:ln>
        </p:spPr>
      </p:sp>
      <p:sp>
        <p:nvSpPr>
          <p:cNvPr id="19" name="Text 17"/>
          <p:cNvSpPr/>
          <p:nvPr/>
        </p:nvSpPr>
        <p:spPr>
          <a:xfrm>
            <a:off x="502920" y="3840480"/>
            <a:ext cx="2011680" cy="640080"/>
          </a:xfrm>
          <a:prstGeom prst="rect">
            <a:avLst/>
          </a:prstGeom>
          <a:noFill/>
          <a:ln/>
        </p:spPr>
        <p:txBody>
          <a:bodyPr wrap="square" lIns="0" tIns="0" rIns="0" bIns="0" rtlCol="0" anchor="ctr">
            <a:normAutofit/>
          </a:bodyPr>
          <a:lstStyle/>
          <a:p>
            <a:pPr indent="0" marL="0">
              <a:buNone/>
            </a:pPr>
            <a:r>
              <a:rPr lang="en-US" sz="1650" b="1" dirty="0">
                <a:solidFill>
                  <a:srgbClr val="17324D"/>
                </a:solidFill>
                <a:latin typeface="Aptos" pitchFamily="34" charset="0"/>
                <a:ea typeface="Aptos" pitchFamily="34" charset="-122"/>
                <a:cs typeface="Aptos" pitchFamily="34" charset="-120"/>
              </a:rPr>
              <a:t>Duration</a:t>
            </a:r>
            <a:endParaRPr lang="en-US" sz="1650" dirty="0"/>
          </a:p>
        </p:txBody>
      </p:sp>
      <p:sp>
        <p:nvSpPr>
          <p:cNvPr id="20" name="Text 18"/>
          <p:cNvSpPr/>
          <p:nvPr/>
        </p:nvSpPr>
        <p:spPr>
          <a:xfrm>
            <a:off x="2715768" y="3840480"/>
            <a:ext cx="8942832" cy="640080"/>
          </a:xfrm>
          <a:prstGeom prst="rect">
            <a:avLst/>
          </a:prstGeom>
          <a:noFill/>
          <a:ln/>
        </p:spPr>
        <p:txBody>
          <a:bodyPr wrap="square" lIns="0" tIns="0" rIns="0" bIns="0" rtlCol="0" anchor="ctr">
            <a:normAutofit/>
          </a:bodyPr>
          <a:lstStyle/>
          <a:p>
            <a:pPr indent="0" marL="0">
              <a:buNone/>
            </a:pPr>
            <a:r>
              <a:rPr lang="en-US" sz="1650" dirty="0">
                <a:solidFill>
                  <a:srgbClr val="17324D"/>
                </a:solidFill>
                <a:latin typeface="Aptos" pitchFamily="34" charset="0"/>
                <a:ea typeface="Aptos" pitchFamily="34" charset="-122"/>
                <a:cs typeface="Aptos" pitchFamily="34" charset="-120"/>
              </a:rPr>
              <a:t>30–45 active matching days, plus preparation and review days.</a:t>
            </a:r>
            <a:endParaRPr lang="en-US" sz="1650" dirty="0"/>
          </a:p>
        </p:txBody>
      </p:sp>
      <p:sp>
        <p:nvSpPr>
          <p:cNvPr id="21" name="Shape 19"/>
          <p:cNvSpPr/>
          <p:nvPr/>
        </p:nvSpPr>
        <p:spPr>
          <a:xfrm>
            <a:off x="502920" y="4498848"/>
            <a:ext cx="11155680" cy="0"/>
          </a:xfrm>
          <a:prstGeom prst="line">
            <a:avLst/>
          </a:prstGeom>
          <a:noFill/>
          <a:ln w="5080">
            <a:solidFill>
              <a:srgbClr val="C9D6E2">
                <a:alpha val="60000"/>
              </a:srgbClr>
            </a:solidFill>
            <a:prstDash val="solid"/>
          </a:ln>
        </p:spPr>
      </p:sp>
      <p:sp>
        <p:nvSpPr>
          <p:cNvPr id="22" name="Text 20"/>
          <p:cNvSpPr/>
          <p:nvPr/>
        </p:nvSpPr>
        <p:spPr>
          <a:xfrm>
            <a:off x="502920" y="4553712"/>
            <a:ext cx="2011680" cy="640080"/>
          </a:xfrm>
          <a:prstGeom prst="rect">
            <a:avLst/>
          </a:prstGeom>
          <a:noFill/>
          <a:ln/>
        </p:spPr>
        <p:txBody>
          <a:bodyPr wrap="square" lIns="0" tIns="0" rIns="0" bIns="0" rtlCol="0" anchor="ctr">
            <a:normAutofit/>
          </a:bodyPr>
          <a:lstStyle/>
          <a:p>
            <a:pPr indent="0" marL="0">
              <a:buNone/>
            </a:pPr>
            <a:r>
              <a:rPr lang="en-US" sz="1650" b="1" dirty="0">
                <a:solidFill>
                  <a:srgbClr val="17324D"/>
                </a:solidFill>
                <a:latin typeface="Aptos" pitchFamily="34" charset="0"/>
                <a:ea typeface="Aptos" pitchFamily="34" charset="-122"/>
                <a:cs typeface="Aptos" pitchFamily="34" charset="-120"/>
              </a:rPr>
              <a:t>Pricing</a:t>
            </a:r>
            <a:endParaRPr lang="en-US" sz="1650" dirty="0"/>
          </a:p>
        </p:txBody>
      </p:sp>
      <p:sp>
        <p:nvSpPr>
          <p:cNvPr id="23" name="Text 21"/>
          <p:cNvSpPr/>
          <p:nvPr/>
        </p:nvSpPr>
        <p:spPr>
          <a:xfrm>
            <a:off x="2715768" y="4553712"/>
            <a:ext cx="8942832" cy="640080"/>
          </a:xfrm>
          <a:prstGeom prst="rect">
            <a:avLst/>
          </a:prstGeom>
          <a:noFill/>
          <a:ln/>
        </p:spPr>
        <p:txBody>
          <a:bodyPr wrap="square" lIns="0" tIns="0" rIns="0" bIns="0" rtlCol="0" anchor="ctr">
            <a:normAutofit/>
          </a:bodyPr>
          <a:lstStyle/>
          <a:p>
            <a:pPr indent="0" marL="0">
              <a:buNone/>
            </a:pPr>
            <a:r>
              <a:rPr lang="en-US" sz="1650" dirty="0">
                <a:solidFill>
                  <a:srgbClr val="17324D"/>
                </a:solidFill>
                <a:latin typeface="Aptos" pitchFamily="34" charset="0"/>
                <a:ea typeface="Aptos" pitchFamily="34" charset="-122"/>
                <a:cs typeface="Aptos" pitchFamily="34" charset="-120"/>
              </a:rPr>
              <a:t>Free for clients and providers during validation. No commission or subscription yet.</a:t>
            </a:r>
            <a:endParaRPr lang="en-US" sz="1650" dirty="0"/>
          </a:p>
        </p:txBody>
      </p:sp>
      <p:sp>
        <p:nvSpPr>
          <p:cNvPr id="24" name="Shape 22"/>
          <p:cNvSpPr/>
          <p:nvPr/>
        </p:nvSpPr>
        <p:spPr>
          <a:xfrm>
            <a:off x="502920" y="5212080"/>
            <a:ext cx="11155680" cy="0"/>
          </a:xfrm>
          <a:prstGeom prst="line">
            <a:avLst/>
          </a:prstGeom>
          <a:noFill/>
          <a:ln w="5080">
            <a:solidFill>
              <a:srgbClr val="C9D6E2">
                <a:alpha val="60000"/>
              </a:srgbClr>
            </a:solidFill>
            <a:prstDash val="solid"/>
          </a:ln>
        </p:spPr>
      </p:sp>
      <p:sp>
        <p:nvSpPr>
          <p:cNvPr id="25" name="Text 23"/>
          <p:cNvSpPr/>
          <p:nvPr/>
        </p:nvSpPr>
        <p:spPr>
          <a:xfrm>
            <a:off x="502920" y="5266944"/>
            <a:ext cx="2011680" cy="640080"/>
          </a:xfrm>
          <a:prstGeom prst="rect">
            <a:avLst/>
          </a:prstGeom>
          <a:noFill/>
          <a:ln/>
        </p:spPr>
        <p:txBody>
          <a:bodyPr wrap="square" lIns="0" tIns="0" rIns="0" bIns="0" rtlCol="0" anchor="ctr">
            <a:normAutofit/>
          </a:bodyPr>
          <a:lstStyle/>
          <a:p>
            <a:pPr indent="0" marL="0">
              <a:buNone/>
            </a:pPr>
            <a:r>
              <a:rPr lang="en-US" sz="1650" b="1" dirty="0">
                <a:solidFill>
                  <a:srgbClr val="17324D"/>
                </a:solidFill>
                <a:latin typeface="Aptos" pitchFamily="34" charset="0"/>
                <a:ea typeface="Aptos" pitchFamily="34" charset="-122"/>
                <a:cs typeface="Aptos" pitchFamily="34" charset="-120"/>
              </a:rPr>
              <a:t>Primary goal</a:t>
            </a:r>
            <a:endParaRPr lang="en-US" sz="1650" dirty="0"/>
          </a:p>
        </p:txBody>
      </p:sp>
      <p:sp>
        <p:nvSpPr>
          <p:cNvPr id="26" name="Text 24"/>
          <p:cNvSpPr/>
          <p:nvPr/>
        </p:nvSpPr>
        <p:spPr>
          <a:xfrm>
            <a:off x="2715768" y="5266944"/>
            <a:ext cx="8942832" cy="640080"/>
          </a:xfrm>
          <a:prstGeom prst="rect">
            <a:avLst/>
          </a:prstGeom>
          <a:noFill/>
          <a:ln/>
        </p:spPr>
        <p:txBody>
          <a:bodyPr wrap="square" lIns="0" tIns="0" rIns="0" bIns="0" rtlCol="0" anchor="ctr">
            <a:normAutofit/>
          </a:bodyPr>
          <a:lstStyle/>
          <a:p>
            <a:pPr indent="0" marL="0">
              <a:buNone/>
            </a:pPr>
            <a:r>
              <a:rPr lang="en-US" sz="1650" dirty="0">
                <a:solidFill>
                  <a:srgbClr val="17324D"/>
                </a:solidFill>
                <a:latin typeface="Aptos" pitchFamily="34" charset="0"/>
                <a:ea typeface="Aptos" pitchFamily="34" charset="-122"/>
                <a:cs typeface="Aptos" pitchFamily="34" charset="-120"/>
              </a:rPr>
              <a:t>Learn fast without creating a heavy operation.</a:t>
            </a:r>
            <a:endParaRPr lang="en-US" sz="1650" dirty="0"/>
          </a:p>
        </p:txBody>
      </p:sp>
      <p:sp>
        <p:nvSpPr>
          <p:cNvPr id="27" name="Shape 25"/>
          <p:cNvSpPr/>
          <p:nvPr/>
        </p:nvSpPr>
        <p:spPr>
          <a:xfrm>
            <a:off x="502920" y="5925312"/>
            <a:ext cx="11155680" cy="0"/>
          </a:xfrm>
          <a:prstGeom prst="line">
            <a:avLst/>
          </a:prstGeom>
          <a:noFill/>
          <a:ln w="5080">
            <a:solidFill>
              <a:srgbClr val="C9D6E2">
                <a:alpha val="60000"/>
              </a:srgbClr>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Guide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Choose 5–8 Starting Categories</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Select practical, common, and manageable local services.</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Guide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08</a:t>
            </a:r>
            <a:endParaRPr lang="en-US" sz="850" dirty="0"/>
          </a:p>
        </p:txBody>
      </p:sp>
      <p:sp>
        <p:nvSpPr>
          <p:cNvPr id="8" name="Shape 6"/>
          <p:cNvSpPr/>
          <p:nvPr/>
        </p:nvSpPr>
        <p:spPr>
          <a:xfrm>
            <a:off x="502920" y="1508760"/>
            <a:ext cx="3566160" cy="1234440"/>
          </a:xfrm>
          <a:prstGeom prst="roundRect">
            <a:avLst>
              <a:gd name="adj" fmla="val 5926"/>
            </a:avLst>
          </a:prstGeom>
          <a:solidFill>
            <a:srgbClr val="FFFFFF"/>
          </a:solidFill>
          <a:ln w="12700">
            <a:solidFill>
              <a:srgbClr val="C9D6E2"/>
            </a:solidFill>
            <a:prstDash val="solid"/>
          </a:ln>
        </p:spPr>
      </p:sp>
      <p:sp>
        <p:nvSpPr>
          <p:cNvPr id="9" name="Text 7"/>
          <p:cNvSpPr/>
          <p:nvPr/>
        </p:nvSpPr>
        <p:spPr>
          <a:xfrm>
            <a:off x="66751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Appliance repair</a:t>
            </a:r>
            <a:endParaRPr lang="en-US" sz="1600" dirty="0"/>
          </a:p>
        </p:txBody>
      </p:sp>
      <p:sp>
        <p:nvSpPr>
          <p:cNvPr id="10" name="Text 8"/>
          <p:cNvSpPr/>
          <p:nvPr/>
        </p:nvSpPr>
        <p:spPr>
          <a:xfrm>
            <a:off x="66751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Urgent household need</a:t>
            </a:r>
            <a:endParaRPr lang="en-US" sz="1450" dirty="0"/>
          </a:p>
        </p:txBody>
      </p:sp>
      <p:sp>
        <p:nvSpPr>
          <p:cNvPr id="11" name="Shape 9"/>
          <p:cNvSpPr/>
          <p:nvPr/>
        </p:nvSpPr>
        <p:spPr>
          <a:xfrm>
            <a:off x="4297680" y="1508760"/>
            <a:ext cx="3566160" cy="1234440"/>
          </a:xfrm>
          <a:prstGeom prst="roundRect">
            <a:avLst>
              <a:gd name="adj" fmla="val 5926"/>
            </a:avLst>
          </a:prstGeom>
          <a:solidFill>
            <a:srgbClr val="FFFFFF"/>
          </a:solidFill>
          <a:ln w="12700">
            <a:solidFill>
              <a:srgbClr val="C9D6E2"/>
            </a:solidFill>
            <a:prstDash val="solid"/>
          </a:ln>
        </p:spPr>
      </p:sp>
      <p:sp>
        <p:nvSpPr>
          <p:cNvPr id="12" name="Text 10"/>
          <p:cNvSpPr/>
          <p:nvPr/>
        </p:nvSpPr>
        <p:spPr>
          <a:xfrm>
            <a:off x="446227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Plumbing</a:t>
            </a:r>
            <a:endParaRPr lang="en-US" sz="1600" dirty="0"/>
          </a:p>
        </p:txBody>
      </p:sp>
      <p:sp>
        <p:nvSpPr>
          <p:cNvPr id="13" name="Text 11"/>
          <p:cNvSpPr/>
          <p:nvPr/>
        </p:nvSpPr>
        <p:spPr>
          <a:xfrm>
            <a:off x="446227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Leaks, clogs, toilets, faucets</a:t>
            </a:r>
            <a:endParaRPr lang="en-US" sz="1450" dirty="0"/>
          </a:p>
        </p:txBody>
      </p:sp>
      <p:sp>
        <p:nvSpPr>
          <p:cNvPr id="14" name="Shape 12"/>
          <p:cNvSpPr/>
          <p:nvPr/>
        </p:nvSpPr>
        <p:spPr>
          <a:xfrm>
            <a:off x="8092440" y="1508760"/>
            <a:ext cx="3566160" cy="1234440"/>
          </a:xfrm>
          <a:prstGeom prst="roundRect">
            <a:avLst>
              <a:gd name="adj" fmla="val 5926"/>
            </a:avLst>
          </a:prstGeom>
          <a:solidFill>
            <a:srgbClr val="FFFFFF"/>
          </a:solidFill>
          <a:ln w="12700">
            <a:solidFill>
              <a:srgbClr val="C9D6E2"/>
            </a:solidFill>
            <a:prstDash val="solid"/>
          </a:ln>
        </p:spPr>
      </p:sp>
      <p:sp>
        <p:nvSpPr>
          <p:cNvPr id="15" name="Text 13"/>
          <p:cNvSpPr/>
          <p:nvPr/>
        </p:nvSpPr>
        <p:spPr>
          <a:xfrm>
            <a:off x="825703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Electrical</a:t>
            </a:r>
            <a:endParaRPr lang="en-US" sz="1600" dirty="0"/>
          </a:p>
        </p:txBody>
      </p:sp>
      <p:sp>
        <p:nvSpPr>
          <p:cNvPr id="16" name="Text 14"/>
          <p:cNvSpPr/>
          <p:nvPr/>
        </p:nvSpPr>
        <p:spPr>
          <a:xfrm>
            <a:off x="825703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Common but safety-sensitive</a:t>
            </a:r>
            <a:endParaRPr lang="en-US" sz="1450" dirty="0"/>
          </a:p>
        </p:txBody>
      </p:sp>
      <p:sp>
        <p:nvSpPr>
          <p:cNvPr id="17" name="Shape 15"/>
          <p:cNvSpPr/>
          <p:nvPr/>
        </p:nvSpPr>
        <p:spPr>
          <a:xfrm>
            <a:off x="502920" y="2999232"/>
            <a:ext cx="3566160" cy="1234440"/>
          </a:xfrm>
          <a:prstGeom prst="roundRect">
            <a:avLst>
              <a:gd name="adj" fmla="val 5926"/>
            </a:avLst>
          </a:prstGeom>
          <a:solidFill>
            <a:srgbClr val="FFFFFF"/>
          </a:solidFill>
          <a:ln w="12700">
            <a:solidFill>
              <a:srgbClr val="C9D6E2"/>
            </a:solidFill>
            <a:prstDash val="solid"/>
          </a:ln>
        </p:spPr>
      </p:sp>
      <p:sp>
        <p:nvSpPr>
          <p:cNvPr id="18" name="Text 16"/>
          <p:cNvSpPr/>
          <p:nvPr/>
        </p:nvSpPr>
        <p:spPr>
          <a:xfrm>
            <a:off x="667512" y="3127248"/>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Computer repair</a:t>
            </a:r>
            <a:endParaRPr lang="en-US" sz="1600" dirty="0"/>
          </a:p>
        </p:txBody>
      </p:sp>
      <p:sp>
        <p:nvSpPr>
          <p:cNvPr id="19" name="Text 17"/>
          <p:cNvSpPr/>
          <p:nvPr/>
        </p:nvSpPr>
        <p:spPr>
          <a:xfrm>
            <a:off x="667512" y="3474720"/>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Students, offices, homes</a:t>
            </a:r>
            <a:endParaRPr lang="en-US" sz="1450" dirty="0"/>
          </a:p>
        </p:txBody>
      </p:sp>
      <p:sp>
        <p:nvSpPr>
          <p:cNvPr id="20" name="Shape 18"/>
          <p:cNvSpPr/>
          <p:nvPr/>
        </p:nvSpPr>
        <p:spPr>
          <a:xfrm>
            <a:off x="4297680" y="2999232"/>
            <a:ext cx="3566160" cy="1234440"/>
          </a:xfrm>
          <a:prstGeom prst="roundRect">
            <a:avLst>
              <a:gd name="adj" fmla="val 5926"/>
            </a:avLst>
          </a:prstGeom>
          <a:solidFill>
            <a:srgbClr val="FFFFFF"/>
          </a:solidFill>
          <a:ln w="12700">
            <a:solidFill>
              <a:srgbClr val="C9D6E2"/>
            </a:solidFill>
            <a:prstDash val="solid"/>
          </a:ln>
        </p:spPr>
      </p:sp>
      <p:sp>
        <p:nvSpPr>
          <p:cNvPr id="21" name="Text 19"/>
          <p:cNvSpPr/>
          <p:nvPr/>
        </p:nvSpPr>
        <p:spPr>
          <a:xfrm>
            <a:off x="4462272" y="3127248"/>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Motorcycle repair</a:t>
            </a:r>
            <a:endParaRPr lang="en-US" sz="1600" dirty="0"/>
          </a:p>
        </p:txBody>
      </p:sp>
      <p:sp>
        <p:nvSpPr>
          <p:cNvPr id="22" name="Text 20"/>
          <p:cNvSpPr/>
          <p:nvPr/>
        </p:nvSpPr>
        <p:spPr>
          <a:xfrm>
            <a:off x="4462272" y="3474720"/>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Local mobility need</a:t>
            </a:r>
            <a:endParaRPr lang="en-US" sz="1450" dirty="0"/>
          </a:p>
        </p:txBody>
      </p:sp>
      <p:sp>
        <p:nvSpPr>
          <p:cNvPr id="23" name="Shape 21"/>
          <p:cNvSpPr/>
          <p:nvPr/>
        </p:nvSpPr>
        <p:spPr>
          <a:xfrm>
            <a:off x="8092440" y="2999232"/>
            <a:ext cx="3566160" cy="1234440"/>
          </a:xfrm>
          <a:prstGeom prst="roundRect">
            <a:avLst>
              <a:gd name="adj" fmla="val 5926"/>
            </a:avLst>
          </a:prstGeom>
          <a:solidFill>
            <a:srgbClr val="FFFFFF"/>
          </a:solidFill>
          <a:ln w="12700">
            <a:solidFill>
              <a:srgbClr val="C9D6E2"/>
            </a:solidFill>
            <a:prstDash val="solid"/>
          </a:ln>
        </p:spPr>
      </p:sp>
      <p:sp>
        <p:nvSpPr>
          <p:cNvPr id="24" name="Text 22"/>
          <p:cNvSpPr/>
          <p:nvPr/>
        </p:nvSpPr>
        <p:spPr>
          <a:xfrm>
            <a:off x="8257032" y="3127248"/>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Carpentry / maintenance</a:t>
            </a:r>
            <a:endParaRPr lang="en-US" sz="1600" dirty="0"/>
          </a:p>
        </p:txBody>
      </p:sp>
      <p:sp>
        <p:nvSpPr>
          <p:cNvPr id="25" name="Text 23"/>
          <p:cNvSpPr/>
          <p:nvPr/>
        </p:nvSpPr>
        <p:spPr>
          <a:xfrm>
            <a:off x="8257032" y="3474720"/>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Small repairs and installs</a:t>
            </a:r>
            <a:endParaRPr lang="en-US" sz="1450" dirty="0"/>
          </a:p>
        </p:txBody>
      </p:sp>
      <p:sp>
        <p:nvSpPr>
          <p:cNvPr id="26" name="Shape 24"/>
          <p:cNvSpPr/>
          <p:nvPr/>
        </p:nvSpPr>
        <p:spPr>
          <a:xfrm>
            <a:off x="502920" y="4489704"/>
            <a:ext cx="3566160" cy="1234440"/>
          </a:xfrm>
          <a:prstGeom prst="roundRect">
            <a:avLst>
              <a:gd name="adj" fmla="val 5926"/>
            </a:avLst>
          </a:prstGeom>
          <a:solidFill>
            <a:srgbClr val="FFFFFF"/>
          </a:solidFill>
          <a:ln w="12700">
            <a:solidFill>
              <a:srgbClr val="C9D6E2"/>
            </a:solidFill>
            <a:prstDash val="solid"/>
          </a:ln>
        </p:spPr>
      </p:sp>
      <p:sp>
        <p:nvSpPr>
          <p:cNvPr id="27" name="Text 25"/>
          <p:cNvSpPr/>
          <p:nvPr/>
        </p:nvSpPr>
        <p:spPr>
          <a:xfrm>
            <a:off x="667512" y="4617720"/>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Cleaning / odd jobs</a:t>
            </a:r>
            <a:endParaRPr lang="en-US" sz="1600" dirty="0"/>
          </a:p>
        </p:txBody>
      </p:sp>
      <p:sp>
        <p:nvSpPr>
          <p:cNvPr id="28" name="Text 26"/>
          <p:cNvSpPr/>
          <p:nvPr/>
        </p:nvSpPr>
        <p:spPr>
          <a:xfrm>
            <a:off x="667512" y="4965192"/>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Flexible supply</a:t>
            </a:r>
            <a:endParaRPr lang="en-US" sz="1450" dirty="0"/>
          </a:p>
        </p:txBody>
      </p:sp>
      <p:sp>
        <p:nvSpPr>
          <p:cNvPr id="29" name="Shape 27"/>
          <p:cNvSpPr/>
          <p:nvPr/>
        </p:nvSpPr>
        <p:spPr>
          <a:xfrm>
            <a:off x="4297680" y="4489704"/>
            <a:ext cx="3566160" cy="1234440"/>
          </a:xfrm>
          <a:prstGeom prst="roundRect">
            <a:avLst>
              <a:gd name="adj" fmla="val 5926"/>
            </a:avLst>
          </a:prstGeom>
          <a:solidFill>
            <a:srgbClr val="FFFFFF"/>
          </a:solidFill>
          <a:ln w="12700">
            <a:solidFill>
              <a:srgbClr val="C9D6E2"/>
            </a:solidFill>
            <a:prstDash val="solid"/>
          </a:ln>
        </p:spPr>
      </p:sp>
      <p:sp>
        <p:nvSpPr>
          <p:cNvPr id="30" name="Text 28"/>
          <p:cNvSpPr/>
          <p:nvPr/>
        </p:nvSpPr>
        <p:spPr>
          <a:xfrm>
            <a:off x="4462272" y="4617720"/>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Digital services</a:t>
            </a:r>
            <a:endParaRPr lang="en-US" sz="1600" dirty="0"/>
          </a:p>
        </p:txBody>
      </p:sp>
      <p:sp>
        <p:nvSpPr>
          <p:cNvPr id="31" name="Text 29"/>
          <p:cNvSpPr/>
          <p:nvPr/>
        </p:nvSpPr>
        <p:spPr>
          <a:xfrm>
            <a:off x="4462272" y="4965192"/>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Layouts, designs, basic tech</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Checklist</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Phase 2: Build the Manual System</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Use simple tools first. Let the process teach the software.</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Checklist</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09</a:t>
            </a:r>
            <a:endParaRPr lang="en-US" sz="850" dirty="0"/>
          </a:p>
        </p:txBody>
      </p:sp>
      <p:sp>
        <p:nvSpPr>
          <p:cNvPr id="8" name="Text 6"/>
          <p:cNvSpPr/>
          <p:nvPr/>
        </p:nvSpPr>
        <p:spPr>
          <a:xfrm>
            <a:off x="502920" y="1508760"/>
            <a:ext cx="5417820" cy="4754880"/>
          </a:xfrm>
          <a:prstGeom prst="rect">
            <a:avLst/>
          </a:prstGeom>
          <a:noFill/>
          <a:ln/>
        </p:spPr>
        <p:txBody>
          <a:bodyPr wrap="square" lIns="1270" tIns="1270" rIns="1270" bIns="1270" rtlCol="0" anchor="ctr">
            <a:normAutofit/>
          </a:bodyPr>
          <a:lstStyle/>
          <a:p>
            <a:pPr indent="0" marL="0">
              <a:buNone/>
            </a:pPr>
            <a:r>
              <a:rPr lang="en-US" sz="1750" dirty="0">
                <a:solidFill>
                  <a:srgbClr val="17324D"/>
                </a:solidFill>
                <a:latin typeface="Aptos" pitchFamily="34" charset="0"/>
                <a:ea typeface="Aptos" pitchFamily="34" charset="-122"/>
                <a:cs typeface="Aptos" pitchFamily="34" charset="-120"/>
              </a:rPr>
              <a:t>☐ Create Facebook Page for public presence.</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Create Provider Signup Form for supply intake.</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Create Client Request Form for demand intake.</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Create Provider Sheet as the supply database.</a:t>
            </a:r>
            <a:endParaRPr lang="en-US" sz="1750" dirty="0"/>
          </a:p>
        </p:txBody>
      </p:sp>
      <p:sp>
        <p:nvSpPr>
          <p:cNvPr id="9" name="Text 7"/>
          <p:cNvSpPr/>
          <p:nvPr/>
        </p:nvSpPr>
        <p:spPr>
          <a:xfrm>
            <a:off x="6240780" y="1508760"/>
            <a:ext cx="5417820" cy="4754880"/>
          </a:xfrm>
          <a:prstGeom prst="rect">
            <a:avLst/>
          </a:prstGeom>
          <a:noFill/>
          <a:ln/>
        </p:spPr>
        <p:txBody>
          <a:bodyPr wrap="square" lIns="1270" tIns="1270" rIns="1270" bIns="1270" rtlCol="0" anchor="ctr">
            <a:normAutofit/>
          </a:bodyPr>
          <a:lstStyle/>
          <a:p>
            <a:pPr indent="0" marL="0">
              <a:buNone/>
            </a:pPr>
            <a:r>
              <a:rPr lang="en-US" sz="1750" dirty="0">
                <a:solidFill>
                  <a:srgbClr val="17324D"/>
                </a:solidFill>
                <a:latin typeface="Aptos" pitchFamily="34" charset="0"/>
                <a:ea typeface="Aptos" pitchFamily="34" charset="-122"/>
                <a:cs typeface="Aptos" pitchFamily="34" charset="-120"/>
              </a:rPr>
              <a:t>☐ Create Request Tracker for job evidence.</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Create Completed Job Log for final outcomes.</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Create Dispute Log for issues and resolutions.</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Use Messenger for manual matching and updates.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Checklist</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Phase 3: Recruit Providers First</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Clients will only trust KAILA if relevant providers are already available.</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Checklist</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10</a:t>
            </a:r>
            <a:endParaRPr lang="en-US" sz="850" dirty="0"/>
          </a:p>
        </p:txBody>
      </p:sp>
      <p:sp>
        <p:nvSpPr>
          <p:cNvPr id="8" name="Text 6"/>
          <p:cNvSpPr/>
          <p:nvPr/>
        </p:nvSpPr>
        <p:spPr>
          <a:xfrm>
            <a:off x="502920" y="1508760"/>
            <a:ext cx="5417820" cy="4754880"/>
          </a:xfrm>
          <a:prstGeom prst="rect">
            <a:avLst/>
          </a:prstGeom>
          <a:noFill/>
          <a:ln/>
        </p:spPr>
        <p:txBody>
          <a:bodyPr wrap="square" lIns="1270" tIns="1270" rIns="1270" bIns="1270" rtlCol="0" anchor="ctr">
            <a:normAutofit/>
          </a:bodyPr>
          <a:lstStyle/>
          <a:p>
            <a:pPr indent="0" marL="0">
              <a:buNone/>
            </a:pPr>
            <a:r>
              <a:rPr lang="en-US" sz="1750" dirty="0">
                <a:solidFill>
                  <a:srgbClr val="17324D"/>
                </a:solidFill>
                <a:latin typeface="Aptos" pitchFamily="34" charset="0"/>
                <a:ea typeface="Aptos" pitchFamily="34" charset="-122"/>
                <a:cs typeface="Aptos" pitchFamily="34" charset="-120"/>
              </a:rPr>
              <a:t>☐ Build a 100-provider lead list.</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Contact the first 20 provider leads on Day 7.</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Ask every provider for two referrals.</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Group providers by category and barangay.</a:t>
            </a:r>
            <a:endParaRPr lang="en-US" sz="1750" dirty="0"/>
          </a:p>
        </p:txBody>
      </p:sp>
      <p:sp>
        <p:nvSpPr>
          <p:cNvPr id="9" name="Text 7"/>
          <p:cNvSpPr/>
          <p:nvPr/>
        </p:nvSpPr>
        <p:spPr>
          <a:xfrm>
            <a:off x="6240780" y="1508760"/>
            <a:ext cx="5417820" cy="4754880"/>
          </a:xfrm>
          <a:prstGeom prst="rect">
            <a:avLst/>
          </a:prstGeom>
          <a:noFill/>
          <a:ln/>
        </p:spPr>
        <p:txBody>
          <a:bodyPr wrap="square" lIns="1270" tIns="1270" rIns="1270" bIns="1270" rtlCol="0" anchor="ctr">
            <a:normAutofit/>
          </a:bodyPr>
          <a:lstStyle/>
          <a:p>
            <a:pPr indent="0" marL="0">
              <a:buNone/>
            </a:pPr>
            <a:r>
              <a:rPr lang="en-US" sz="1750" dirty="0">
                <a:solidFill>
                  <a:srgbClr val="17324D"/>
                </a:solidFill>
                <a:latin typeface="Aptos" pitchFamily="34" charset="0"/>
                <a:ea typeface="Aptos" pitchFamily="34" charset="-122"/>
                <a:cs typeface="Aptos" pitchFamily="34" charset="-120"/>
              </a:rPr>
              <a:t>☐ Collect service area, availability, price range, and work samples.</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Target 50 listed providers before heavy client promotion.</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Make sure each request can be sent to 3–5 relevant providers.</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Mark fast-reply providers as priority providers.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Guide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Provider Pitch Must Answer</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Keep the provider message simple and practical.</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Guide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11</a:t>
            </a:r>
            <a:endParaRPr lang="en-US" sz="850" dirty="0"/>
          </a:p>
        </p:txBody>
      </p:sp>
      <p:sp>
        <p:nvSpPr>
          <p:cNvPr id="8" name="Shape 6"/>
          <p:cNvSpPr/>
          <p:nvPr/>
        </p:nvSpPr>
        <p:spPr>
          <a:xfrm>
            <a:off x="502920" y="1508760"/>
            <a:ext cx="3566160" cy="1234440"/>
          </a:xfrm>
          <a:prstGeom prst="roundRect">
            <a:avLst>
              <a:gd name="adj" fmla="val 5926"/>
            </a:avLst>
          </a:prstGeom>
          <a:solidFill>
            <a:srgbClr val="FFFFFF"/>
          </a:solidFill>
          <a:ln w="12700">
            <a:solidFill>
              <a:srgbClr val="C9D6E2"/>
            </a:solidFill>
            <a:prstDash val="solid"/>
          </a:ln>
        </p:spPr>
      </p:sp>
      <p:sp>
        <p:nvSpPr>
          <p:cNvPr id="9" name="Text 7"/>
          <p:cNvSpPr/>
          <p:nvPr/>
        </p:nvSpPr>
        <p:spPr>
          <a:xfrm>
            <a:off x="66751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Will this help me get clients?</a:t>
            </a:r>
            <a:endParaRPr lang="en-US" sz="1600" dirty="0"/>
          </a:p>
        </p:txBody>
      </p:sp>
      <p:sp>
        <p:nvSpPr>
          <p:cNvPr id="10" name="Text 8"/>
          <p:cNvSpPr/>
          <p:nvPr/>
        </p:nvSpPr>
        <p:spPr>
          <a:xfrm>
            <a:off x="66751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Explain that KAILA forwards relevant local requests.</a:t>
            </a:r>
            <a:endParaRPr lang="en-US" sz="1450" dirty="0"/>
          </a:p>
        </p:txBody>
      </p:sp>
      <p:sp>
        <p:nvSpPr>
          <p:cNvPr id="11" name="Shape 9"/>
          <p:cNvSpPr/>
          <p:nvPr/>
        </p:nvSpPr>
        <p:spPr>
          <a:xfrm>
            <a:off x="4297680" y="1508760"/>
            <a:ext cx="3566160" cy="1234440"/>
          </a:xfrm>
          <a:prstGeom prst="roundRect">
            <a:avLst>
              <a:gd name="adj" fmla="val 5926"/>
            </a:avLst>
          </a:prstGeom>
          <a:solidFill>
            <a:srgbClr val="FFFFFF"/>
          </a:solidFill>
          <a:ln w="12700">
            <a:solidFill>
              <a:srgbClr val="C9D6E2"/>
            </a:solidFill>
            <a:prstDash val="solid"/>
          </a:ln>
        </p:spPr>
      </p:sp>
      <p:sp>
        <p:nvSpPr>
          <p:cNvPr id="12" name="Text 10"/>
          <p:cNvSpPr/>
          <p:nvPr/>
        </p:nvSpPr>
        <p:spPr>
          <a:xfrm>
            <a:off x="446227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Is it free?</a:t>
            </a:r>
            <a:endParaRPr lang="en-US" sz="1600" dirty="0"/>
          </a:p>
        </p:txBody>
      </p:sp>
      <p:sp>
        <p:nvSpPr>
          <p:cNvPr id="13" name="Text 11"/>
          <p:cNvSpPr/>
          <p:nvPr/>
        </p:nvSpPr>
        <p:spPr>
          <a:xfrm>
            <a:off x="446227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Confirm the pilot is free while validation is ongoing.</a:t>
            </a:r>
            <a:endParaRPr lang="en-US" sz="1450" dirty="0"/>
          </a:p>
        </p:txBody>
      </p:sp>
      <p:sp>
        <p:nvSpPr>
          <p:cNvPr id="14" name="Shape 12"/>
          <p:cNvSpPr/>
          <p:nvPr/>
        </p:nvSpPr>
        <p:spPr>
          <a:xfrm>
            <a:off x="8092440" y="1508760"/>
            <a:ext cx="3566160" cy="1234440"/>
          </a:xfrm>
          <a:prstGeom prst="roundRect">
            <a:avLst>
              <a:gd name="adj" fmla="val 5926"/>
            </a:avLst>
          </a:prstGeom>
          <a:solidFill>
            <a:srgbClr val="FFFFFF"/>
          </a:solidFill>
          <a:ln w="12700">
            <a:solidFill>
              <a:srgbClr val="C9D6E2"/>
            </a:solidFill>
            <a:prstDash val="solid"/>
          </a:ln>
        </p:spPr>
      </p:sp>
      <p:sp>
        <p:nvSpPr>
          <p:cNvPr id="15" name="Text 13"/>
          <p:cNvSpPr/>
          <p:nvPr/>
        </p:nvSpPr>
        <p:spPr>
          <a:xfrm>
            <a:off x="825703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Can I accept or decline?</a:t>
            </a:r>
            <a:endParaRPr lang="en-US" sz="1600" dirty="0"/>
          </a:p>
        </p:txBody>
      </p:sp>
      <p:sp>
        <p:nvSpPr>
          <p:cNvPr id="16" name="Text 14"/>
          <p:cNvSpPr/>
          <p:nvPr/>
        </p:nvSpPr>
        <p:spPr>
          <a:xfrm>
            <a:off x="825703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Providers can accept, decline, or counter-offer.</a:t>
            </a:r>
            <a:endParaRPr lang="en-US" sz="1450" dirty="0"/>
          </a:p>
        </p:txBody>
      </p:sp>
      <p:sp>
        <p:nvSpPr>
          <p:cNvPr id="17" name="Shape 15"/>
          <p:cNvSpPr/>
          <p:nvPr/>
        </p:nvSpPr>
        <p:spPr>
          <a:xfrm>
            <a:off x="502920" y="2999232"/>
            <a:ext cx="3566160" cy="1234440"/>
          </a:xfrm>
          <a:prstGeom prst="roundRect">
            <a:avLst>
              <a:gd name="adj" fmla="val 5926"/>
            </a:avLst>
          </a:prstGeom>
          <a:solidFill>
            <a:srgbClr val="FFFFFF"/>
          </a:solidFill>
          <a:ln w="12700">
            <a:solidFill>
              <a:srgbClr val="C9D6E2"/>
            </a:solidFill>
            <a:prstDash val="solid"/>
          </a:ln>
        </p:spPr>
      </p:sp>
      <p:sp>
        <p:nvSpPr>
          <p:cNvPr id="18" name="Text 16"/>
          <p:cNvSpPr/>
          <p:nvPr/>
        </p:nvSpPr>
        <p:spPr>
          <a:xfrm>
            <a:off x="667512" y="3127248"/>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Can I control my price?</a:t>
            </a:r>
            <a:endParaRPr lang="en-US" sz="1600" dirty="0"/>
          </a:p>
        </p:txBody>
      </p:sp>
      <p:sp>
        <p:nvSpPr>
          <p:cNvPr id="19" name="Text 17"/>
          <p:cNvSpPr/>
          <p:nvPr/>
        </p:nvSpPr>
        <p:spPr>
          <a:xfrm>
            <a:off x="667512" y="3474720"/>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Providers submit their own offer or schedule.</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Guide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Phase 4: Make Trust Visible</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Do not present all providers as equally verified.</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Guide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12</a:t>
            </a:r>
            <a:endParaRPr lang="en-US" sz="850" dirty="0"/>
          </a:p>
        </p:txBody>
      </p:sp>
      <p:sp>
        <p:nvSpPr>
          <p:cNvPr id="8" name="Text 6"/>
          <p:cNvSpPr/>
          <p:nvPr/>
        </p:nvSpPr>
        <p:spPr>
          <a:xfrm>
            <a:off x="502920" y="1380744"/>
            <a:ext cx="320040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904488" y="1380744"/>
            <a:ext cx="775411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200400" cy="640080"/>
          </a:xfrm>
          <a:prstGeom prst="rect">
            <a:avLst/>
          </a:prstGeom>
          <a:noFill/>
          <a:ln/>
        </p:spPr>
        <p:txBody>
          <a:bodyPr wrap="square" lIns="0" tIns="0" rIns="0" bIns="0" rtlCol="0" anchor="ctr">
            <a:normAutofit/>
          </a:bodyPr>
          <a:lstStyle/>
          <a:p>
            <a:pPr indent="0" marL="0">
              <a:buNone/>
            </a:pPr>
            <a:r>
              <a:rPr lang="en-US" sz="1620" b="1" dirty="0">
                <a:solidFill>
                  <a:srgbClr val="17324D"/>
                </a:solidFill>
                <a:latin typeface="Aptos" pitchFamily="34" charset="0"/>
                <a:ea typeface="Aptos" pitchFamily="34" charset="-122"/>
                <a:cs typeface="Aptos" pitchFamily="34" charset="-120"/>
              </a:rPr>
              <a:t>Level 1: Listed</a:t>
            </a:r>
            <a:endParaRPr lang="en-US" sz="1620" dirty="0"/>
          </a:p>
        </p:txBody>
      </p:sp>
      <p:sp>
        <p:nvSpPr>
          <p:cNvPr id="11" name="Text 9"/>
          <p:cNvSpPr/>
          <p:nvPr/>
        </p:nvSpPr>
        <p:spPr>
          <a:xfrm>
            <a:off x="3904488" y="1700784"/>
            <a:ext cx="7754112" cy="640080"/>
          </a:xfrm>
          <a:prstGeom prst="rect">
            <a:avLst/>
          </a:prstGeom>
          <a:noFill/>
          <a:ln/>
        </p:spPr>
        <p:txBody>
          <a:bodyPr wrap="square" lIns="0" tIns="0" rIns="0" bIns="0" rtlCol="0" anchor="ctr">
            <a:normAutofit/>
          </a:bodyPr>
          <a:lstStyle/>
          <a:p>
            <a:pPr indent="0" marL="0">
              <a:buNone/>
            </a:pPr>
            <a:r>
              <a:rPr lang="en-US" sz="1620" dirty="0">
                <a:solidFill>
                  <a:srgbClr val="17324D"/>
                </a:solidFill>
                <a:latin typeface="Aptos" pitchFamily="34" charset="0"/>
                <a:ea typeface="Aptos" pitchFamily="34" charset="-122"/>
                <a:cs typeface="Aptos" pitchFamily="34" charset="-120"/>
              </a:rPr>
              <a:t>Basic profile submitted. Not yet verified.</a:t>
            </a:r>
            <a:endParaRPr lang="en-US" sz="1620" dirty="0"/>
          </a:p>
        </p:txBody>
      </p:sp>
      <p:sp>
        <p:nvSpPr>
          <p:cNvPr id="12" name="Shape 10"/>
          <p:cNvSpPr/>
          <p:nvPr/>
        </p:nvSpPr>
        <p:spPr>
          <a:xfrm>
            <a:off x="502920" y="2359152"/>
            <a:ext cx="11155680" cy="0"/>
          </a:xfrm>
          <a:prstGeom prst="line">
            <a:avLst/>
          </a:prstGeom>
          <a:noFill/>
          <a:ln w="5080">
            <a:solidFill>
              <a:srgbClr val="C9D6E2">
                <a:alpha val="60000"/>
              </a:srgbClr>
            </a:solidFill>
            <a:prstDash val="solid"/>
          </a:ln>
        </p:spPr>
      </p:sp>
      <p:sp>
        <p:nvSpPr>
          <p:cNvPr id="13" name="Text 11"/>
          <p:cNvSpPr/>
          <p:nvPr/>
        </p:nvSpPr>
        <p:spPr>
          <a:xfrm>
            <a:off x="502920" y="2414016"/>
            <a:ext cx="3200400" cy="640080"/>
          </a:xfrm>
          <a:prstGeom prst="rect">
            <a:avLst/>
          </a:prstGeom>
          <a:noFill/>
          <a:ln/>
        </p:spPr>
        <p:txBody>
          <a:bodyPr wrap="square" lIns="0" tIns="0" rIns="0" bIns="0" rtlCol="0" anchor="ctr">
            <a:normAutofit/>
          </a:bodyPr>
          <a:lstStyle/>
          <a:p>
            <a:pPr indent="0" marL="0">
              <a:buNone/>
            </a:pPr>
            <a:r>
              <a:rPr lang="en-US" sz="1620" b="1" dirty="0">
                <a:solidFill>
                  <a:srgbClr val="17324D"/>
                </a:solidFill>
                <a:latin typeface="Aptos" pitchFamily="34" charset="0"/>
                <a:ea typeface="Aptos" pitchFamily="34" charset="-122"/>
                <a:cs typeface="Aptos" pitchFamily="34" charset="-120"/>
              </a:rPr>
              <a:t>Level 2: Identity Verified</a:t>
            </a:r>
            <a:endParaRPr lang="en-US" sz="1620" dirty="0"/>
          </a:p>
        </p:txBody>
      </p:sp>
      <p:sp>
        <p:nvSpPr>
          <p:cNvPr id="14" name="Text 12"/>
          <p:cNvSpPr/>
          <p:nvPr/>
        </p:nvSpPr>
        <p:spPr>
          <a:xfrm>
            <a:off x="3904488" y="2414016"/>
            <a:ext cx="7754112" cy="640080"/>
          </a:xfrm>
          <a:prstGeom prst="rect">
            <a:avLst/>
          </a:prstGeom>
          <a:noFill/>
          <a:ln/>
        </p:spPr>
        <p:txBody>
          <a:bodyPr wrap="square" lIns="0" tIns="0" rIns="0" bIns="0" rtlCol="0" anchor="ctr">
            <a:normAutofit/>
          </a:bodyPr>
          <a:lstStyle/>
          <a:p>
            <a:pPr indent="0" marL="0">
              <a:buNone/>
            </a:pPr>
            <a:r>
              <a:rPr lang="en-US" sz="1620" dirty="0">
                <a:solidFill>
                  <a:srgbClr val="17324D"/>
                </a:solidFill>
                <a:latin typeface="Aptos" pitchFamily="34" charset="0"/>
                <a:ea typeface="Aptos" pitchFamily="34" charset="-122"/>
                <a:cs typeface="Aptos" pitchFamily="34" charset="-120"/>
              </a:rPr>
              <a:t>ID or basic identity check completed with consent.</a:t>
            </a:r>
            <a:endParaRPr lang="en-US" sz="1620" dirty="0"/>
          </a:p>
        </p:txBody>
      </p:sp>
      <p:sp>
        <p:nvSpPr>
          <p:cNvPr id="15" name="Shape 13"/>
          <p:cNvSpPr/>
          <p:nvPr/>
        </p:nvSpPr>
        <p:spPr>
          <a:xfrm>
            <a:off x="502920" y="3072384"/>
            <a:ext cx="11155680" cy="0"/>
          </a:xfrm>
          <a:prstGeom prst="line">
            <a:avLst/>
          </a:prstGeom>
          <a:noFill/>
          <a:ln w="5080">
            <a:solidFill>
              <a:srgbClr val="C9D6E2">
                <a:alpha val="60000"/>
              </a:srgbClr>
            </a:solidFill>
            <a:prstDash val="solid"/>
          </a:ln>
        </p:spPr>
      </p:sp>
      <p:sp>
        <p:nvSpPr>
          <p:cNvPr id="16" name="Text 14"/>
          <p:cNvSpPr/>
          <p:nvPr/>
        </p:nvSpPr>
        <p:spPr>
          <a:xfrm>
            <a:off x="502920" y="3127248"/>
            <a:ext cx="3200400" cy="640080"/>
          </a:xfrm>
          <a:prstGeom prst="rect">
            <a:avLst/>
          </a:prstGeom>
          <a:noFill/>
          <a:ln/>
        </p:spPr>
        <p:txBody>
          <a:bodyPr wrap="square" lIns="0" tIns="0" rIns="0" bIns="0" rtlCol="0" anchor="ctr">
            <a:normAutofit/>
          </a:bodyPr>
          <a:lstStyle/>
          <a:p>
            <a:pPr indent="0" marL="0">
              <a:buNone/>
            </a:pPr>
            <a:r>
              <a:rPr lang="en-US" sz="1620" b="1" dirty="0">
                <a:solidFill>
                  <a:srgbClr val="17324D"/>
                </a:solidFill>
                <a:latin typeface="Aptos" pitchFamily="34" charset="0"/>
                <a:ea typeface="Aptos" pitchFamily="34" charset="-122"/>
                <a:cs typeface="Aptos" pitchFamily="34" charset="-120"/>
              </a:rPr>
              <a:t>Level 3: Work Verified</a:t>
            </a:r>
            <a:endParaRPr lang="en-US" sz="1620" dirty="0"/>
          </a:p>
        </p:txBody>
      </p:sp>
      <p:sp>
        <p:nvSpPr>
          <p:cNvPr id="17" name="Text 15"/>
          <p:cNvSpPr/>
          <p:nvPr/>
        </p:nvSpPr>
        <p:spPr>
          <a:xfrm>
            <a:off x="3904488" y="3127248"/>
            <a:ext cx="7754112" cy="640080"/>
          </a:xfrm>
          <a:prstGeom prst="rect">
            <a:avLst/>
          </a:prstGeom>
          <a:noFill/>
          <a:ln/>
        </p:spPr>
        <p:txBody>
          <a:bodyPr wrap="square" lIns="0" tIns="0" rIns="0" bIns="0" rtlCol="0" anchor="ctr">
            <a:normAutofit/>
          </a:bodyPr>
          <a:lstStyle/>
          <a:p>
            <a:pPr indent="0" marL="0">
              <a:buNone/>
            </a:pPr>
            <a:r>
              <a:rPr lang="en-US" sz="1620" dirty="0">
                <a:solidFill>
                  <a:srgbClr val="17324D"/>
                </a:solidFill>
                <a:latin typeface="Aptos" pitchFamily="34" charset="0"/>
                <a:ea typeface="Aptos" pitchFamily="34" charset="-122"/>
                <a:cs typeface="Aptos" pitchFamily="34" charset="-120"/>
              </a:rPr>
              <a:t>Work samples, references, or completed pilot jobs.</a:t>
            </a:r>
            <a:endParaRPr lang="en-US" sz="1620" dirty="0"/>
          </a:p>
        </p:txBody>
      </p:sp>
      <p:sp>
        <p:nvSpPr>
          <p:cNvPr id="18" name="Shape 16"/>
          <p:cNvSpPr/>
          <p:nvPr/>
        </p:nvSpPr>
        <p:spPr>
          <a:xfrm>
            <a:off x="502920" y="3785616"/>
            <a:ext cx="11155680" cy="0"/>
          </a:xfrm>
          <a:prstGeom prst="line">
            <a:avLst/>
          </a:prstGeom>
          <a:noFill/>
          <a:ln w="5080">
            <a:solidFill>
              <a:srgbClr val="C9D6E2">
                <a:alpha val="60000"/>
              </a:srgbClr>
            </a:solidFill>
            <a:prstDash val="solid"/>
          </a:ln>
        </p:spPr>
      </p:sp>
      <p:sp>
        <p:nvSpPr>
          <p:cNvPr id="19" name="Text 17"/>
          <p:cNvSpPr/>
          <p:nvPr/>
        </p:nvSpPr>
        <p:spPr>
          <a:xfrm>
            <a:off x="502920" y="3840480"/>
            <a:ext cx="3200400" cy="640080"/>
          </a:xfrm>
          <a:prstGeom prst="rect">
            <a:avLst/>
          </a:prstGeom>
          <a:noFill/>
          <a:ln/>
        </p:spPr>
        <p:txBody>
          <a:bodyPr wrap="square" lIns="0" tIns="0" rIns="0" bIns="0" rtlCol="0" anchor="ctr">
            <a:normAutofit/>
          </a:bodyPr>
          <a:lstStyle/>
          <a:p>
            <a:pPr indent="0" marL="0">
              <a:buNone/>
            </a:pPr>
            <a:r>
              <a:rPr lang="en-US" sz="1620" b="1" dirty="0">
                <a:solidFill>
                  <a:srgbClr val="17324D"/>
                </a:solidFill>
                <a:latin typeface="Aptos" pitchFamily="34" charset="0"/>
                <a:ea typeface="Aptos" pitchFamily="34" charset="-122"/>
                <a:cs typeface="Aptos" pitchFamily="34" charset="-120"/>
              </a:rPr>
              <a:t>Level 4: Top Rated</a:t>
            </a:r>
            <a:endParaRPr lang="en-US" sz="1620" dirty="0"/>
          </a:p>
        </p:txBody>
      </p:sp>
      <p:sp>
        <p:nvSpPr>
          <p:cNvPr id="20" name="Text 18"/>
          <p:cNvSpPr/>
          <p:nvPr/>
        </p:nvSpPr>
        <p:spPr>
          <a:xfrm>
            <a:off x="3904488" y="3840480"/>
            <a:ext cx="7754112" cy="640080"/>
          </a:xfrm>
          <a:prstGeom prst="rect">
            <a:avLst/>
          </a:prstGeom>
          <a:noFill/>
          <a:ln/>
        </p:spPr>
        <p:txBody>
          <a:bodyPr wrap="square" lIns="0" tIns="0" rIns="0" bIns="0" rtlCol="0" anchor="ctr">
            <a:normAutofit/>
          </a:bodyPr>
          <a:lstStyle/>
          <a:p>
            <a:pPr indent="0" marL="0">
              <a:buNone/>
            </a:pPr>
            <a:r>
              <a:rPr lang="en-US" sz="1620" dirty="0">
                <a:solidFill>
                  <a:srgbClr val="17324D"/>
                </a:solidFill>
                <a:latin typeface="Aptos" pitchFamily="34" charset="0"/>
                <a:ea typeface="Aptos" pitchFamily="34" charset="-122"/>
                <a:cs typeface="Aptos" pitchFamily="34" charset="-120"/>
              </a:rPr>
              <a:t>Good ratings, fast response, completed jobs, low dispute rate.</a:t>
            </a:r>
            <a:endParaRPr lang="en-US" sz="1620" dirty="0"/>
          </a:p>
        </p:txBody>
      </p:sp>
      <p:sp>
        <p:nvSpPr>
          <p:cNvPr id="21" name="Shape 19"/>
          <p:cNvSpPr/>
          <p:nvPr/>
        </p:nvSpPr>
        <p:spPr>
          <a:xfrm>
            <a:off x="502920" y="4498848"/>
            <a:ext cx="11155680" cy="0"/>
          </a:xfrm>
          <a:prstGeom prst="line">
            <a:avLst/>
          </a:prstGeom>
          <a:noFill/>
          <a:ln w="5080">
            <a:solidFill>
              <a:srgbClr val="C9D6E2">
                <a:alpha val="60000"/>
              </a:srgbClr>
            </a:solidFill>
            <a:prstDash val="solid"/>
          </a:ln>
        </p:spPr>
      </p:sp>
      <p:sp>
        <p:nvSpPr>
          <p:cNvPr id="22" name="Text 20"/>
          <p:cNvSpPr/>
          <p:nvPr/>
        </p:nvSpPr>
        <p:spPr>
          <a:xfrm>
            <a:off x="502920" y="4553712"/>
            <a:ext cx="3200400" cy="640080"/>
          </a:xfrm>
          <a:prstGeom prst="rect">
            <a:avLst/>
          </a:prstGeom>
          <a:noFill/>
          <a:ln/>
        </p:spPr>
        <p:txBody>
          <a:bodyPr wrap="square" lIns="0" tIns="0" rIns="0" bIns="0" rtlCol="0" anchor="ctr">
            <a:normAutofit/>
          </a:bodyPr>
          <a:lstStyle/>
          <a:p>
            <a:pPr indent="0" marL="0">
              <a:buNone/>
            </a:pPr>
            <a:r>
              <a:rPr lang="en-US" sz="1620" b="1" dirty="0">
                <a:solidFill>
                  <a:srgbClr val="17324D"/>
                </a:solidFill>
                <a:latin typeface="Aptos" pitchFamily="34" charset="0"/>
                <a:ea typeface="Aptos" pitchFamily="34" charset="-122"/>
                <a:cs typeface="Aptos" pitchFamily="34" charset="-120"/>
              </a:rPr>
              <a:t>Level 5: Certified / Business Verified</a:t>
            </a:r>
            <a:endParaRPr lang="en-US" sz="1620" dirty="0"/>
          </a:p>
        </p:txBody>
      </p:sp>
      <p:sp>
        <p:nvSpPr>
          <p:cNvPr id="23" name="Text 21"/>
          <p:cNvSpPr/>
          <p:nvPr/>
        </p:nvSpPr>
        <p:spPr>
          <a:xfrm>
            <a:off x="3904488" y="4553712"/>
            <a:ext cx="7754112" cy="640080"/>
          </a:xfrm>
          <a:prstGeom prst="rect">
            <a:avLst/>
          </a:prstGeom>
          <a:noFill/>
          <a:ln/>
        </p:spPr>
        <p:txBody>
          <a:bodyPr wrap="square" lIns="0" tIns="0" rIns="0" bIns="0" rtlCol="0" anchor="ctr">
            <a:normAutofit/>
          </a:bodyPr>
          <a:lstStyle/>
          <a:p>
            <a:pPr indent="0" marL="0">
              <a:buNone/>
            </a:pPr>
            <a:r>
              <a:rPr lang="en-US" sz="1620" dirty="0">
                <a:solidFill>
                  <a:srgbClr val="17324D"/>
                </a:solidFill>
                <a:latin typeface="Aptos" pitchFamily="34" charset="0"/>
                <a:ea typeface="Aptos" pitchFamily="34" charset="-122"/>
                <a:cs typeface="Aptos" pitchFamily="34" charset="-120"/>
              </a:rPr>
              <a:t>Certificate, permit, shop, training proof, or recognized business background.</a:t>
            </a:r>
            <a:endParaRPr lang="en-US" sz="1620" dirty="0"/>
          </a:p>
        </p:txBody>
      </p:sp>
      <p:sp>
        <p:nvSpPr>
          <p:cNvPr id="24" name="Shape 22"/>
          <p:cNvSpPr/>
          <p:nvPr/>
        </p:nvSpPr>
        <p:spPr>
          <a:xfrm>
            <a:off x="502920" y="5212080"/>
            <a:ext cx="11155680" cy="0"/>
          </a:xfrm>
          <a:prstGeom prst="line">
            <a:avLst/>
          </a:prstGeom>
          <a:noFill/>
          <a:ln w="5080">
            <a:solidFill>
              <a:srgbClr val="C9D6E2">
                <a:alpha val="60000"/>
              </a:srgbClr>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Checklist</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Phase 5: Validate Client Demand</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Listen for repeated pain points before launching publicly.</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Checklist</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13</a:t>
            </a:r>
            <a:endParaRPr lang="en-US" sz="850" dirty="0"/>
          </a:p>
        </p:txBody>
      </p:sp>
      <p:sp>
        <p:nvSpPr>
          <p:cNvPr id="8" name="Text 6"/>
          <p:cNvSpPr/>
          <p:nvPr/>
        </p:nvSpPr>
        <p:spPr>
          <a:xfrm>
            <a:off x="502920" y="1508760"/>
            <a:ext cx="5417820" cy="4754880"/>
          </a:xfrm>
          <a:prstGeom prst="rect">
            <a:avLst/>
          </a:prstGeom>
          <a:noFill/>
          <a:ln/>
        </p:spPr>
        <p:txBody>
          <a:bodyPr wrap="square" lIns="1270" tIns="1270" rIns="1270" bIns="1270" rtlCol="0" anchor="ctr">
            <a:normAutofit/>
          </a:bodyPr>
          <a:lstStyle/>
          <a:p>
            <a:pPr indent="0" marL="0">
              <a:buNone/>
            </a:pPr>
            <a:r>
              <a:rPr lang="en-US" sz="1750" dirty="0">
                <a:solidFill>
                  <a:srgbClr val="17324D"/>
                </a:solidFill>
                <a:latin typeface="Aptos" pitchFamily="34" charset="0"/>
                <a:ea typeface="Aptos" pitchFamily="34" charset="-122"/>
                <a:cs typeface="Aptos" pitchFamily="34" charset="-120"/>
              </a:rPr>
              <a:t>☐ Prepare client survey form.</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Collect 100 resident responses if possible.</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Get at least 30–50 strong responses before first active requests.</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Record hardest-to-find services.</a:t>
            </a:r>
            <a:endParaRPr lang="en-US" sz="1750" dirty="0"/>
          </a:p>
        </p:txBody>
      </p:sp>
      <p:sp>
        <p:nvSpPr>
          <p:cNvPr id="9" name="Text 7"/>
          <p:cNvSpPr/>
          <p:nvPr/>
        </p:nvSpPr>
        <p:spPr>
          <a:xfrm>
            <a:off x="6240780" y="1508760"/>
            <a:ext cx="5417820" cy="4754880"/>
          </a:xfrm>
          <a:prstGeom prst="rect">
            <a:avLst/>
          </a:prstGeom>
          <a:noFill/>
          <a:ln/>
        </p:spPr>
        <p:txBody>
          <a:bodyPr wrap="square" lIns="1270" tIns="1270" rIns="1270" bIns="1270" rtlCol="0" anchor="ctr">
            <a:normAutofit/>
          </a:bodyPr>
          <a:lstStyle/>
          <a:p>
            <a:pPr indent="0" marL="0">
              <a:buNone/>
            </a:pPr>
            <a:r>
              <a:rPr lang="en-US" sz="1750" dirty="0">
                <a:solidFill>
                  <a:srgbClr val="17324D"/>
                </a:solidFill>
                <a:latin typeface="Aptos" pitchFamily="34" charset="0"/>
                <a:ea typeface="Aptos" pitchFamily="34" charset="-122"/>
                <a:cs typeface="Aptos" pitchFamily="34" charset="-120"/>
              </a:rPr>
              <a:t>☐ Record common trust problems.</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Record pricing confusion.</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Record response-time frustrations.</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List top service categories requested by clients.</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Guide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Client Pain Points to Track</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Repeated pain points are stronger than one-off opinions.</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Guide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14</a:t>
            </a:r>
            <a:endParaRPr lang="en-US" sz="850" dirty="0"/>
          </a:p>
        </p:txBody>
      </p:sp>
      <p:sp>
        <p:nvSpPr>
          <p:cNvPr id="8" name="Shape 6"/>
          <p:cNvSpPr/>
          <p:nvPr/>
        </p:nvSpPr>
        <p:spPr>
          <a:xfrm>
            <a:off x="502920" y="1508760"/>
            <a:ext cx="3566160" cy="1234440"/>
          </a:xfrm>
          <a:prstGeom prst="roundRect">
            <a:avLst>
              <a:gd name="adj" fmla="val 5926"/>
            </a:avLst>
          </a:prstGeom>
          <a:solidFill>
            <a:srgbClr val="EAF5FA"/>
          </a:solidFill>
          <a:ln w="12700">
            <a:solidFill>
              <a:srgbClr val="C9D6E2"/>
            </a:solidFill>
            <a:prstDash val="solid"/>
          </a:ln>
        </p:spPr>
      </p:sp>
      <p:sp>
        <p:nvSpPr>
          <p:cNvPr id="9" name="Text 7"/>
          <p:cNvSpPr/>
          <p:nvPr/>
        </p:nvSpPr>
        <p:spPr>
          <a:xfrm>
            <a:off x="66751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0E5A7A"/>
                </a:solidFill>
                <a:latin typeface="Aptos" pitchFamily="34" charset="0"/>
                <a:ea typeface="Aptos" pitchFamily="34" charset="-122"/>
                <a:cs typeface="Aptos" pitchFamily="34" charset="-120"/>
              </a:rPr>
              <a:t>“Lisod mangita ug kasaligan”</a:t>
            </a:r>
            <a:endParaRPr lang="en-US" sz="1600" dirty="0"/>
          </a:p>
        </p:txBody>
      </p:sp>
      <p:sp>
        <p:nvSpPr>
          <p:cNvPr id="10" name="Text 8"/>
          <p:cNvSpPr/>
          <p:nvPr/>
        </p:nvSpPr>
        <p:spPr>
          <a:xfrm>
            <a:off x="66751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Trust problem</a:t>
            </a:r>
            <a:endParaRPr lang="en-US" sz="1450" dirty="0"/>
          </a:p>
        </p:txBody>
      </p:sp>
      <p:sp>
        <p:nvSpPr>
          <p:cNvPr id="11" name="Shape 9"/>
          <p:cNvSpPr/>
          <p:nvPr/>
        </p:nvSpPr>
        <p:spPr>
          <a:xfrm>
            <a:off x="4297680" y="1508760"/>
            <a:ext cx="3566160" cy="1234440"/>
          </a:xfrm>
          <a:prstGeom prst="roundRect">
            <a:avLst>
              <a:gd name="adj" fmla="val 5926"/>
            </a:avLst>
          </a:prstGeom>
          <a:solidFill>
            <a:srgbClr val="FFF7D6"/>
          </a:solidFill>
          <a:ln w="12700">
            <a:solidFill>
              <a:srgbClr val="C9D6E2"/>
            </a:solidFill>
            <a:prstDash val="solid"/>
          </a:ln>
        </p:spPr>
      </p:sp>
      <p:sp>
        <p:nvSpPr>
          <p:cNvPr id="12" name="Text 10"/>
          <p:cNvSpPr/>
          <p:nvPr/>
        </p:nvSpPr>
        <p:spPr>
          <a:xfrm>
            <a:off x="446227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9A7100"/>
                </a:solidFill>
                <a:latin typeface="Aptos" pitchFamily="34" charset="0"/>
                <a:ea typeface="Aptos" pitchFamily="34" charset="-122"/>
                <a:cs typeface="Aptos" pitchFamily="34" charset="-120"/>
              </a:rPr>
              <a:t>“Walay klaro nga presyo”</a:t>
            </a:r>
            <a:endParaRPr lang="en-US" sz="1600" dirty="0"/>
          </a:p>
        </p:txBody>
      </p:sp>
      <p:sp>
        <p:nvSpPr>
          <p:cNvPr id="13" name="Text 11"/>
          <p:cNvSpPr/>
          <p:nvPr/>
        </p:nvSpPr>
        <p:spPr>
          <a:xfrm>
            <a:off x="446227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Pricing problem</a:t>
            </a:r>
            <a:endParaRPr lang="en-US" sz="1450" dirty="0"/>
          </a:p>
        </p:txBody>
      </p:sp>
      <p:sp>
        <p:nvSpPr>
          <p:cNvPr id="14" name="Shape 12"/>
          <p:cNvSpPr/>
          <p:nvPr/>
        </p:nvSpPr>
        <p:spPr>
          <a:xfrm>
            <a:off x="8092440" y="1508760"/>
            <a:ext cx="3566160" cy="1234440"/>
          </a:xfrm>
          <a:prstGeom prst="roundRect">
            <a:avLst>
              <a:gd name="adj" fmla="val 5926"/>
            </a:avLst>
          </a:prstGeom>
          <a:solidFill>
            <a:srgbClr val="FFF0F0"/>
          </a:solidFill>
          <a:ln w="12700">
            <a:solidFill>
              <a:srgbClr val="C9D6E2"/>
            </a:solidFill>
            <a:prstDash val="solid"/>
          </a:ln>
        </p:spPr>
      </p:sp>
      <p:sp>
        <p:nvSpPr>
          <p:cNvPr id="15" name="Text 13"/>
          <p:cNvSpPr/>
          <p:nvPr/>
        </p:nvSpPr>
        <p:spPr>
          <a:xfrm>
            <a:off x="825703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B00020"/>
                </a:solidFill>
                <a:latin typeface="Aptos" pitchFamily="34" charset="0"/>
                <a:ea typeface="Aptos" pitchFamily="34" charset="-122"/>
                <a:cs typeface="Aptos" pitchFamily="34" charset="-120"/>
              </a:rPr>
              <a:t>“Dugay mu-reply”</a:t>
            </a:r>
            <a:endParaRPr lang="en-US" sz="1600" dirty="0"/>
          </a:p>
        </p:txBody>
      </p:sp>
      <p:sp>
        <p:nvSpPr>
          <p:cNvPr id="16" name="Text 14"/>
          <p:cNvSpPr/>
          <p:nvPr/>
        </p:nvSpPr>
        <p:spPr>
          <a:xfrm>
            <a:off x="825703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Response problem</a:t>
            </a:r>
            <a:endParaRPr lang="en-US" sz="1450" dirty="0"/>
          </a:p>
        </p:txBody>
      </p:sp>
      <p:sp>
        <p:nvSpPr>
          <p:cNvPr id="17" name="Shape 15"/>
          <p:cNvSpPr/>
          <p:nvPr/>
        </p:nvSpPr>
        <p:spPr>
          <a:xfrm>
            <a:off x="502920" y="2999232"/>
            <a:ext cx="3566160" cy="1234440"/>
          </a:xfrm>
          <a:prstGeom prst="roundRect">
            <a:avLst>
              <a:gd name="adj" fmla="val 5926"/>
            </a:avLst>
          </a:prstGeom>
          <a:solidFill>
            <a:srgbClr val="ECF7ED"/>
          </a:solidFill>
          <a:ln w="12700">
            <a:solidFill>
              <a:srgbClr val="C9D6E2"/>
            </a:solidFill>
            <a:prstDash val="solid"/>
          </a:ln>
        </p:spPr>
      </p:sp>
      <p:sp>
        <p:nvSpPr>
          <p:cNvPr id="18" name="Text 16"/>
          <p:cNvSpPr/>
          <p:nvPr/>
        </p:nvSpPr>
        <p:spPr>
          <a:xfrm>
            <a:off x="667512" y="3127248"/>
            <a:ext cx="3236976" cy="274320"/>
          </a:xfrm>
          <a:prstGeom prst="rect">
            <a:avLst/>
          </a:prstGeom>
          <a:noFill/>
          <a:ln/>
        </p:spPr>
        <p:txBody>
          <a:bodyPr wrap="square" lIns="0" tIns="0" rIns="0" bIns="0" rtlCol="0" anchor="ctr">
            <a:normAutofit/>
          </a:bodyPr>
          <a:lstStyle/>
          <a:p>
            <a:pPr indent="0" marL="0">
              <a:buNone/>
            </a:pPr>
            <a:r>
              <a:rPr lang="en-US" sz="1600" b="1" dirty="0">
                <a:solidFill>
                  <a:srgbClr val="2E7D32"/>
                </a:solidFill>
                <a:latin typeface="Aptos" pitchFamily="34" charset="0"/>
                <a:ea typeface="Aptos" pitchFamily="34" charset="-122"/>
                <a:cs typeface="Aptos" pitchFamily="34" charset="-120"/>
              </a:rPr>
              <a:t>“Referral ra gyud mi magsalig”</a:t>
            </a:r>
            <a:endParaRPr lang="en-US" sz="1600" dirty="0"/>
          </a:p>
        </p:txBody>
      </p:sp>
      <p:sp>
        <p:nvSpPr>
          <p:cNvPr id="19" name="Text 17"/>
          <p:cNvSpPr/>
          <p:nvPr/>
        </p:nvSpPr>
        <p:spPr>
          <a:xfrm>
            <a:off x="667512" y="3474720"/>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Informal discovery</a:t>
            </a:r>
            <a:endParaRPr lang="en-US" sz="1450" dirty="0"/>
          </a:p>
        </p:txBody>
      </p:sp>
      <p:sp>
        <p:nvSpPr>
          <p:cNvPr id="20" name="Shape 18"/>
          <p:cNvSpPr/>
          <p:nvPr/>
        </p:nvSpPr>
        <p:spPr>
          <a:xfrm>
            <a:off x="4297680" y="2999232"/>
            <a:ext cx="3566160" cy="1234440"/>
          </a:xfrm>
          <a:prstGeom prst="roundRect">
            <a:avLst>
              <a:gd name="adj" fmla="val 5926"/>
            </a:avLst>
          </a:prstGeom>
          <a:solidFill>
            <a:srgbClr val="EAF5FA"/>
          </a:solidFill>
          <a:ln w="12700">
            <a:solidFill>
              <a:srgbClr val="C9D6E2"/>
            </a:solidFill>
            <a:prstDash val="solid"/>
          </a:ln>
        </p:spPr>
      </p:sp>
      <p:sp>
        <p:nvSpPr>
          <p:cNvPr id="21" name="Text 19"/>
          <p:cNvSpPr/>
          <p:nvPr/>
        </p:nvSpPr>
        <p:spPr>
          <a:xfrm>
            <a:off x="4462272" y="3127248"/>
            <a:ext cx="3236976" cy="274320"/>
          </a:xfrm>
          <a:prstGeom prst="rect">
            <a:avLst/>
          </a:prstGeom>
          <a:noFill/>
          <a:ln/>
        </p:spPr>
        <p:txBody>
          <a:bodyPr wrap="square" lIns="0" tIns="0" rIns="0" bIns="0" rtlCol="0" anchor="ctr">
            <a:normAutofit/>
          </a:bodyPr>
          <a:lstStyle/>
          <a:p>
            <a:pPr indent="0" marL="0">
              <a:buNone/>
            </a:pPr>
            <a:r>
              <a:rPr lang="en-US" sz="1600" b="1" dirty="0">
                <a:solidFill>
                  <a:srgbClr val="0E5A7A"/>
                </a:solidFill>
                <a:latin typeface="Aptos" pitchFamily="34" charset="0"/>
                <a:ea typeface="Aptos" pitchFamily="34" charset="-122"/>
                <a:cs typeface="Aptos" pitchFamily="34" charset="-120"/>
              </a:rPr>
              <a:t>“Wala ko kabalo kinsa duol”</a:t>
            </a:r>
            <a:endParaRPr lang="en-US" sz="1600" dirty="0"/>
          </a:p>
        </p:txBody>
      </p:sp>
      <p:sp>
        <p:nvSpPr>
          <p:cNvPr id="22" name="Text 20"/>
          <p:cNvSpPr/>
          <p:nvPr/>
        </p:nvSpPr>
        <p:spPr>
          <a:xfrm>
            <a:off x="4462272" y="3474720"/>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Location discovery</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Guide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Phase 6: Run the Concierge Pilot</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The first KAILA workflow should be manual, measurable, and repeatable.</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Guide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15</a:t>
            </a:r>
            <a:endParaRPr lang="en-US" sz="850" dirty="0"/>
          </a:p>
        </p:txBody>
      </p:sp>
      <p:sp>
        <p:nvSpPr>
          <p:cNvPr id="8" name="Shape 6"/>
          <p:cNvSpPr/>
          <p:nvPr/>
        </p:nvSpPr>
        <p:spPr>
          <a:xfrm>
            <a:off x="502920" y="1828800"/>
            <a:ext cx="1737360" cy="1234440"/>
          </a:xfrm>
          <a:prstGeom prst="chevron">
            <a:avLst/>
          </a:prstGeom>
          <a:solidFill>
            <a:srgbClr val="EAF5FA"/>
          </a:solidFill>
          <a:ln w="12700">
            <a:solidFill>
              <a:srgbClr val="0E5A7A"/>
            </a:solidFill>
            <a:prstDash val="solid"/>
          </a:ln>
        </p:spPr>
      </p:sp>
      <p:sp>
        <p:nvSpPr>
          <p:cNvPr id="9" name="Text 7"/>
          <p:cNvSpPr/>
          <p:nvPr/>
        </p:nvSpPr>
        <p:spPr>
          <a:xfrm>
            <a:off x="576072" y="2011680"/>
            <a:ext cx="292608" cy="320040"/>
          </a:xfrm>
          <a:prstGeom prst="rect">
            <a:avLst/>
          </a:prstGeom>
          <a:noFill/>
          <a:ln/>
        </p:spPr>
        <p:txBody>
          <a:bodyPr wrap="square" lIns="0" tIns="0" rIns="0" bIns="0" rtlCol="0" anchor="ctr"/>
          <a:lstStyle/>
          <a:p>
            <a:pPr algn="ctr" indent="0" marL="0">
              <a:buNone/>
            </a:pPr>
            <a:r>
              <a:rPr lang="en-US" sz="1800" b="1" dirty="0">
                <a:solidFill>
                  <a:srgbClr val="0E5A7A"/>
                </a:solidFill>
              </a:rPr>
              <a:t>1</a:t>
            </a:r>
            <a:endParaRPr lang="en-US" sz="1800" dirty="0"/>
          </a:p>
        </p:txBody>
      </p:sp>
      <p:sp>
        <p:nvSpPr>
          <p:cNvPr id="10" name="Text 8"/>
          <p:cNvSpPr/>
          <p:nvPr/>
        </p:nvSpPr>
        <p:spPr>
          <a:xfrm>
            <a:off x="886968" y="2029968"/>
            <a:ext cx="1170432" cy="310896"/>
          </a:xfrm>
          <a:prstGeom prst="rect">
            <a:avLst/>
          </a:prstGeom>
          <a:noFill/>
          <a:ln/>
        </p:spPr>
        <p:txBody>
          <a:bodyPr wrap="square" lIns="0" tIns="0" rIns="0" bIns="0" rtlCol="0" anchor="ctr">
            <a:normAutofit/>
          </a:bodyPr>
          <a:lstStyle/>
          <a:p>
            <a:pPr indent="0" marL="0">
              <a:buNone/>
            </a:pPr>
            <a:r>
              <a:rPr lang="en-US" sz="1370" b="1" dirty="0">
                <a:solidFill>
                  <a:srgbClr val="17324D"/>
                </a:solidFill>
              </a:rPr>
              <a:t>Client request</a:t>
            </a:r>
            <a:endParaRPr lang="en-US" sz="1370" dirty="0"/>
          </a:p>
        </p:txBody>
      </p:sp>
      <p:sp>
        <p:nvSpPr>
          <p:cNvPr id="11" name="Text 9"/>
          <p:cNvSpPr/>
          <p:nvPr/>
        </p:nvSpPr>
        <p:spPr>
          <a:xfrm>
            <a:off x="886968" y="2395728"/>
            <a:ext cx="1170432" cy="475488"/>
          </a:xfrm>
          <a:prstGeom prst="rect">
            <a:avLst/>
          </a:prstGeom>
          <a:noFill/>
          <a:ln/>
        </p:spPr>
        <p:txBody>
          <a:bodyPr wrap="square" lIns="0" tIns="0" rIns="0" bIns="0" rtlCol="0" anchor="ctr">
            <a:normAutofit/>
          </a:bodyPr>
          <a:lstStyle/>
          <a:p>
            <a:pPr indent="0" marL="0">
              <a:buNone/>
            </a:pPr>
            <a:r>
              <a:rPr lang="en-US" sz="1180" dirty="0">
                <a:solidFill>
                  <a:srgbClr val="17324D"/>
                </a:solidFill>
              </a:rPr>
              <a:t>Client submits form or messages page.</a:t>
            </a:r>
            <a:endParaRPr lang="en-US" sz="1180" dirty="0"/>
          </a:p>
        </p:txBody>
      </p:sp>
      <p:sp>
        <p:nvSpPr>
          <p:cNvPr id="12" name="Shape 10"/>
          <p:cNvSpPr/>
          <p:nvPr/>
        </p:nvSpPr>
        <p:spPr>
          <a:xfrm>
            <a:off x="2386584" y="1828800"/>
            <a:ext cx="1737360" cy="1234440"/>
          </a:xfrm>
          <a:prstGeom prst="chevron">
            <a:avLst/>
          </a:prstGeom>
          <a:solidFill>
            <a:srgbClr val="ECF7ED"/>
          </a:solidFill>
          <a:ln w="12700">
            <a:solidFill>
              <a:srgbClr val="2E7D32"/>
            </a:solidFill>
            <a:prstDash val="solid"/>
          </a:ln>
        </p:spPr>
      </p:sp>
      <p:sp>
        <p:nvSpPr>
          <p:cNvPr id="13" name="Text 11"/>
          <p:cNvSpPr/>
          <p:nvPr/>
        </p:nvSpPr>
        <p:spPr>
          <a:xfrm>
            <a:off x="2459736" y="2011680"/>
            <a:ext cx="292608" cy="320040"/>
          </a:xfrm>
          <a:prstGeom prst="rect">
            <a:avLst/>
          </a:prstGeom>
          <a:noFill/>
          <a:ln/>
        </p:spPr>
        <p:txBody>
          <a:bodyPr wrap="square" lIns="0" tIns="0" rIns="0" bIns="0" rtlCol="0" anchor="ctr"/>
          <a:lstStyle/>
          <a:p>
            <a:pPr algn="ctr" indent="0" marL="0">
              <a:buNone/>
            </a:pPr>
            <a:r>
              <a:rPr lang="en-US" sz="1800" b="1" dirty="0">
                <a:solidFill>
                  <a:srgbClr val="2E7D32"/>
                </a:solidFill>
              </a:rPr>
              <a:t>2</a:t>
            </a:r>
            <a:endParaRPr lang="en-US" sz="1800" dirty="0"/>
          </a:p>
        </p:txBody>
      </p:sp>
      <p:sp>
        <p:nvSpPr>
          <p:cNvPr id="14" name="Text 12"/>
          <p:cNvSpPr/>
          <p:nvPr/>
        </p:nvSpPr>
        <p:spPr>
          <a:xfrm>
            <a:off x="2770632" y="2029968"/>
            <a:ext cx="1170432" cy="310896"/>
          </a:xfrm>
          <a:prstGeom prst="rect">
            <a:avLst/>
          </a:prstGeom>
          <a:noFill/>
          <a:ln/>
        </p:spPr>
        <p:txBody>
          <a:bodyPr wrap="square" lIns="0" tIns="0" rIns="0" bIns="0" rtlCol="0" anchor="ctr">
            <a:normAutofit/>
          </a:bodyPr>
          <a:lstStyle/>
          <a:p>
            <a:pPr indent="0" marL="0">
              <a:buNone/>
            </a:pPr>
            <a:r>
              <a:rPr lang="en-US" sz="1370" b="1" dirty="0">
                <a:solidFill>
                  <a:srgbClr val="17324D"/>
                </a:solidFill>
              </a:rPr>
              <a:t>KAILA checks</a:t>
            </a:r>
            <a:endParaRPr lang="en-US" sz="1370" dirty="0"/>
          </a:p>
        </p:txBody>
      </p:sp>
      <p:sp>
        <p:nvSpPr>
          <p:cNvPr id="15" name="Text 13"/>
          <p:cNvSpPr/>
          <p:nvPr/>
        </p:nvSpPr>
        <p:spPr>
          <a:xfrm>
            <a:off x="2770632" y="2395728"/>
            <a:ext cx="1170432" cy="475488"/>
          </a:xfrm>
          <a:prstGeom prst="rect">
            <a:avLst/>
          </a:prstGeom>
          <a:noFill/>
          <a:ln/>
        </p:spPr>
        <p:txBody>
          <a:bodyPr wrap="square" lIns="0" tIns="0" rIns="0" bIns="0" rtlCol="0" anchor="ctr">
            <a:normAutofit/>
          </a:bodyPr>
          <a:lstStyle/>
          <a:p>
            <a:pPr indent="0" marL="0">
              <a:buNone/>
            </a:pPr>
            <a:r>
              <a:rPr lang="en-US" sz="1180" dirty="0">
                <a:solidFill>
                  <a:srgbClr val="17324D"/>
                </a:solidFill>
              </a:rPr>
              <a:t>Clarify category, location, budget, urgency.</a:t>
            </a:r>
            <a:endParaRPr lang="en-US" sz="1180" dirty="0"/>
          </a:p>
        </p:txBody>
      </p:sp>
      <p:sp>
        <p:nvSpPr>
          <p:cNvPr id="16" name="Shape 14"/>
          <p:cNvSpPr/>
          <p:nvPr/>
        </p:nvSpPr>
        <p:spPr>
          <a:xfrm>
            <a:off x="4270248" y="1828800"/>
            <a:ext cx="1737360" cy="1234440"/>
          </a:xfrm>
          <a:prstGeom prst="chevron">
            <a:avLst/>
          </a:prstGeom>
          <a:solidFill>
            <a:srgbClr val="EAF5FA"/>
          </a:solidFill>
          <a:ln w="12700">
            <a:solidFill>
              <a:srgbClr val="0E5A7A"/>
            </a:solidFill>
            <a:prstDash val="solid"/>
          </a:ln>
        </p:spPr>
      </p:sp>
      <p:sp>
        <p:nvSpPr>
          <p:cNvPr id="17" name="Text 15"/>
          <p:cNvSpPr/>
          <p:nvPr/>
        </p:nvSpPr>
        <p:spPr>
          <a:xfrm>
            <a:off x="4343400" y="2011680"/>
            <a:ext cx="292608" cy="320040"/>
          </a:xfrm>
          <a:prstGeom prst="rect">
            <a:avLst/>
          </a:prstGeom>
          <a:noFill/>
          <a:ln/>
        </p:spPr>
        <p:txBody>
          <a:bodyPr wrap="square" lIns="0" tIns="0" rIns="0" bIns="0" rtlCol="0" anchor="ctr"/>
          <a:lstStyle/>
          <a:p>
            <a:pPr algn="ctr" indent="0" marL="0">
              <a:buNone/>
            </a:pPr>
            <a:r>
              <a:rPr lang="en-US" sz="1800" b="1" dirty="0">
                <a:solidFill>
                  <a:srgbClr val="0E5A7A"/>
                </a:solidFill>
              </a:rPr>
              <a:t>3</a:t>
            </a:r>
            <a:endParaRPr lang="en-US" sz="1800" dirty="0"/>
          </a:p>
        </p:txBody>
      </p:sp>
      <p:sp>
        <p:nvSpPr>
          <p:cNvPr id="18" name="Text 16"/>
          <p:cNvSpPr/>
          <p:nvPr/>
        </p:nvSpPr>
        <p:spPr>
          <a:xfrm>
            <a:off x="4654296" y="2029968"/>
            <a:ext cx="1170432" cy="310896"/>
          </a:xfrm>
          <a:prstGeom prst="rect">
            <a:avLst/>
          </a:prstGeom>
          <a:noFill/>
          <a:ln/>
        </p:spPr>
        <p:txBody>
          <a:bodyPr wrap="square" lIns="0" tIns="0" rIns="0" bIns="0" rtlCol="0" anchor="ctr">
            <a:normAutofit/>
          </a:bodyPr>
          <a:lstStyle/>
          <a:p>
            <a:pPr indent="0" marL="0">
              <a:buNone/>
            </a:pPr>
            <a:r>
              <a:rPr lang="en-US" sz="1370" b="1" dirty="0">
                <a:solidFill>
                  <a:srgbClr val="17324D"/>
                </a:solidFill>
              </a:rPr>
              <a:t>Forward request</a:t>
            </a:r>
            <a:endParaRPr lang="en-US" sz="1370" dirty="0"/>
          </a:p>
        </p:txBody>
      </p:sp>
      <p:sp>
        <p:nvSpPr>
          <p:cNvPr id="19" name="Text 17"/>
          <p:cNvSpPr/>
          <p:nvPr/>
        </p:nvSpPr>
        <p:spPr>
          <a:xfrm>
            <a:off x="4654296" y="2395728"/>
            <a:ext cx="1170432" cy="475488"/>
          </a:xfrm>
          <a:prstGeom prst="rect">
            <a:avLst/>
          </a:prstGeom>
          <a:noFill/>
          <a:ln/>
        </p:spPr>
        <p:txBody>
          <a:bodyPr wrap="square" lIns="0" tIns="0" rIns="0" bIns="0" rtlCol="0" anchor="ctr">
            <a:normAutofit/>
          </a:bodyPr>
          <a:lstStyle/>
          <a:p>
            <a:pPr indent="0" marL="0">
              <a:buNone/>
            </a:pPr>
            <a:r>
              <a:rPr lang="en-US" sz="1180" dirty="0">
                <a:solidFill>
                  <a:srgbClr val="17324D"/>
                </a:solidFill>
              </a:rPr>
              <a:t>Send to 3–5 matching providers.</a:t>
            </a:r>
            <a:endParaRPr lang="en-US" sz="1180" dirty="0"/>
          </a:p>
        </p:txBody>
      </p:sp>
      <p:sp>
        <p:nvSpPr>
          <p:cNvPr id="20" name="Shape 18"/>
          <p:cNvSpPr/>
          <p:nvPr/>
        </p:nvSpPr>
        <p:spPr>
          <a:xfrm>
            <a:off x="6153912" y="1828800"/>
            <a:ext cx="1737360" cy="1234440"/>
          </a:xfrm>
          <a:prstGeom prst="chevron">
            <a:avLst/>
          </a:prstGeom>
          <a:solidFill>
            <a:srgbClr val="ECF7ED"/>
          </a:solidFill>
          <a:ln w="12700">
            <a:solidFill>
              <a:srgbClr val="2E7D32"/>
            </a:solidFill>
            <a:prstDash val="solid"/>
          </a:ln>
        </p:spPr>
      </p:sp>
      <p:sp>
        <p:nvSpPr>
          <p:cNvPr id="21" name="Text 19"/>
          <p:cNvSpPr/>
          <p:nvPr/>
        </p:nvSpPr>
        <p:spPr>
          <a:xfrm>
            <a:off x="6227064" y="2011680"/>
            <a:ext cx="292608" cy="320040"/>
          </a:xfrm>
          <a:prstGeom prst="rect">
            <a:avLst/>
          </a:prstGeom>
          <a:noFill/>
          <a:ln/>
        </p:spPr>
        <p:txBody>
          <a:bodyPr wrap="square" lIns="0" tIns="0" rIns="0" bIns="0" rtlCol="0" anchor="ctr"/>
          <a:lstStyle/>
          <a:p>
            <a:pPr algn="ctr" indent="0" marL="0">
              <a:buNone/>
            </a:pPr>
            <a:r>
              <a:rPr lang="en-US" sz="1800" b="1" dirty="0">
                <a:solidFill>
                  <a:srgbClr val="2E7D32"/>
                </a:solidFill>
              </a:rPr>
              <a:t>4</a:t>
            </a:r>
            <a:endParaRPr lang="en-US" sz="1800" dirty="0"/>
          </a:p>
        </p:txBody>
      </p:sp>
      <p:sp>
        <p:nvSpPr>
          <p:cNvPr id="22" name="Text 20"/>
          <p:cNvSpPr/>
          <p:nvPr/>
        </p:nvSpPr>
        <p:spPr>
          <a:xfrm>
            <a:off x="6537960" y="2029968"/>
            <a:ext cx="1170432" cy="310896"/>
          </a:xfrm>
          <a:prstGeom prst="rect">
            <a:avLst/>
          </a:prstGeom>
          <a:noFill/>
          <a:ln/>
        </p:spPr>
        <p:txBody>
          <a:bodyPr wrap="square" lIns="0" tIns="0" rIns="0" bIns="0" rtlCol="0" anchor="ctr">
            <a:normAutofit/>
          </a:bodyPr>
          <a:lstStyle/>
          <a:p>
            <a:pPr indent="0" marL="0">
              <a:buNone/>
            </a:pPr>
            <a:r>
              <a:rPr lang="en-US" sz="1370" b="1" dirty="0">
                <a:solidFill>
                  <a:srgbClr val="17324D"/>
                </a:solidFill>
              </a:rPr>
              <a:t>Offers received</a:t>
            </a:r>
            <a:endParaRPr lang="en-US" sz="1370" dirty="0"/>
          </a:p>
        </p:txBody>
      </p:sp>
      <p:sp>
        <p:nvSpPr>
          <p:cNvPr id="23" name="Text 21"/>
          <p:cNvSpPr/>
          <p:nvPr/>
        </p:nvSpPr>
        <p:spPr>
          <a:xfrm>
            <a:off x="6537960" y="2395728"/>
            <a:ext cx="1170432" cy="475488"/>
          </a:xfrm>
          <a:prstGeom prst="rect">
            <a:avLst/>
          </a:prstGeom>
          <a:noFill/>
          <a:ln/>
        </p:spPr>
        <p:txBody>
          <a:bodyPr wrap="square" lIns="0" tIns="0" rIns="0" bIns="0" rtlCol="0" anchor="ctr">
            <a:normAutofit/>
          </a:bodyPr>
          <a:lstStyle/>
          <a:p>
            <a:pPr indent="0" marL="0">
              <a:buNone/>
            </a:pPr>
            <a:r>
              <a:rPr lang="en-US" sz="1180" dirty="0">
                <a:solidFill>
                  <a:srgbClr val="17324D"/>
                </a:solidFill>
              </a:rPr>
              <a:t>Record price, availability, response time.</a:t>
            </a:r>
            <a:endParaRPr lang="en-US" sz="1180" dirty="0"/>
          </a:p>
        </p:txBody>
      </p:sp>
      <p:sp>
        <p:nvSpPr>
          <p:cNvPr id="24" name="Shape 22"/>
          <p:cNvSpPr/>
          <p:nvPr/>
        </p:nvSpPr>
        <p:spPr>
          <a:xfrm>
            <a:off x="8037576" y="1828800"/>
            <a:ext cx="1737360" cy="1234440"/>
          </a:xfrm>
          <a:prstGeom prst="chevron">
            <a:avLst/>
          </a:prstGeom>
          <a:solidFill>
            <a:srgbClr val="EAF5FA"/>
          </a:solidFill>
          <a:ln w="12700">
            <a:solidFill>
              <a:srgbClr val="0E5A7A"/>
            </a:solidFill>
            <a:prstDash val="solid"/>
          </a:ln>
        </p:spPr>
      </p:sp>
      <p:sp>
        <p:nvSpPr>
          <p:cNvPr id="25" name="Text 23"/>
          <p:cNvSpPr/>
          <p:nvPr/>
        </p:nvSpPr>
        <p:spPr>
          <a:xfrm>
            <a:off x="8110728" y="2011680"/>
            <a:ext cx="292608" cy="320040"/>
          </a:xfrm>
          <a:prstGeom prst="rect">
            <a:avLst/>
          </a:prstGeom>
          <a:noFill/>
          <a:ln/>
        </p:spPr>
        <p:txBody>
          <a:bodyPr wrap="square" lIns="0" tIns="0" rIns="0" bIns="0" rtlCol="0" anchor="ctr"/>
          <a:lstStyle/>
          <a:p>
            <a:pPr algn="ctr" indent="0" marL="0">
              <a:buNone/>
            </a:pPr>
            <a:r>
              <a:rPr lang="en-US" sz="1800" b="1" dirty="0">
                <a:solidFill>
                  <a:srgbClr val="0E5A7A"/>
                </a:solidFill>
              </a:rPr>
              <a:t>5</a:t>
            </a:r>
            <a:endParaRPr lang="en-US" sz="1800" dirty="0"/>
          </a:p>
        </p:txBody>
      </p:sp>
      <p:sp>
        <p:nvSpPr>
          <p:cNvPr id="26" name="Text 24"/>
          <p:cNvSpPr/>
          <p:nvPr/>
        </p:nvSpPr>
        <p:spPr>
          <a:xfrm>
            <a:off x="8421624" y="2029968"/>
            <a:ext cx="1170432" cy="310896"/>
          </a:xfrm>
          <a:prstGeom prst="rect">
            <a:avLst/>
          </a:prstGeom>
          <a:noFill/>
          <a:ln/>
        </p:spPr>
        <p:txBody>
          <a:bodyPr wrap="square" lIns="0" tIns="0" rIns="0" bIns="0" rtlCol="0" anchor="ctr">
            <a:normAutofit/>
          </a:bodyPr>
          <a:lstStyle/>
          <a:p>
            <a:pPr indent="0" marL="0">
              <a:buNone/>
            </a:pPr>
            <a:r>
              <a:rPr lang="en-US" sz="1370" b="1" dirty="0">
                <a:solidFill>
                  <a:srgbClr val="17324D"/>
                </a:solidFill>
              </a:rPr>
              <a:t>Client chooses</a:t>
            </a:r>
            <a:endParaRPr lang="en-US" sz="1370" dirty="0"/>
          </a:p>
        </p:txBody>
      </p:sp>
      <p:sp>
        <p:nvSpPr>
          <p:cNvPr id="27" name="Text 25"/>
          <p:cNvSpPr/>
          <p:nvPr/>
        </p:nvSpPr>
        <p:spPr>
          <a:xfrm>
            <a:off x="8421624" y="2395728"/>
            <a:ext cx="1170432" cy="475488"/>
          </a:xfrm>
          <a:prstGeom prst="rect">
            <a:avLst/>
          </a:prstGeom>
          <a:noFill/>
          <a:ln/>
        </p:spPr>
        <p:txBody>
          <a:bodyPr wrap="square" lIns="0" tIns="0" rIns="0" bIns="0" rtlCol="0" anchor="ctr">
            <a:normAutofit/>
          </a:bodyPr>
          <a:lstStyle/>
          <a:p>
            <a:pPr indent="0" marL="0">
              <a:buNone/>
            </a:pPr>
            <a:r>
              <a:rPr lang="en-US" sz="1180" dirty="0">
                <a:solidFill>
                  <a:srgbClr val="17324D"/>
                </a:solidFill>
              </a:rPr>
              <a:t>Share comparison and confirm choice.</a:t>
            </a:r>
            <a:endParaRPr lang="en-US" sz="1180" dirty="0"/>
          </a:p>
        </p:txBody>
      </p:sp>
      <p:sp>
        <p:nvSpPr>
          <p:cNvPr id="28" name="Shape 26"/>
          <p:cNvSpPr/>
          <p:nvPr/>
        </p:nvSpPr>
        <p:spPr>
          <a:xfrm>
            <a:off x="9921240" y="1828800"/>
            <a:ext cx="1737360" cy="1234440"/>
          </a:xfrm>
          <a:prstGeom prst="chevron">
            <a:avLst/>
          </a:prstGeom>
          <a:solidFill>
            <a:srgbClr val="ECF7ED"/>
          </a:solidFill>
          <a:ln w="12700">
            <a:solidFill>
              <a:srgbClr val="2E7D32"/>
            </a:solidFill>
            <a:prstDash val="solid"/>
          </a:ln>
        </p:spPr>
      </p:sp>
      <p:sp>
        <p:nvSpPr>
          <p:cNvPr id="29" name="Text 27"/>
          <p:cNvSpPr/>
          <p:nvPr/>
        </p:nvSpPr>
        <p:spPr>
          <a:xfrm>
            <a:off x="9994392" y="2011680"/>
            <a:ext cx="292608" cy="320040"/>
          </a:xfrm>
          <a:prstGeom prst="rect">
            <a:avLst/>
          </a:prstGeom>
          <a:noFill/>
          <a:ln/>
        </p:spPr>
        <p:txBody>
          <a:bodyPr wrap="square" lIns="0" tIns="0" rIns="0" bIns="0" rtlCol="0" anchor="ctr"/>
          <a:lstStyle/>
          <a:p>
            <a:pPr algn="ctr" indent="0" marL="0">
              <a:buNone/>
            </a:pPr>
            <a:r>
              <a:rPr lang="en-US" sz="1800" b="1" dirty="0">
                <a:solidFill>
                  <a:srgbClr val="2E7D32"/>
                </a:solidFill>
              </a:rPr>
              <a:t>6</a:t>
            </a:r>
            <a:endParaRPr lang="en-US" sz="1800" dirty="0"/>
          </a:p>
        </p:txBody>
      </p:sp>
      <p:sp>
        <p:nvSpPr>
          <p:cNvPr id="30" name="Text 28"/>
          <p:cNvSpPr/>
          <p:nvPr/>
        </p:nvSpPr>
        <p:spPr>
          <a:xfrm>
            <a:off x="10305288" y="2029968"/>
            <a:ext cx="1170432" cy="310896"/>
          </a:xfrm>
          <a:prstGeom prst="rect">
            <a:avLst/>
          </a:prstGeom>
          <a:noFill/>
          <a:ln/>
        </p:spPr>
        <p:txBody>
          <a:bodyPr wrap="square" lIns="0" tIns="0" rIns="0" bIns="0" rtlCol="0" anchor="ctr">
            <a:normAutofit/>
          </a:bodyPr>
          <a:lstStyle/>
          <a:p>
            <a:pPr indent="0" marL="0">
              <a:buNone/>
            </a:pPr>
            <a:r>
              <a:rPr lang="en-US" sz="1370" b="1" dirty="0">
                <a:solidFill>
                  <a:srgbClr val="17324D"/>
                </a:solidFill>
              </a:rPr>
              <a:t>Job + ratings</a:t>
            </a:r>
            <a:endParaRPr lang="en-US" sz="1370" dirty="0"/>
          </a:p>
        </p:txBody>
      </p:sp>
      <p:sp>
        <p:nvSpPr>
          <p:cNvPr id="31" name="Text 29"/>
          <p:cNvSpPr/>
          <p:nvPr/>
        </p:nvSpPr>
        <p:spPr>
          <a:xfrm>
            <a:off x="10305288" y="2395728"/>
            <a:ext cx="1170432" cy="475488"/>
          </a:xfrm>
          <a:prstGeom prst="rect">
            <a:avLst/>
          </a:prstGeom>
          <a:noFill/>
          <a:ln/>
        </p:spPr>
        <p:txBody>
          <a:bodyPr wrap="square" lIns="0" tIns="0" rIns="0" bIns="0" rtlCol="0" anchor="ctr">
            <a:normAutofit/>
          </a:bodyPr>
          <a:lstStyle/>
          <a:p>
            <a:pPr indent="0" marL="0">
              <a:buNone/>
            </a:pPr>
            <a:r>
              <a:rPr lang="en-US" sz="1180" dirty="0">
                <a:solidFill>
                  <a:srgbClr val="17324D"/>
                </a:solidFill>
              </a:rPr>
              <a:t>Track completion and collect ratings.</a:t>
            </a:r>
            <a:endParaRPr lang="en-US" sz="1180" dirty="0"/>
          </a:p>
        </p:txBody>
      </p:sp>
      <p:sp>
        <p:nvSpPr>
          <p:cNvPr id="32" name="Text 30"/>
          <p:cNvSpPr/>
          <p:nvPr/>
        </p:nvSpPr>
        <p:spPr>
          <a:xfrm>
            <a:off x="502920" y="3886200"/>
            <a:ext cx="11155680" cy="822960"/>
          </a:xfrm>
          <a:prstGeom prst="rect">
            <a:avLst/>
          </a:prstGeom>
          <a:noFill/>
          <a:ln/>
        </p:spPr>
        <p:txBody>
          <a:bodyPr wrap="square" lIns="635" tIns="635" rIns="635" bIns="635" rtlCol="0" anchor="ctr">
            <a:normAutofit/>
          </a:bodyPr>
          <a:lstStyle/>
          <a:p>
            <a:pPr indent="0" marL="0">
              <a:buNone/>
            </a:pPr>
            <a:r>
              <a:rPr lang="en-US" sz="2200" b="1" dirty="0">
                <a:solidFill>
                  <a:srgbClr val="17324D"/>
                </a:solidFill>
              </a:rPr>
              <a:t>Record every step: request time, providers contacted, response time, offers, selected provider, agreed amount, completion, ratings, and issues.</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Guide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Phase 7: Track the Right Metrics</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The pilot must be judged by evidence, not excitement.</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Guide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16</a:t>
            </a:r>
            <a:endParaRPr lang="en-US" sz="850" dirty="0"/>
          </a:p>
        </p:txBody>
      </p:sp>
      <p:sp>
        <p:nvSpPr>
          <p:cNvPr id="8" name="Text 6"/>
          <p:cNvSpPr/>
          <p:nvPr/>
        </p:nvSpPr>
        <p:spPr>
          <a:xfrm>
            <a:off x="502920" y="1380744"/>
            <a:ext cx="274320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447288" y="1380744"/>
            <a:ext cx="821131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2743200" cy="500634"/>
          </a:xfrm>
          <a:prstGeom prst="rect">
            <a:avLst/>
          </a:prstGeom>
          <a:noFill/>
          <a:ln/>
        </p:spPr>
        <p:txBody>
          <a:bodyPr wrap="square" lIns="0" tIns="0" rIns="0" bIns="0" rtlCol="0" anchor="ctr">
            <a:normAutofit/>
          </a:bodyPr>
          <a:lstStyle/>
          <a:p>
            <a:pPr indent="0" marL="0">
              <a:buNone/>
            </a:pPr>
            <a:r>
              <a:rPr lang="en-US" sz="1590" b="1" dirty="0">
                <a:solidFill>
                  <a:srgbClr val="17324D"/>
                </a:solidFill>
                <a:latin typeface="Aptos" pitchFamily="34" charset="0"/>
                <a:ea typeface="Aptos" pitchFamily="34" charset="-122"/>
                <a:cs typeface="Aptos" pitchFamily="34" charset="-120"/>
              </a:rPr>
              <a:t>Active providers</a:t>
            </a:r>
            <a:endParaRPr lang="en-US" sz="1590" dirty="0"/>
          </a:p>
        </p:txBody>
      </p:sp>
      <p:sp>
        <p:nvSpPr>
          <p:cNvPr id="11" name="Text 9"/>
          <p:cNvSpPr/>
          <p:nvPr/>
        </p:nvSpPr>
        <p:spPr>
          <a:xfrm>
            <a:off x="3447288" y="1700784"/>
            <a:ext cx="8211312" cy="500634"/>
          </a:xfrm>
          <a:prstGeom prst="rect">
            <a:avLst/>
          </a:prstGeom>
          <a:noFill/>
          <a:ln/>
        </p:spPr>
        <p:txBody>
          <a:bodyPr wrap="square" lIns="0" tIns="0" rIns="0" bIns="0" rtlCol="0" anchor="ctr">
            <a:normAutofit/>
          </a:bodyPr>
          <a:lstStyle/>
          <a:p>
            <a:pPr indent="0" marL="0">
              <a:buNone/>
            </a:pPr>
            <a:r>
              <a:rPr lang="en-US" sz="1590" dirty="0">
                <a:solidFill>
                  <a:srgbClr val="17324D"/>
                </a:solidFill>
                <a:latin typeface="Aptos" pitchFamily="34" charset="0"/>
                <a:ea typeface="Aptos" pitchFamily="34" charset="-122"/>
                <a:cs typeface="Aptos" pitchFamily="34" charset="-120"/>
              </a:rPr>
              <a:t>Shows supply strength and category readiness.</a:t>
            </a:r>
            <a:endParaRPr lang="en-US" sz="159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2743200" cy="500634"/>
          </a:xfrm>
          <a:prstGeom prst="rect">
            <a:avLst/>
          </a:prstGeom>
          <a:noFill/>
          <a:ln/>
        </p:spPr>
        <p:txBody>
          <a:bodyPr wrap="square" lIns="0" tIns="0" rIns="0" bIns="0" rtlCol="0" anchor="ctr">
            <a:normAutofit/>
          </a:bodyPr>
          <a:lstStyle/>
          <a:p>
            <a:pPr indent="0" marL="0">
              <a:buNone/>
            </a:pPr>
            <a:r>
              <a:rPr lang="en-US" sz="1590" b="1" dirty="0">
                <a:solidFill>
                  <a:srgbClr val="17324D"/>
                </a:solidFill>
                <a:latin typeface="Aptos" pitchFamily="34" charset="0"/>
                <a:ea typeface="Aptos" pitchFamily="34" charset="-122"/>
                <a:cs typeface="Aptos" pitchFamily="34" charset="-120"/>
              </a:rPr>
              <a:t>Requests</a:t>
            </a:r>
            <a:endParaRPr lang="en-US" sz="1590" dirty="0"/>
          </a:p>
        </p:txBody>
      </p:sp>
      <p:sp>
        <p:nvSpPr>
          <p:cNvPr id="14" name="Text 12"/>
          <p:cNvSpPr/>
          <p:nvPr/>
        </p:nvSpPr>
        <p:spPr>
          <a:xfrm>
            <a:off x="3447288" y="2274570"/>
            <a:ext cx="8211312" cy="500634"/>
          </a:xfrm>
          <a:prstGeom prst="rect">
            <a:avLst/>
          </a:prstGeom>
          <a:noFill/>
          <a:ln/>
        </p:spPr>
        <p:txBody>
          <a:bodyPr wrap="square" lIns="0" tIns="0" rIns="0" bIns="0" rtlCol="0" anchor="ctr">
            <a:normAutofit/>
          </a:bodyPr>
          <a:lstStyle/>
          <a:p>
            <a:pPr indent="0" marL="0">
              <a:buNone/>
            </a:pPr>
            <a:r>
              <a:rPr lang="en-US" sz="1590" dirty="0">
                <a:solidFill>
                  <a:srgbClr val="17324D"/>
                </a:solidFill>
                <a:latin typeface="Aptos" pitchFamily="34" charset="0"/>
                <a:ea typeface="Aptos" pitchFamily="34" charset="-122"/>
                <a:cs typeface="Aptos" pitchFamily="34" charset="-120"/>
              </a:rPr>
              <a:t>Shows demand from clients.</a:t>
            </a:r>
            <a:endParaRPr lang="en-US" sz="159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2743200" cy="500634"/>
          </a:xfrm>
          <a:prstGeom prst="rect">
            <a:avLst/>
          </a:prstGeom>
          <a:noFill/>
          <a:ln/>
        </p:spPr>
        <p:txBody>
          <a:bodyPr wrap="square" lIns="0" tIns="0" rIns="0" bIns="0" rtlCol="0" anchor="ctr">
            <a:normAutofit/>
          </a:bodyPr>
          <a:lstStyle/>
          <a:p>
            <a:pPr indent="0" marL="0">
              <a:buNone/>
            </a:pPr>
            <a:r>
              <a:rPr lang="en-US" sz="1590" b="1" dirty="0">
                <a:solidFill>
                  <a:srgbClr val="17324D"/>
                </a:solidFill>
                <a:latin typeface="Aptos" pitchFamily="34" charset="0"/>
                <a:ea typeface="Aptos" pitchFamily="34" charset="-122"/>
                <a:cs typeface="Aptos" pitchFamily="34" charset="-120"/>
              </a:rPr>
              <a:t>Response rate</a:t>
            </a:r>
            <a:endParaRPr lang="en-US" sz="1590" dirty="0"/>
          </a:p>
        </p:txBody>
      </p:sp>
      <p:sp>
        <p:nvSpPr>
          <p:cNvPr id="17" name="Text 15"/>
          <p:cNvSpPr/>
          <p:nvPr/>
        </p:nvSpPr>
        <p:spPr>
          <a:xfrm>
            <a:off x="3447288" y="2848356"/>
            <a:ext cx="8211312" cy="500634"/>
          </a:xfrm>
          <a:prstGeom prst="rect">
            <a:avLst/>
          </a:prstGeom>
          <a:noFill/>
          <a:ln/>
        </p:spPr>
        <p:txBody>
          <a:bodyPr wrap="square" lIns="0" tIns="0" rIns="0" bIns="0" rtlCol="0" anchor="ctr">
            <a:normAutofit/>
          </a:bodyPr>
          <a:lstStyle/>
          <a:p>
            <a:pPr indent="0" marL="0">
              <a:buNone/>
            </a:pPr>
            <a:r>
              <a:rPr lang="en-US" sz="1590" dirty="0">
                <a:solidFill>
                  <a:srgbClr val="17324D"/>
                </a:solidFill>
                <a:latin typeface="Aptos" pitchFamily="34" charset="0"/>
                <a:ea typeface="Aptos" pitchFamily="34" charset="-122"/>
                <a:cs typeface="Aptos" pitchFamily="34" charset="-120"/>
              </a:rPr>
              <a:t>Shows provider seriousness.</a:t>
            </a:r>
            <a:endParaRPr lang="en-US" sz="159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2743200" cy="500634"/>
          </a:xfrm>
          <a:prstGeom prst="rect">
            <a:avLst/>
          </a:prstGeom>
          <a:noFill/>
          <a:ln/>
        </p:spPr>
        <p:txBody>
          <a:bodyPr wrap="square" lIns="0" tIns="0" rIns="0" bIns="0" rtlCol="0" anchor="ctr">
            <a:normAutofit/>
          </a:bodyPr>
          <a:lstStyle/>
          <a:p>
            <a:pPr indent="0" marL="0">
              <a:buNone/>
            </a:pPr>
            <a:r>
              <a:rPr lang="en-US" sz="1590" b="1" dirty="0">
                <a:solidFill>
                  <a:srgbClr val="17324D"/>
                </a:solidFill>
                <a:latin typeface="Aptos" pitchFamily="34" charset="0"/>
                <a:ea typeface="Aptos" pitchFamily="34" charset="-122"/>
                <a:cs typeface="Aptos" pitchFamily="34" charset="-120"/>
              </a:rPr>
              <a:t>Offers per request</a:t>
            </a:r>
            <a:endParaRPr lang="en-US" sz="1590" dirty="0"/>
          </a:p>
        </p:txBody>
      </p:sp>
      <p:sp>
        <p:nvSpPr>
          <p:cNvPr id="20" name="Text 18"/>
          <p:cNvSpPr/>
          <p:nvPr/>
        </p:nvSpPr>
        <p:spPr>
          <a:xfrm>
            <a:off x="3447288" y="3422142"/>
            <a:ext cx="8211312" cy="500634"/>
          </a:xfrm>
          <a:prstGeom prst="rect">
            <a:avLst/>
          </a:prstGeom>
          <a:noFill/>
          <a:ln/>
        </p:spPr>
        <p:txBody>
          <a:bodyPr wrap="square" lIns="0" tIns="0" rIns="0" bIns="0" rtlCol="0" anchor="ctr">
            <a:normAutofit/>
          </a:bodyPr>
          <a:lstStyle/>
          <a:p>
            <a:pPr indent="0" marL="0">
              <a:buNone/>
            </a:pPr>
            <a:r>
              <a:rPr lang="en-US" sz="1590" dirty="0">
                <a:solidFill>
                  <a:srgbClr val="17324D"/>
                </a:solidFill>
                <a:latin typeface="Aptos" pitchFamily="34" charset="0"/>
                <a:ea typeface="Aptos" pitchFamily="34" charset="-122"/>
                <a:cs typeface="Aptos" pitchFamily="34" charset="-120"/>
              </a:rPr>
              <a:t>Shows marketplace activity.</a:t>
            </a:r>
            <a:endParaRPr lang="en-US" sz="159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2743200" cy="500634"/>
          </a:xfrm>
          <a:prstGeom prst="rect">
            <a:avLst/>
          </a:prstGeom>
          <a:noFill/>
          <a:ln/>
        </p:spPr>
        <p:txBody>
          <a:bodyPr wrap="square" lIns="0" tIns="0" rIns="0" bIns="0" rtlCol="0" anchor="ctr">
            <a:normAutofit/>
          </a:bodyPr>
          <a:lstStyle/>
          <a:p>
            <a:pPr indent="0" marL="0">
              <a:buNone/>
            </a:pPr>
            <a:r>
              <a:rPr lang="en-US" sz="1590" b="1" dirty="0">
                <a:solidFill>
                  <a:srgbClr val="17324D"/>
                </a:solidFill>
                <a:latin typeface="Aptos" pitchFamily="34" charset="0"/>
                <a:ea typeface="Aptos" pitchFamily="34" charset="-122"/>
                <a:cs typeface="Aptos" pitchFamily="34" charset="-120"/>
              </a:rPr>
              <a:t>Completed jobs</a:t>
            </a:r>
            <a:endParaRPr lang="en-US" sz="1590" dirty="0"/>
          </a:p>
        </p:txBody>
      </p:sp>
      <p:sp>
        <p:nvSpPr>
          <p:cNvPr id="23" name="Text 21"/>
          <p:cNvSpPr/>
          <p:nvPr/>
        </p:nvSpPr>
        <p:spPr>
          <a:xfrm>
            <a:off x="3447288" y="3995928"/>
            <a:ext cx="8211312" cy="500634"/>
          </a:xfrm>
          <a:prstGeom prst="rect">
            <a:avLst/>
          </a:prstGeom>
          <a:noFill/>
          <a:ln/>
        </p:spPr>
        <p:txBody>
          <a:bodyPr wrap="square" lIns="0" tIns="0" rIns="0" bIns="0" rtlCol="0" anchor="ctr">
            <a:normAutofit/>
          </a:bodyPr>
          <a:lstStyle/>
          <a:p>
            <a:pPr indent="0" marL="0">
              <a:buNone/>
            </a:pPr>
            <a:r>
              <a:rPr lang="en-US" sz="1590" dirty="0">
                <a:solidFill>
                  <a:srgbClr val="17324D"/>
                </a:solidFill>
                <a:latin typeface="Aptos" pitchFamily="34" charset="0"/>
                <a:ea typeface="Aptos" pitchFamily="34" charset="-122"/>
                <a:cs typeface="Aptos" pitchFamily="34" charset="-120"/>
              </a:rPr>
              <a:t>Shows actual value created.</a:t>
            </a:r>
            <a:endParaRPr lang="en-US" sz="159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2743200" cy="500634"/>
          </a:xfrm>
          <a:prstGeom prst="rect">
            <a:avLst/>
          </a:prstGeom>
          <a:noFill/>
          <a:ln/>
        </p:spPr>
        <p:txBody>
          <a:bodyPr wrap="square" lIns="0" tIns="0" rIns="0" bIns="0" rtlCol="0" anchor="ctr">
            <a:normAutofit/>
          </a:bodyPr>
          <a:lstStyle/>
          <a:p>
            <a:pPr indent="0" marL="0">
              <a:buNone/>
            </a:pPr>
            <a:r>
              <a:rPr lang="en-US" sz="1590" b="1" dirty="0">
                <a:solidFill>
                  <a:srgbClr val="17324D"/>
                </a:solidFill>
                <a:latin typeface="Aptos" pitchFamily="34" charset="0"/>
                <a:ea typeface="Aptos" pitchFamily="34" charset="-122"/>
                <a:cs typeface="Aptos" pitchFamily="34" charset="-120"/>
              </a:rPr>
              <a:t>Ratings</a:t>
            </a:r>
            <a:endParaRPr lang="en-US" sz="1590" dirty="0"/>
          </a:p>
        </p:txBody>
      </p:sp>
      <p:sp>
        <p:nvSpPr>
          <p:cNvPr id="26" name="Text 24"/>
          <p:cNvSpPr/>
          <p:nvPr/>
        </p:nvSpPr>
        <p:spPr>
          <a:xfrm>
            <a:off x="3447288" y="4569714"/>
            <a:ext cx="8211312" cy="500634"/>
          </a:xfrm>
          <a:prstGeom prst="rect">
            <a:avLst/>
          </a:prstGeom>
          <a:noFill/>
          <a:ln/>
        </p:spPr>
        <p:txBody>
          <a:bodyPr wrap="square" lIns="0" tIns="0" rIns="0" bIns="0" rtlCol="0" anchor="ctr">
            <a:normAutofit/>
          </a:bodyPr>
          <a:lstStyle/>
          <a:p>
            <a:pPr indent="0" marL="0">
              <a:buNone/>
            </a:pPr>
            <a:r>
              <a:rPr lang="en-US" sz="1590" dirty="0">
                <a:solidFill>
                  <a:srgbClr val="17324D"/>
                </a:solidFill>
                <a:latin typeface="Aptos" pitchFamily="34" charset="0"/>
                <a:ea typeface="Aptos" pitchFamily="34" charset="-122"/>
                <a:cs typeface="Aptos" pitchFamily="34" charset="-120"/>
              </a:rPr>
              <a:t>Shows trust and feedback behavior.</a:t>
            </a:r>
            <a:endParaRPr lang="en-US" sz="159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2743200" cy="500634"/>
          </a:xfrm>
          <a:prstGeom prst="rect">
            <a:avLst/>
          </a:prstGeom>
          <a:noFill/>
          <a:ln/>
        </p:spPr>
        <p:txBody>
          <a:bodyPr wrap="square" lIns="0" tIns="0" rIns="0" bIns="0" rtlCol="0" anchor="ctr">
            <a:normAutofit/>
          </a:bodyPr>
          <a:lstStyle/>
          <a:p>
            <a:pPr indent="0" marL="0">
              <a:buNone/>
            </a:pPr>
            <a:r>
              <a:rPr lang="en-US" sz="1590" b="1" dirty="0">
                <a:solidFill>
                  <a:srgbClr val="17324D"/>
                </a:solidFill>
                <a:latin typeface="Aptos" pitchFamily="34" charset="0"/>
                <a:ea typeface="Aptos" pitchFamily="34" charset="-122"/>
                <a:cs typeface="Aptos" pitchFamily="34" charset="-120"/>
              </a:rPr>
              <a:t>Disputes</a:t>
            </a:r>
            <a:endParaRPr lang="en-US" sz="1590" dirty="0"/>
          </a:p>
        </p:txBody>
      </p:sp>
      <p:sp>
        <p:nvSpPr>
          <p:cNvPr id="29" name="Text 27"/>
          <p:cNvSpPr/>
          <p:nvPr/>
        </p:nvSpPr>
        <p:spPr>
          <a:xfrm>
            <a:off x="3447288" y="5143500"/>
            <a:ext cx="8211312" cy="500634"/>
          </a:xfrm>
          <a:prstGeom prst="rect">
            <a:avLst/>
          </a:prstGeom>
          <a:noFill/>
          <a:ln/>
        </p:spPr>
        <p:txBody>
          <a:bodyPr wrap="square" lIns="0" tIns="0" rIns="0" bIns="0" rtlCol="0" anchor="ctr">
            <a:normAutofit/>
          </a:bodyPr>
          <a:lstStyle/>
          <a:p>
            <a:pPr indent="0" marL="0">
              <a:buNone/>
            </a:pPr>
            <a:r>
              <a:rPr lang="en-US" sz="1590" dirty="0">
                <a:solidFill>
                  <a:srgbClr val="17324D"/>
                </a:solidFill>
                <a:latin typeface="Aptos" pitchFamily="34" charset="0"/>
                <a:ea typeface="Aptos" pitchFamily="34" charset="-122"/>
                <a:cs typeface="Aptos" pitchFamily="34" charset="-120"/>
              </a:rPr>
              <a:t>Shows risk and quality problems.</a:t>
            </a:r>
            <a:endParaRPr lang="en-US" sz="159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2743200" cy="500634"/>
          </a:xfrm>
          <a:prstGeom prst="rect">
            <a:avLst/>
          </a:prstGeom>
          <a:noFill/>
          <a:ln/>
        </p:spPr>
        <p:txBody>
          <a:bodyPr wrap="square" lIns="0" tIns="0" rIns="0" bIns="0" rtlCol="0" anchor="ctr">
            <a:normAutofit/>
          </a:bodyPr>
          <a:lstStyle/>
          <a:p>
            <a:pPr indent="0" marL="0">
              <a:buNone/>
            </a:pPr>
            <a:r>
              <a:rPr lang="en-US" sz="1590" b="1" dirty="0">
                <a:solidFill>
                  <a:srgbClr val="17324D"/>
                </a:solidFill>
                <a:latin typeface="Aptos" pitchFamily="34" charset="0"/>
                <a:ea typeface="Aptos" pitchFamily="34" charset="-122"/>
                <a:cs typeface="Aptos" pitchFamily="34" charset="-120"/>
              </a:rPr>
              <a:t>GMV</a:t>
            </a:r>
            <a:endParaRPr lang="en-US" sz="1590" dirty="0"/>
          </a:p>
        </p:txBody>
      </p:sp>
      <p:sp>
        <p:nvSpPr>
          <p:cNvPr id="32" name="Text 30"/>
          <p:cNvSpPr/>
          <p:nvPr/>
        </p:nvSpPr>
        <p:spPr>
          <a:xfrm>
            <a:off x="3447288" y="5717286"/>
            <a:ext cx="8211312" cy="500634"/>
          </a:xfrm>
          <a:prstGeom prst="rect">
            <a:avLst/>
          </a:prstGeom>
          <a:noFill/>
          <a:ln/>
        </p:spPr>
        <p:txBody>
          <a:bodyPr wrap="square" lIns="0" tIns="0" rIns="0" bIns="0" rtlCol="0" anchor="ctr">
            <a:normAutofit/>
          </a:bodyPr>
          <a:lstStyle/>
          <a:p>
            <a:pPr indent="0" marL="0">
              <a:buNone/>
            </a:pPr>
            <a:r>
              <a:rPr lang="en-US" sz="1590" dirty="0">
                <a:solidFill>
                  <a:srgbClr val="17324D"/>
                </a:solidFill>
                <a:latin typeface="Aptos" pitchFamily="34" charset="0"/>
                <a:ea typeface="Aptos" pitchFamily="34" charset="-122"/>
                <a:cs typeface="Aptos" pitchFamily="34" charset="-120"/>
              </a:rPr>
              <a:t>Total peso value of completed jobs through KAILA.</a:t>
            </a:r>
            <a:endParaRPr lang="en-US" sz="159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Guide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Phase 8: Go / No-Go Decision</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After the pilot, choose the next move based on evidence.</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Guide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17</a:t>
            </a:r>
            <a:endParaRPr lang="en-US" sz="850" dirty="0"/>
          </a:p>
        </p:txBody>
      </p:sp>
      <p:sp>
        <p:nvSpPr>
          <p:cNvPr id="8" name="Text 6"/>
          <p:cNvSpPr/>
          <p:nvPr/>
        </p:nvSpPr>
        <p:spPr>
          <a:xfrm>
            <a:off x="502920" y="1380744"/>
            <a:ext cx="246888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172968" y="1380744"/>
            <a:ext cx="848563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2468880" cy="640080"/>
          </a:xfrm>
          <a:prstGeom prst="rect">
            <a:avLst/>
          </a:prstGeom>
          <a:noFill/>
          <a:ln/>
        </p:spPr>
        <p:txBody>
          <a:bodyPr wrap="square" lIns="0" tIns="0" rIns="0" bIns="0" rtlCol="0" anchor="ctr">
            <a:normAutofit/>
          </a:bodyPr>
          <a:lstStyle/>
          <a:p>
            <a:pPr indent="0" marL="0">
              <a:buNone/>
            </a:pPr>
            <a:r>
              <a:rPr lang="en-US" sz="1690" b="1" dirty="0">
                <a:solidFill>
                  <a:srgbClr val="17324D"/>
                </a:solidFill>
                <a:latin typeface="Aptos" pitchFamily="34" charset="0"/>
                <a:ea typeface="Aptos" pitchFamily="34" charset="-122"/>
                <a:cs typeface="Aptos" pitchFamily="34" charset="-120"/>
              </a:rPr>
              <a:t>Proceed to MVP</a:t>
            </a:r>
            <a:endParaRPr lang="en-US" sz="1690" dirty="0"/>
          </a:p>
        </p:txBody>
      </p:sp>
      <p:sp>
        <p:nvSpPr>
          <p:cNvPr id="11" name="Text 9"/>
          <p:cNvSpPr/>
          <p:nvPr/>
        </p:nvSpPr>
        <p:spPr>
          <a:xfrm>
            <a:off x="3172968" y="1700784"/>
            <a:ext cx="8485632" cy="640080"/>
          </a:xfrm>
          <a:prstGeom prst="rect">
            <a:avLst/>
          </a:prstGeom>
          <a:noFill/>
          <a:ln/>
        </p:spPr>
        <p:txBody>
          <a:bodyPr wrap="square" lIns="0" tIns="0" rIns="0" bIns="0" rtlCol="0" anchor="ctr">
            <a:normAutofit/>
          </a:bodyPr>
          <a:lstStyle/>
          <a:p>
            <a:pPr indent="0" marL="0">
              <a:buNone/>
            </a:pPr>
            <a:r>
              <a:rPr lang="en-US" sz="1690" dirty="0">
                <a:solidFill>
                  <a:srgbClr val="17324D"/>
                </a:solidFill>
                <a:latin typeface="Aptos" pitchFamily="34" charset="0"/>
                <a:ea typeface="Aptos" pitchFamily="34" charset="-122"/>
                <a:cs typeface="Aptos" pitchFamily="34" charset="-120"/>
              </a:rPr>
              <a:t>Real requests, provider response, 15+ completed/strongly matched jobs, ratings accepted, disputes manageable.</a:t>
            </a:r>
            <a:endParaRPr lang="en-US" sz="1690" dirty="0"/>
          </a:p>
        </p:txBody>
      </p:sp>
      <p:sp>
        <p:nvSpPr>
          <p:cNvPr id="12" name="Shape 10"/>
          <p:cNvSpPr/>
          <p:nvPr/>
        </p:nvSpPr>
        <p:spPr>
          <a:xfrm>
            <a:off x="502920" y="2359152"/>
            <a:ext cx="11155680" cy="0"/>
          </a:xfrm>
          <a:prstGeom prst="line">
            <a:avLst/>
          </a:prstGeom>
          <a:noFill/>
          <a:ln w="5080">
            <a:solidFill>
              <a:srgbClr val="C9D6E2">
                <a:alpha val="60000"/>
              </a:srgbClr>
            </a:solidFill>
            <a:prstDash val="solid"/>
          </a:ln>
        </p:spPr>
      </p:sp>
      <p:sp>
        <p:nvSpPr>
          <p:cNvPr id="13" name="Text 11"/>
          <p:cNvSpPr/>
          <p:nvPr/>
        </p:nvSpPr>
        <p:spPr>
          <a:xfrm>
            <a:off x="502920" y="2414016"/>
            <a:ext cx="2468880" cy="640080"/>
          </a:xfrm>
          <a:prstGeom prst="rect">
            <a:avLst/>
          </a:prstGeom>
          <a:noFill/>
          <a:ln/>
        </p:spPr>
        <p:txBody>
          <a:bodyPr wrap="square" lIns="0" tIns="0" rIns="0" bIns="0" rtlCol="0" anchor="ctr">
            <a:normAutofit/>
          </a:bodyPr>
          <a:lstStyle/>
          <a:p>
            <a:pPr indent="0" marL="0">
              <a:buNone/>
            </a:pPr>
            <a:r>
              <a:rPr lang="en-US" sz="1690" b="1" dirty="0">
                <a:solidFill>
                  <a:srgbClr val="17324D"/>
                </a:solidFill>
                <a:latin typeface="Aptos" pitchFamily="34" charset="0"/>
                <a:ea typeface="Aptos" pitchFamily="34" charset="-122"/>
                <a:cs typeface="Aptos" pitchFamily="34" charset="-120"/>
              </a:rPr>
              <a:t>Narrow scope</a:t>
            </a:r>
            <a:endParaRPr lang="en-US" sz="1690" dirty="0"/>
          </a:p>
        </p:txBody>
      </p:sp>
      <p:sp>
        <p:nvSpPr>
          <p:cNvPr id="14" name="Text 12"/>
          <p:cNvSpPr/>
          <p:nvPr/>
        </p:nvSpPr>
        <p:spPr>
          <a:xfrm>
            <a:off x="3172968" y="2414016"/>
            <a:ext cx="8485632" cy="640080"/>
          </a:xfrm>
          <a:prstGeom prst="rect">
            <a:avLst/>
          </a:prstGeom>
          <a:noFill/>
          <a:ln/>
        </p:spPr>
        <p:txBody>
          <a:bodyPr wrap="square" lIns="0" tIns="0" rIns="0" bIns="0" rtlCol="0" anchor="ctr">
            <a:normAutofit/>
          </a:bodyPr>
          <a:lstStyle/>
          <a:p>
            <a:pPr indent="0" marL="0">
              <a:buNone/>
            </a:pPr>
            <a:r>
              <a:rPr lang="en-US" sz="1690" dirty="0">
                <a:solidFill>
                  <a:srgbClr val="17324D"/>
                </a:solidFill>
                <a:latin typeface="Aptos" pitchFamily="34" charset="0"/>
                <a:ea typeface="Aptos" pitchFamily="34" charset="-122"/>
                <a:cs typeface="Aptos" pitchFamily="34" charset="-120"/>
              </a:rPr>
              <a:t>Only 1–2 categories work strongly. Focus on winning categories instead of stopping.</a:t>
            </a:r>
            <a:endParaRPr lang="en-US" sz="1690" dirty="0"/>
          </a:p>
        </p:txBody>
      </p:sp>
      <p:sp>
        <p:nvSpPr>
          <p:cNvPr id="15" name="Shape 13"/>
          <p:cNvSpPr/>
          <p:nvPr/>
        </p:nvSpPr>
        <p:spPr>
          <a:xfrm>
            <a:off x="502920" y="3072384"/>
            <a:ext cx="11155680" cy="0"/>
          </a:xfrm>
          <a:prstGeom prst="line">
            <a:avLst/>
          </a:prstGeom>
          <a:noFill/>
          <a:ln w="5080">
            <a:solidFill>
              <a:srgbClr val="C9D6E2">
                <a:alpha val="60000"/>
              </a:srgbClr>
            </a:solidFill>
            <a:prstDash val="solid"/>
          </a:ln>
        </p:spPr>
      </p:sp>
      <p:sp>
        <p:nvSpPr>
          <p:cNvPr id="16" name="Text 14"/>
          <p:cNvSpPr/>
          <p:nvPr/>
        </p:nvSpPr>
        <p:spPr>
          <a:xfrm>
            <a:off x="502920" y="3127248"/>
            <a:ext cx="2468880" cy="640080"/>
          </a:xfrm>
          <a:prstGeom prst="rect">
            <a:avLst/>
          </a:prstGeom>
          <a:noFill/>
          <a:ln/>
        </p:spPr>
        <p:txBody>
          <a:bodyPr wrap="square" lIns="0" tIns="0" rIns="0" bIns="0" rtlCol="0" anchor="ctr">
            <a:normAutofit/>
          </a:bodyPr>
          <a:lstStyle/>
          <a:p>
            <a:pPr indent="0" marL="0">
              <a:buNone/>
            </a:pPr>
            <a:r>
              <a:rPr lang="en-US" sz="1690" b="1" dirty="0">
                <a:solidFill>
                  <a:srgbClr val="17324D"/>
                </a:solidFill>
                <a:latin typeface="Aptos" pitchFamily="34" charset="0"/>
                <a:ea typeface="Aptos" pitchFamily="34" charset="-122"/>
                <a:cs typeface="Aptos" pitchFamily="34" charset="-120"/>
              </a:rPr>
              <a:t>Redesign / pause</a:t>
            </a:r>
            <a:endParaRPr lang="en-US" sz="1690" dirty="0"/>
          </a:p>
        </p:txBody>
      </p:sp>
      <p:sp>
        <p:nvSpPr>
          <p:cNvPr id="17" name="Text 15"/>
          <p:cNvSpPr/>
          <p:nvPr/>
        </p:nvSpPr>
        <p:spPr>
          <a:xfrm>
            <a:off x="3172968" y="3127248"/>
            <a:ext cx="8485632" cy="640080"/>
          </a:xfrm>
          <a:prstGeom prst="rect">
            <a:avLst/>
          </a:prstGeom>
          <a:noFill/>
          <a:ln/>
        </p:spPr>
        <p:txBody>
          <a:bodyPr wrap="square" lIns="0" tIns="0" rIns="0" bIns="0" rtlCol="0" anchor="ctr">
            <a:normAutofit/>
          </a:bodyPr>
          <a:lstStyle/>
          <a:p>
            <a:pPr indent="0" marL="0">
              <a:buNone/>
            </a:pPr>
            <a:r>
              <a:rPr lang="en-US" sz="1690" dirty="0">
                <a:solidFill>
                  <a:srgbClr val="17324D"/>
                </a:solidFill>
                <a:latin typeface="Aptos" pitchFamily="34" charset="0"/>
                <a:ea typeface="Aptos" pitchFamily="34" charset="-122"/>
                <a:cs typeface="Aptos" pitchFamily="34" charset="-120"/>
              </a:rPr>
              <a:t>Providers refuse, clients avoid posting, trust barriers are too high, or operations cannot support matching.</a:t>
            </a:r>
            <a:endParaRPr lang="en-US" sz="1690" dirty="0"/>
          </a:p>
        </p:txBody>
      </p:sp>
      <p:sp>
        <p:nvSpPr>
          <p:cNvPr id="18" name="Shape 16"/>
          <p:cNvSpPr/>
          <p:nvPr/>
        </p:nvSpPr>
        <p:spPr>
          <a:xfrm>
            <a:off x="502920" y="3785616"/>
            <a:ext cx="11155680" cy="0"/>
          </a:xfrm>
          <a:prstGeom prst="line">
            <a:avLst/>
          </a:prstGeom>
          <a:noFill/>
          <a:ln w="5080">
            <a:solidFill>
              <a:srgbClr val="C9D6E2">
                <a:alpha val="60000"/>
              </a:srgbClr>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Guide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Phase 9: Build MVP Only After Strong Signals</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The MVP should digitize the proven manual workflow.</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Guide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18</a:t>
            </a:r>
            <a:endParaRPr lang="en-US" sz="850" dirty="0"/>
          </a:p>
        </p:txBody>
      </p:sp>
      <p:sp>
        <p:nvSpPr>
          <p:cNvPr id="8" name="Text 6"/>
          <p:cNvSpPr/>
          <p:nvPr/>
        </p:nvSpPr>
        <p:spPr>
          <a:xfrm>
            <a:off x="502920" y="1380744"/>
            <a:ext cx="228600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2990088" y="1380744"/>
            <a:ext cx="866851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2286000" cy="640080"/>
          </a:xfrm>
          <a:prstGeom prst="rect">
            <a:avLst/>
          </a:prstGeom>
          <a:noFill/>
          <a:ln/>
        </p:spPr>
        <p:txBody>
          <a:bodyPr wrap="square" lIns="0" tIns="0" rIns="0" bIns="0" rtlCol="0" anchor="ctr">
            <a:normAutofit/>
          </a:bodyPr>
          <a:lstStyle/>
          <a:p>
            <a:pPr indent="0" marL="0">
              <a:buNone/>
            </a:pPr>
            <a:r>
              <a:rPr lang="en-US" sz="1640" b="1" dirty="0">
                <a:solidFill>
                  <a:srgbClr val="17324D"/>
                </a:solidFill>
                <a:latin typeface="Aptos" pitchFamily="34" charset="0"/>
                <a:ea typeface="Aptos" pitchFamily="34" charset="-122"/>
                <a:cs typeface="Aptos" pitchFamily="34" charset="-120"/>
              </a:rPr>
              <a:t>Client side</a:t>
            </a:r>
            <a:endParaRPr lang="en-US" sz="1640" dirty="0"/>
          </a:p>
        </p:txBody>
      </p:sp>
      <p:sp>
        <p:nvSpPr>
          <p:cNvPr id="11" name="Text 9"/>
          <p:cNvSpPr/>
          <p:nvPr/>
        </p:nvSpPr>
        <p:spPr>
          <a:xfrm>
            <a:off x="2990088" y="1700784"/>
            <a:ext cx="8668512" cy="640080"/>
          </a:xfrm>
          <a:prstGeom prst="rect">
            <a:avLst/>
          </a:prstGeom>
          <a:noFill/>
          <a:ln/>
        </p:spPr>
        <p:txBody>
          <a:bodyPr wrap="square" lIns="0" tIns="0" rIns="0" bIns="0" rtlCol="0" anchor="ctr">
            <a:normAutofit/>
          </a:bodyPr>
          <a:lstStyle/>
          <a:p>
            <a:pPr indent="0" marL="0">
              <a:buNone/>
            </a:pPr>
            <a:r>
              <a:rPr lang="en-US" sz="1640" dirty="0">
                <a:solidFill>
                  <a:srgbClr val="17324D"/>
                </a:solidFill>
                <a:latin typeface="Aptos" pitchFamily="34" charset="0"/>
                <a:ea typeface="Aptos" pitchFamily="34" charset="-122"/>
                <a:cs typeface="Aptos" pitchFamily="34" charset="-120"/>
              </a:rPr>
              <a:t>Register, post request, compare offers, choose provider, confirm completion, rate provider.</a:t>
            </a:r>
            <a:endParaRPr lang="en-US" sz="1640" dirty="0"/>
          </a:p>
        </p:txBody>
      </p:sp>
      <p:sp>
        <p:nvSpPr>
          <p:cNvPr id="12" name="Shape 10"/>
          <p:cNvSpPr/>
          <p:nvPr/>
        </p:nvSpPr>
        <p:spPr>
          <a:xfrm>
            <a:off x="502920" y="2359152"/>
            <a:ext cx="11155680" cy="0"/>
          </a:xfrm>
          <a:prstGeom prst="line">
            <a:avLst/>
          </a:prstGeom>
          <a:noFill/>
          <a:ln w="5080">
            <a:solidFill>
              <a:srgbClr val="C9D6E2">
                <a:alpha val="60000"/>
              </a:srgbClr>
            </a:solidFill>
            <a:prstDash val="solid"/>
          </a:ln>
        </p:spPr>
      </p:sp>
      <p:sp>
        <p:nvSpPr>
          <p:cNvPr id="13" name="Text 11"/>
          <p:cNvSpPr/>
          <p:nvPr/>
        </p:nvSpPr>
        <p:spPr>
          <a:xfrm>
            <a:off x="502920" y="2414016"/>
            <a:ext cx="2286000" cy="640080"/>
          </a:xfrm>
          <a:prstGeom prst="rect">
            <a:avLst/>
          </a:prstGeom>
          <a:noFill/>
          <a:ln/>
        </p:spPr>
        <p:txBody>
          <a:bodyPr wrap="square" lIns="0" tIns="0" rIns="0" bIns="0" rtlCol="0" anchor="ctr">
            <a:normAutofit/>
          </a:bodyPr>
          <a:lstStyle/>
          <a:p>
            <a:pPr indent="0" marL="0">
              <a:buNone/>
            </a:pPr>
            <a:r>
              <a:rPr lang="en-US" sz="1640" b="1" dirty="0">
                <a:solidFill>
                  <a:srgbClr val="17324D"/>
                </a:solidFill>
                <a:latin typeface="Aptos" pitchFamily="34" charset="0"/>
                <a:ea typeface="Aptos" pitchFamily="34" charset="-122"/>
                <a:cs typeface="Aptos" pitchFamily="34" charset="-120"/>
              </a:rPr>
              <a:t>Provider side</a:t>
            </a:r>
            <a:endParaRPr lang="en-US" sz="1640" dirty="0"/>
          </a:p>
        </p:txBody>
      </p:sp>
      <p:sp>
        <p:nvSpPr>
          <p:cNvPr id="14" name="Text 12"/>
          <p:cNvSpPr/>
          <p:nvPr/>
        </p:nvSpPr>
        <p:spPr>
          <a:xfrm>
            <a:off x="2990088" y="2414016"/>
            <a:ext cx="8668512" cy="640080"/>
          </a:xfrm>
          <a:prstGeom prst="rect">
            <a:avLst/>
          </a:prstGeom>
          <a:noFill/>
          <a:ln/>
        </p:spPr>
        <p:txBody>
          <a:bodyPr wrap="square" lIns="0" tIns="0" rIns="0" bIns="0" rtlCol="0" anchor="ctr">
            <a:normAutofit/>
          </a:bodyPr>
          <a:lstStyle/>
          <a:p>
            <a:pPr indent="0" marL="0">
              <a:buNone/>
            </a:pPr>
            <a:r>
              <a:rPr lang="en-US" sz="1640" dirty="0">
                <a:solidFill>
                  <a:srgbClr val="17324D"/>
                </a:solidFill>
                <a:latin typeface="Aptos" pitchFamily="34" charset="0"/>
                <a:ea typeface="Aptos" pitchFamily="34" charset="-122"/>
                <a:cs typeface="Aptos" pitchFamily="34" charset="-120"/>
              </a:rPr>
              <a:t>Create profile, view matching requests, send offer, update job status, rate client.</a:t>
            </a:r>
            <a:endParaRPr lang="en-US" sz="1640" dirty="0"/>
          </a:p>
        </p:txBody>
      </p:sp>
      <p:sp>
        <p:nvSpPr>
          <p:cNvPr id="15" name="Shape 13"/>
          <p:cNvSpPr/>
          <p:nvPr/>
        </p:nvSpPr>
        <p:spPr>
          <a:xfrm>
            <a:off x="502920" y="3072384"/>
            <a:ext cx="11155680" cy="0"/>
          </a:xfrm>
          <a:prstGeom prst="line">
            <a:avLst/>
          </a:prstGeom>
          <a:noFill/>
          <a:ln w="5080">
            <a:solidFill>
              <a:srgbClr val="C9D6E2">
                <a:alpha val="60000"/>
              </a:srgbClr>
            </a:solidFill>
            <a:prstDash val="solid"/>
          </a:ln>
        </p:spPr>
      </p:sp>
      <p:sp>
        <p:nvSpPr>
          <p:cNvPr id="16" name="Text 14"/>
          <p:cNvSpPr/>
          <p:nvPr/>
        </p:nvSpPr>
        <p:spPr>
          <a:xfrm>
            <a:off x="502920" y="3127248"/>
            <a:ext cx="2286000" cy="640080"/>
          </a:xfrm>
          <a:prstGeom prst="rect">
            <a:avLst/>
          </a:prstGeom>
          <a:noFill/>
          <a:ln/>
        </p:spPr>
        <p:txBody>
          <a:bodyPr wrap="square" lIns="0" tIns="0" rIns="0" bIns="0" rtlCol="0" anchor="ctr">
            <a:normAutofit/>
          </a:bodyPr>
          <a:lstStyle/>
          <a:p>
            <a:pPr indent="0" marL="0">
              <a:buNone/>
            </a:pPr>
            <a:r>
              <a:rPr lang="en-US" sz="1640" b="1" dirty="0">
                <a:solidFill>
                  <a:srgbClr val="17324D"/>
                </a:solidFill>
                <a:latin typeface="Aptos" pitchFamily="34" charset="0"/>
                <a:ea typeface="Aptos" pitchFamily="34" charset="-122"/>
                <a:cs typeface="Aptos" pitchFamily="34" charset="-120"/>
              </a:rPr>
              <a:t>Admin side</a:t>
            </a:r>
            <a:endParaRPr lang="en-US" sz="1640" dirty="0"/>
          </a:p>
        </p:txBody>
      </p:sp>
      <p:sp>
        <p:nvSpPr>
          <p:cNvPr id="17" name="Text 15"/>
          <p:cNvSpPr/>
          <p:nvPr/>
        </p:nvSpPr>
        <p:spPr>
          <a:xfrm>
            <a:off x="2990088" y="3127248"/>
            <a:ext cx="8668512" cy="640080"/>
          </a:xfrm>
          <a:prstGeom prst="rect">
            <a:avLst/>
          </a:prstGeom>
          <a:noFill/>
          <a:ln/>
        </p:spPr>
        <p:txBody>
          <a:bodyPr wrap="square" lIns="0" tIns="0" rIns="0" bIns="0" rtlCol="0" anchor="ctr">
            <a:normAutofit/>
          </a:bodyPr>
          <a:lstStyle/>
          <a:p>
            <a:pPr indent="0" marL="0">
              <a:buNone/>
            </a:pPr>
            <a:r>
              <a:rPr lang="en-US" sz="1640" dirty="0">
                <a:solidFill>
                  <a:srgbClr val="17324D"/>
                </a:solidFill>
                <a:latin typeface="Aptos" pitchFamily="34" charset="0"/>
                <a:ea typeface="Aptos" pitchFamily="34" charset="-122"/>
                <a:cs typeface="Aptos" pitchFamily="34" charset="-120"/>
              </a:rPr>
              <a:t>Manage users, verify providers, track jobs, handle disputes, view reports.</a:t>
            </a:r>
            <a:endParaRPr lang="en-US" sz="1640" dirty="0"/>
          </a:p>
        </p:txBody>
      </p:sp>
      <p:sp>
        <p:nvSpPr>
          <p:cNvPr id="18" name="Shape 16"/>
          <p:cNvSpPr/>
          <p:nvPr/>
        </p:nvSpPr>
        <p:spPr>
          <a:xfrm>
            <a:off x="502920" y="3785616"/>
            <a:ext cx="11155680" cy="0"/>
          </a:xfrm>
          <a:prstGeom prst="line">
            <a:avLst/>
          </a:prstGeom>
          <a:noFill/>
          <a:ln w="5080">
            <a:solidFill>
              <a:srgbClr val="C9D6E2">
                <a:alpha val="60000"/>
              </a:srgbClr>
            </a:solidFill>
            <a:prstDash val="solid"/>
          </a:ln>
        </p:spPr>
      </p:sp>
      <p:sp>
        <p:nvSpPr>
          <p:cNvPr id="19" name="Text 17"/>
          <p:cNvSpPr/>
          <p:nvPr/>
        </p:nvSpPr>
        <p:spPr>
          <a:xfrm>
            <a:off x="502920" y="3840480"/>
            <a:ext cx="2286000" cy="640080"/>
          </a:xfrm>
          <a:prstGeom prst="rect">
            <a:avLst/>
          </a:prstGeom>
          <a:noFill/>
          <a:ln/>
        </p:spPr>
        <p:txBody>
          <a:bodyPr wrap="square" lIns="0" tIns="0" rIns="0" bIns="0" rtlCol="0" anchor="ctr">
            <a:normAutofit/>
          </a:bodyPr>
          <a:lstStyle/>
          <a:p>
            <a:pPr indent="0" marL="0">
              <a:buNone/>
            </a:pPr>
            <a:r>
              <a:rPr lang="en-US" sz="1640" b="1" dirty="0">
                <a:solidFill>
                  <a:srgbClr val="17324D"/>
                </a:solidFill>
                <a:latin typeface="Aptos" pitchFamily="34" charset="0"/>
                <a:ea typeface="Aptos" pitchFamily="34" charset="-122"/>
                <a:cs typeface="Aptos" pitchFamily="34" charset="-120"/>
              </a:rPr>
              <a:t>Postpone</a:t>
            </a:r>
            <a:endParaRPr lang="en-US" sz="1640" dirty="0"/>
          </a:p>
        </p:txBody>
      </p:sp>
      <p:sp>
        <p:nvSpPr>
          <p:cNvPr id="20" name="Text 18"/>
          <p:cNvSpPr/>
          <p:nvPr/>
        </p:nvSpPr>
        <p:spPr>
          <a:xfrm>
            <a:off x="2990088" y="3840480"/>
            <a:ext cx="8668512" cy="640080"/>
          </a:xfrm>
          <a:prstGeom prst="rect">
            <a:avLst/>
          </a:prstGeom>
          <a:noFill/>
          <a:ln/>
        </p:spPr>
        <p:txBody>
          <a:bodyPr wrap="square" lIns="0" tIns="0" rIns="0" bIns="0" rtlCol="0" anchor="ctr">
            <a:normAutofit/>
          </a:bodyPr>
          <a:lstStyle/>
          <a:p>
            <a:pPr indent="0" marL="0">
              <a:buNone/>
            </a:pPr>
            <a:r>
              <a:rPr lang="en-US" sz="1640" dirty="0">
                <a:solidFill>
                  <a:srgbClr val="17324D"/>
                </a:solidFill>
                <a:latin typeface="Aptos" pitchFamily="34" charset="0"/>
                <a:ea typeface="Aptos" pitchFamily="34" charset="-122"/>
                <a:cs typeface="Aptos" pitchFamily="34" charset="-120"/>
              </a:rPr>
              <a:t>In-app payments, GPS tracking, native apps, complex AI matching, large-scale automation.</a:t>
            </a:r>
            <a:endParaRPr lang="en-US" sz="1640" dirty="0"/>
          </a:p>
        </p:txBody>
      </p:sp>
      <p:sp>
        <p:nvSpPr>
          <p:cNvPr id="21" name="Shape 19"/>
          <p:cNvSpPr/>
          <p:nvPr/>
        </p:nvSpPr>
        <p:spPr>
          <a:xfrm>
            <a:off x="502920" y="4498848"/>
            <a:ext cx="11155680" cy="0"/>
          </a:xfrm>
          <a:prstGeom prst="line">
            <a:avLst/>
          </a:prstGeom>
          <a:noFill/>
          <a:ln w="5080">
            <a:solidFill>
              <a:srgbClr val="C9D6E2">
                <a:alpha val="60000"/>
              </a:srgbClr>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Guide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Phase 10: Monetize Slowly</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Do not charge until providers feel real value.</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Guide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19</a:t>
            </a:r>
            <a:endParaRPr lang="en-US" sz="850" dirty="0"/>
          </a:p>
        </p:txBody>
      </p:sp>
      <p:sp>
        <p:nvSpPr>
          <p:cNvPr id="8" name="Text 6"/>
          <p:cNvSpPr/>
          <p:nvPr/>
        </p:nvSpPr>
        <p:spPr>
          <a:xfrm>
            <a:off x="502920" y="1380744"/>
            <a:ext cx="292608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630168" y="1380744"/>
            <a:ext cx="802843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2926080" cy="640080"/>
          </a:xfrm>
          <a:prstGeom prst="rect">
            <a:avLst/>
          </a:prstGeom>
          <a:noFill/>
          <a:ln/>
        </p:spPr>
        <p:txBody>
          <a:bodyPr wrap="square" lIns="0" tIns="0" rIns="0" bIns="0" rtlCol="0" anchor="ctr">
            <a:normAutofit/>
          </a:bodyPr>
          <a:lstStyle/>
          <a:p>
            <a:pPr indent="0" marL="0">
              <a:buNone/>
            </a:pPr>
            <a:r>
              <a:rPr lang="en-US" sz="1630" b="1" dirty="0">
                <a:solidFill>
                  <a:srgbClr val="17324D"/>
                </a:solidFill>
                <a:latin typeface="Aptos" pitchFamily="34" charset="0"/>
                <a:ea typeface="Aptos" pitchFamily="34" charset="-122"/>
                <a:cs typeface="Aptos" pitchFamily="34" charset="-120"/>
              </a:rPr>
              <a:t>1. Free pilot</a:t>
            </a:r>
            <a:endParaRPr lang="en-US" sz="1630" dirty="0"/>
          </a:p>
        </p:txBody>
      </p:sp>
      <p:sp>
        <p:nvSpPr>
          <p:cNvPr id="11" name="Text 9"/>
          <p:cNvSpPr/>
          <p:nvPr/>
        </p:nvSpPr>
        <p:spPr>
          <a:xfrm>
            <a:off x="3630168" y="1700784"/>
            <a:ext cx="8028432" cy="640080"/>
          </a:xfrm>
          <a:prstGeom prst="rect">
            <a:avLst/>
          </a:prstGeom>
          <a:noFill/>
          <a:ln/>
        </p:spPr>
        <p:txBody>
          <a:bodyPr wrap="square" lIns="0" tIns="0" rIns="0" bIns="0" rtlCol="0" anchor="ctr">
            <a:normAutofit/>
          </a:bodyPr>
          <a:lstStyle/>
          <a:p>
            <a:pPr indent="0" marL="0">
              <a:buNone/>
            </a:pPr>
            <a:r>
              <a:rPr lang="en-US" sz="1630" dirty="0">
                <a:solidFill>
                  <a:srgbClr val="17324D"/>
                </a:solidFill>
                <a:latin typeface="Aptos" pitchFamily="34" charset="0"/>
                <a:ea typeface="Aptos" pitchFamily="34" charset="-122"/>
                <a:cs typeface="Aptos" pitchFamily="34" charset="-120"/>
              </a:rPr>
              <a:t>Build trust, track behavior, and prove the service flow.</a:t>
            </a:r>
            <a:endParaRPr lang="en-US" sz="1630" dirty="0"/>
          </a:p>
        </p:txBody>
      </p:sp>
      <p:sp>
        <p:nvSpPr>
          <p:cNvPr id="12" name="Shape 10"/>
          <p:cNvSpPr/>
          <p:nvPr/>
        </p:nvSpPr>
        <p:spPr>
          <a:xfrm>
            <a:off x="502920" y="2359152"/>
            <a:ext cx="11155680" cy="0"/>
          </a:xfrm>
          <a:prstGeom prst="line">
            <a:avLst/>
          </a:prstGeom>
          <a:noFill/>
          <a:ln w="5080">
            <a:solidFill>
              <a:srgbClr val="C9D6E2">
                <a:alpha val="60000"/>
              </a:srgbClr>
            </a:solidFill>
            <a:prstDash val="solid"/>
          </a:ln>
        </p:spPr>
      </p:sp>
      <p:sp>
        <p:nvSpPr>
          <p:cNvPr id="13" name="Text 11"/>
          <p:cNvSpPr/>
          <p:nvPr/>
        </p:nvSpPr>
        <p:spPr>
          <a:xfrm>
            <a:off x="502920" y="2414016"/>
            <a:ext cx="2926080" cy="640080"/>
          </a:xfrm>
          <a:prstGeom prst="rect">
            <a:avLst/>
          </a:prstGeom>
          <a:noFill/>
          <a:ln/>
        </p:spPr>
        <p:txBody>
          <a:bodyPr wrap="square" lIns="0" tIns="0" rIns="0" bIns="0" rtlCol="0" anchor="ctr">
            <a:normAutofit/>
          </a:bodyPr>
          <a:lstStyle/>
          <a:p>
            <a:pPr indent="0" marL="0">
              <a:buNone/>
            </a:pPr>
            <a:r>
              <a:rPr lang="en-US" sz="1630" b="1" dirty="0">
                <a:solidFill>
                  <a:srgbClr val="17324D"/>
                </a:solidFill>
                <a:latin typeface="Aptos" pitchFamily="34" charset="0"/>
                <a:ea typeface="Aptos" pitchFamily="34" charset="-122"/>
                <a:cs typeface="Aptos" pitchFamily="34" charset="-120"/>
              </a:rPr>
              <a:t>2. Visibility products</a:t>
            </a:r>
            <a:endParaRPr lang="en-US" sz="1630" dirty="0"/>
          </a:p>
        </p:txBody>
      </p:sp>
      <p:sp>
        <p:nvSpPr>
          <p:cNvPr id="14" name="Text 12"/>
          <p:cNvSpPr/>
          <p:nvPr/>
        </p:nvSpPr>
        <p:spPr>
          <a:xfrm>
            <a:off x="3630168" y="2414016"/>
            <a:ext cx="8028432" cy="640080"/>
          </a:xfrm>
          <a:prstGeom prst="rect">
            <a:avLst/>
          </a:prstGeom>
          <a:noFill/>
          <a:ln/>
        </p:spPr>
        <p:txBody>
          <a:bodyPr wrap="square" lIns="0" tIns="0" rIns="0" bIns="0" rtlCol="0" anchor="ctr">
            <a:normAutofit/>
          </a:bodyPr>
          <a:lstStyle/>
          <a:p>
            <a:pPr indent="0" marL="0">
              <a:buNone/>
            </a:pPr>
            <a:r>
              <a:rPr lang="en-US" sz="1630" dirty="0">
                <a:solidFill>
                  <a:srgbClr val="17324D"/>
                </a:solidFill>
                <a:latin typeface="Aptos" pitchFamily="34" charset="0"/>
                <a:ea typeface="Aptos" pitchFamily="34" charset="-122"/>
                <a:cs typeface="Aptos" pitchFamily="34" charset="-120"/>
              </a:rPr>
              <a:t>Premium profiles, featured listings, badge display, provider highlights.</a:t>
            </a:r>
            <a:endParaRPr lang="en-US" sz="1630" dirty="0"/>
          </a:p>
        </p:txBody>
      </p:sp>
      <p:sp>
        <p:nvSpPr>
          <p:cNvPr id="15" name="Shape 13"/>
          <p:cNvSpPr/>
          <p:nvPr/>
        </p:nvSpPr>
        <p:spPr>
          <a:xfrm>
            <a:off x="502920" y="3072384"/>
            <a:ext cx="11155680" cy="0"/>
          </a:xfrm>
          <a:prstGeom prst="line">
            <a:avLst/>
          </a:prstGeom>
          <a:noFill/>
          <a:ln w="5080">
            <a:solidFill>
              <a:srgbClr val="C9D6E2">
                <a:alpha val="60000"/>
              </a:srgbClr>
            </a:solidFill>
            <a:prstDash val="solid"/>
          </a:ln>
        </p:spPr>
      </p:sp>
      <p:sp>
        <p:nvSpPr>
          <p:cNvPr id="16" name="Text 14"/>
          <p:cNvSpPr/>
          <p:nvPr/>
        </p:nvSpPr>
        <p:spPr>
          <a:xfrm>
            <a:off x="502920" y="3127248"/>
            <a:ext cx="2926080" cy="640080"/>
          </a:xfrm>
          <a:prstGeom prst="rect">
            <a:avLst/>
          </a:prstGeom>
          <a:noFill/>
          <a:ln/>
        </p:spPr>
        <p:txBody>
          <a:bodyPr wrap="square" lIns="0" tIns="0" rIns="0" bIns="0" rtlCol="0" anchor="ctr">
            <a:normAutofit/>
          </a:bodyPr>
          <a:lstStyle/>
          <a:p>
            <a:pPr indent="0" marL="0">
              <a:buNone/>
            </a:pPr>
            <a:r>
              <a:rPr lang="en-US" sz="1630" b="1" dirty="0">
                <a:solidFill>
                  <a:srgbClr val="17324D"/>
                </a:solidFill>
                <a:latin typeface="Aptos" pitchFamily="34" charset="0"/>
                <a:ea typeface="Aptos" pitchFamily="34" charset="-122"/>
                <a:cs typeface="Aptos" pitchFamily="34" charset="-120"/>
              </a:rPr>
              <a:t>3. Lead / transaction revenue</a:t>
            </a:r>
            <a:endParaRPr lang="en-US" sz="1630" dirty="0"/>
          </a:p>
        </p:txBody>
      </p:sp>
      <p:sp>
        <p:nvSpPr>
          <p:cNvPr id="17" name="Text 15"/>
          <p:cNvSpPr/>
          <p:nvPr/>
        </p:nvSpPr>
        <p:spPr>
          <a:xfrm>
            <a:off x="3630168" y="3127248"/>
            <a:ext cx="8028432" cy="640080"/>
          </a:xfrm>
          <a:prstGeom prst="rect">
            <a:avLst/>
          </a:prstGeom>
          <a:noFill/>
          <a:ln/>
        </p:spPr>
        <p:txBody>
          <a:bodyPr wrap="square" lIns="0" tIns="0" rIns="0" bIns="0" rtlCol="0" anchor="ctr">
            <a:normAutofit/>
          </a:bodyPr>
          <a:lstStyle/>
          <a:p>
            <a:pPr indent="0" marL="0">
              <a:buNone/>
            </a:pPr>
            <a:r>
              <a:rPr lang="en-US" sz="1630" dirty="0">
                <a:solidFill>
                  <a:srgbClr val="17324D"/>
                </a:solidFill>
                <a:latin typeface="Aptos" pitchFamily="34" charset="0"/>
                <a:ea typeface="Aptos" pitchFamily="34" charset="-122"/>
                <a:cs typeface="Aptos" pitchFamily="34" charset="-120"/>
              </a:rPr>
              <a:t>Lead credits, subscriptions, small commission, business accounts only after usage is proven.</a:t>
            </a:r>
            <a:endParaRPr lang="en-US" sz="1630" dirty="0"/>
          </a:p>
        </p:txBody>
      </p:sp>
      <p:sp>
        <p:nvSpPr>
          <p:cNvPr id="18" name="Shape 16"/>
          <p:cNvSpPr/>
          <p:nvPr/>
        </p:nvSpPr>
        <p:spPr>
          <a:xfrm>
            <a:off x="502920" y="3785616"/>
            <a:ext cx="11155680" cy="0"/>
          </a:xfrm>
          <a:prstGeom prst="line">
            <a:avLst/>
          </a:prstGeom>
          <a:noFill/>
          <a:ln w="5080">
            <a:solidFill>
              <a:srgbClr val="C9D6E2">
                <a:alpha val="60000"/>
              </a:srgbClr>
            </a:solidFill>
            <a:prstDash val="solid"/>
          </a:ln>
        </p:spPr>
      </p:sp>
      <p:sp>
        <p:nvSpPr>
          <p:cNvPr id="19" name="Text 17"/>
          <p:cNvSpPr/>
          <p:nvPr/>
        </p:nvSpPr>
        <p:spPr>
          <a:xfrm>
            <a:off x="502920" y="3840480"/>
            <a:ext cx="2926080" cy="640080"/>
          </a:xfrm>
          <a:prstGeom prst="rect">
            <a:avLst/>
          </a:prstGeom>
          <a:noFill/>
          <a:ln/>
        </p:spPr>
        <p:txBody>
          <a:bodyPr wrap="square" lIns="0" tIns="0" rIns="0" bIns="0" rtlCol="0" anchor="ctr">
            <a:normAutofit/>
          </a:bodyPr>
          <a:lstStyle/>
          <a:p>
            <a:pPr indent="0" marL="0">
              <a:buNone/>
            </a:pPr>
            <a:r>
              <a:rPr lang="en-US" sz="1630" b="1" dirty="0">
                <a:solidFill>
                  <a:srgbClr val="17324D"/>
                </a:solidFill>
                <a:latin typeface="Aptos" pitchFamily="34" charset="0"/>
                <a:ea typeface="Aptos" pitchFamily="34" charset="-122"/>
                <a:cs typeface="Aptos" pitchFamily="34" charset="-120"/>
              </a:rPr>
              <a:t>Recommended first paid product</a:t>
            </a:r>
            <a:endParaRPr lang="en-US" sz="1630" dirty="0"/>
          </a:p>
        </p:txBody>
      </p:sp>
      <p:sp>
        <p:nvSpPr>
          <p:cNvPr id="20" name="Text 18"/>
          <p:cNvSpPr/>
          <p:nvPr/>
        </p:nvSpPr>
        <p:spPr>
          <a:xfrm>
            <a:off x="3630168" y="3840480"/>
            <a:ext cx="8028432" cy="640080"/>
          </a:xfrm>
          <a:prstGeom prst="rect">
            <a:avLst/>
          </a:prstGeom>
          <a:noFill/>
          <a:ln/>
        </p:spPr>
        <p:txBody>
          <a:bodyPr wrap="square" lIns="0" tIns="0" rIns="0" bIns="0" rtlCol="0" anchor="ctr">
            <a:normAutofit/>
          </a:bodyPr>
          <a:lstStyle/>
          <a:p>
            <a:pPr indent="0" marL="0">
              <a:buNone/>
            </a:pPr>
            <a:r>
              <a:rPr lang="en-US" sz="1630" dirty="0">
                <a:solidFill>
                  <a:srgbClr val="17324D"/>
                </a:solidFill>
                <a:latin typeface="Aptos" pitchFamily="34" charset="0"/>
                <a:ea typeface="Aptos" pitchFamily="34" charset="-122"/>
                <a:cs typeface="Aptos" pitchFamily="34" charset="-120"/>
              </a:rPr>
              <a:t>Provider visibility package, not commission.</a:t>
            </a:r>
            <a:endParaRPr lang="en-US" sz="1630" dirty="0"/>
          </a:p>
        </p:txBody>
      </p:sp>
      <p:sp>
        <p:nvSpPr>
          <p:cNvPr id="21" name="Shape 19"/>
          <p:cNvSpPr/>
          <p:nvPr/>
        </p:nvSpPr>
        <p:spPr>
          <a:xfrm>
            <a:off x="502920" y="4498848"/>
            <a:ext cx="11155680" cy="0"/>
          </a:xfrm>
          <a:prstGeom prst="line">
            <a:avLst/>
          </a:prstGeom>
          <a:noFill/>
          <a:ln w="5080">
            <a:solidFill>
              <a:srgbClr val="C9D6E2">
                <a:alpha val="60000"/>
              </a:srgbClr>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Guide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Founder Roles Must Be Clear</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Even if one person holds several roles, responsibilities should be named.</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Guide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20</a:t>
            </a:r>
            <a:endParaRPr lang="en-US" sz="850" dirty="0"/>
          </a:p>
        </p:txBody>
      </p:sp>
      <p:sp>
        <p:nvSpPr>
          <p:cNvPr id="8" name="Shape 6"/>
          <p:cNvSpPr/>
          <p:nvPr/>
        </p:nvSpPr>
        <p:spPr>
          <a:xfrm>
            <a:off x="502920" y="1508760"/>
            <a:ext cx="3566160" cy="1234440"/>
          </a:xfrm>
          <a:prstGeom prst="roundRect">
            <a:avLst>
              <a:gd name="adj" fmla="val 5926"/>
            </a:avLst>
          </a:prstGeom>
          <a:solidFill>
            <a:srgbClr val="FFFFFF"/>
          </a:solidFill>
          <a:ln w="12700">
            <a:solidFill>
              <a:srgbClr val="C9D6E2"/>
            </a:solidFill>
            <a:prstDash val="solid"/>
          </a:ln>
        </p:spPr>
      </p:sp>
      <p:sp>
        <p:nvSpPr>
          <p:cNvPr id="9" name="Text 7"/>
          <p:cNvSpPr/>
          <p:nvPr/>
        </p:nvSpPr>
        <p:spPr>
          <a:xfrm>
            <a:off x="66751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Product / Tech</a:t>
            </a:r>
            <a:endParaRPr lang="en-US" sz="1600" dirty="0"/>
          </a:p>
        </p:txBody>
      </p:sp>
      <p:sp>
        <p:nvSpPr>
          <p:cNvPr id="10" name="Text 8"/>
          <p:cNvSpPr/>
          <p:nvPr/>
        </p:nvSpPr>
        <p:spPr>
          <a:xfrm>
            <a:off x="66751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Vision, MVP planning, technical direction</a:t>
            </a:r>
            <a:endParaRPr lang="en-US" sz="1450" dirty="0"/>
          </a:p>
        </p:txBody>
      </p:sp>
      <p:sp>
        <p:nvSpPr>
          <p:cNvPr id="11" name="Shape 9"/>
          <p:cNvSpPr/>
          <p:nvPr/>
        </p:nvSpPr>
        <p:spPr>
          <a:xfrm>
            <a:off x="4297680" y="1508760"/>
            <a:ext cx="3566160" cy="1234440"/>
          </a:xfrm>
          <a:prstGeom prst="roundRect">
            <a:avLst>
              <a:gd name="adj" fmla="val 5926"/>
            </a:avLst>
          </a:prstGeom>
          <a:solidFill>
            <a:srgbClr val="FFFFFF"/>
          </a:solidFill>
          <a:ln w="12700">
            <a:solidFill>
              <a:srgbClr val="C9D6E2"/>
            </a:solidFill>
            <a:prstDash val="solid"/>
          </a:ln>
        </p:spPr>
      </p:sp>
      <p:sp>
        <p:nvSpPr>
          <p:cNvPr id="12" name="Text 10"/>
          <p:cNvSpPr/>
          <p:nvPr/>
        </p:nvSpPr>
        <p:spPr>
          <a:xfrm>
            <a:off x="446227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Provider Acquisition</a:t>
            </a:r>
            <a:endParaRPr lang="en-US" sz="1600" dirty="0"/>
          </a:p>
        </p:txBody>
      </p:sp>
      <p:sp>
        <p:nvSpPr>
          <p:cNvPr id="13" name="Text 11"/>
          <p:cNvSpPr/>
          <p:nvPr/>
        </p:nvSpPr>
        <p:spPr>
          <a:xfrm>
            <a:off x="446227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Recruitment, onboarding, provider feedback</a:t>
            </a:r>
            <a:endParaRPr lang="en-US" sz="1450" dirty="0"/>
          </a:p>
        </p:txBody>
      </p:sp>
      <p:sp>
        <p:nvSpPr>
          <p:cNvPr id="14" name="Shape 12"/>
          <p:cNvSpPr/>
          <p:nvPr/>
        </p:nvSpPr>
        <p:spPr>
          <a:xfrm>
            <a:off x="8092440" y="1508760"/>
            <a:ext cx="3566160" cy="1234440"/>
          </a:xfrm>
          <a:prstGeom prst="roundRect">
            <a:avLst>
              <a:gd name="adj" fmla="val 5926"/>
            </a:avLst>
          </a:prstGeom>
          <a:solidFill>
            <a:srgbClr val="FFFFFF"/>
          </a:solidFill>
          <a:ln w="12700">
            <a:solidFill>
              <a:srgbClr val="C9D6E2"/>
            </a:solidFill>
            <a:prstDash val="solid"/>
          </a:ln>
        </p:spPr>
      </p:sp>
      <p:sp>
        <p:nvSpPr>
          <p:cNvPr id="15" name="Text 13"/>
          <p:cNvSpPr/>
          <p:nvPr/>
        </p:nvSpPr>
        <p:spPr>
          <a:xfrm>
            <a:off x="825703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Operations</a:t>
            </a:r>
            <a:endParaRPr lang="en-US" sz="1600" dirty="0"/>
          </a:p>
        </p:txBody>
      </p:sp>
      <p:sp>
        <p:nvSpPr>
          <p:cNvPr id="16" name="Text 14"/>
          <p:cNvSpPr/>
          <p:nvPr/>
        </p:nvSpPr>
        <p:spPr>
          <a:xfrm>
            <a:off x="825703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Matching, support, disputes, tracking</a:t>
            </a:r>
            <a:endParaRPr lang="en-US" sz="1450" dirty="0"/>
          </a:p>
        </p:txBody>
      </p:sp>
      <p:sp>
        <p:nvSpPr>
          <p:cNvPr id="17" name="Shape 15"/>
          <p:cNvSpPr/>
          <p:nvPr/>
        </p:nvSpPr>
        <p:spPr>
          <a:xfrm>
            <a:off x="502920" y="2999232"/>
            <a:ext cx="3566160" cy="1234440"/>
          </a:xfrm>
          <a:prstGeom prst="roundRect">
            <a:avLst>
              <a:gd name="adj" fmla="val 5926"/>
            </a:avLst>
          </a:prstGeom>
          <a:solidFill>
            <a:srgbClr val="FFFFFF"/>
          </a:solidFill>
          <a:ln w="12700">
            <a:solidFill>
              <a:srgbClr val="C9D6E2"/>
            </a:solidFill>
            <a:prstDash val="solid"/>
          </a:ln>
        </p:spPr>
      </p:sp>
      <p:sp>
        <p:nvSpPr>
          <p:cNvPr id="18" name="Text 16"/>
          <p:cNvSpPr/>
          <p:nvPr/>
        </p:nvSpPr>
        <p:spPr>
          <a:xfrm>
            <a:off x="667512" y="3127248"/>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Marketing / Community</a:t>
            </a:r>
            <a:endParaRPr lang="en-US" sz="1600" dirty="0"/>
          </a:p>
        </p:txBody>
      </p:sp>
      <p:sp>
        <p:nvSpPr>
          <p:cNvPr id="19" name="Text 17"/>
          <p:cNvSpPr/>
          <p:nvPr/>
        </p:nvSpPr>
        <p:spPr>
          <a:xfrm>
            <a:off x="667512" y="3474720"/>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Facebook page, client education, local partners</a:t>
            </a:r>
            <a:endParaRPr lang="en-US" sz="1450" dirty="0"/>
          </a:p>
        </p:txBody>
      </p:sp>
      <p:sp>
        <p:nvSpPr>
          <p:cNvPr id="20" name="Shape 18"/>
          <p:cNvSpPr/>
          <p:nvPr/>
        </p:nvSpPr>
        <p:spPr>
          <a:xfrm>
            <a:off x="4297680" y="2999232"/>
            <a:ext cx="3566160" cy="1234440"/>
          </a:xfrm>
          <a:prstGeom prst="roundRect">
            <a:avLst>
              <a:gd name="adj" fmla="val 5926"/>
            </a:avLst>
          </a:prstGeom>
          <a:solidFill>
            <a:srgbClr val="FFFFFF"/>
          </a:solidFill>
          <a:ln w="12700">
            <a:solidFill>
              <a:srgbClr val="C9D6E2"/>
            </a:solidFill>
            <a:prstDash val="solid"/>
          </a:ln>
        </p:spPr>
      </p:sp>
      <p:sp>
        <p:nvSpPr>
          <p:cNvPr id="21" name="Text 19"/>
          <p:cNvSpPr/>
          <p:nvPr/>
        </p:nvSpPr>
        <p:spPr>
          <a:xfrm>
            <a:off x="4462272" y="3127248"/>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Finance / Admin</a:t>
            </a:r>
            <a:endParaRPr lang="en-US" sz="1600" dirty="0"/>
          </a:p>
        </p:txBody>
      </p:sp>
      <p:sp>
        <p:nvSpPr>
          <p:cNvPr id="22" name="Text 20"/>
          <p:cNvSpPr/>
          <p:nvPr/>
        </p:nvSpPr>
        <p:spPr>
          <a:xfrm>
            <a:off x="4462272" y="3474720"/>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Budget, records, reports, compliance prep</a:t>
            </a:r>
            <a:endParaRPr lang="en-US" sz="1450" dirty="0"/>
          </a:p>
        </p:txBody>
      </p:sp>
      <p:sp>
        <p:nvSpPr>
          <p:cNvPr id="23" name="Shape 21"/>
          <p:cNvSpPr/>
          <p:nvPr/>
        </p:nvSpPr>
        <p:spPr>
          <a:xfrm>
            <a:off x="8092440" y="2999232"/>
            <a:ext cx="3566160" cy="1234440"/>
          </a:xfrm>
          <a:prstGeom prst="roundRect">
            <a:avLst>
              <a:gd name="adj" fmla="val 5926"/>
            </a:avLst>
          </a:prstGeom>
          <a:solidFill>
            <a:srgbClr val="FFFFFF"/>
          </a:solidFill>
          <a:ln w="12700">
            <a:solidFill>
              <a:srgbClr val="C9D6E2"/>
            </a:solidFill>
            <a:prstDash val="solid"/>
          </a:ln>
        </p:spPr>
      </p:sp>
      <p:sp>
        <p:nvSpPr>
          <p:cNvPr id="24" name="Text 22"/>
          <p:cNvSpPr/>
          <p:nvPr/>
        </p:nvSpPr>
        <p:spPr>
          <a:xfrm>
            <a:off x="8257032" y="3127248"/>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Business Strategy</a:t>
            </a:r>
            <a:endParaRPr lang="en-US" sz="1600" dirty="0"/>
          </a:p>
        </p:txBody>
      </p:sp>
      <p:sp>
        <p:nvSpPr>
          <p:cNvPr id="25" name="Text 23"/>
          <p:cNvSpPr/>
          <p:nvPr/>
        </p:nvSpPr>
        <p:spPr>
          <a:xfrm>
            <a:off x="8257032" y="3474720"/>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Model, partnerships, pilot decisions</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Checklist</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Protect KAILA Early</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Treat data, brand, provider records, and internal strategy carefully.</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Checklist</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21</a:t>
            </a:r>
            <a:endParaRPr lang="en-US" sz="850" dirty="0"/>
          </a:p>
        </p:txBody>
      </p:sp>
      <p:sp>
        <p:nvSpPr>
          <p:cNvPr id="8" name="Text 6"/>
          <p:cNvSpPr/>
          <p:nvPr/>
        </p:nvSpPr>
        <p:spPr>
          <a:xfrm>
            <a:off x="502920" y="1508760"/>
            <a:ext cx="5417820" cy="4754880"/>
          </a:xfrm>
          <a:prstGeom prst="rect">
            <a:avLst/>
          </a:prstGeom>
          <a:noFill/>
          <a:ln/>
        </p:spPr>
        <p:txBody>
          <a:bodyPr wrap="square" lIns="1270" tIns="1270" rIns="1270" bIns="1270" rtlCol="0" anchor="ctr">
            <a:normAutofit/>
          </a:bodyPr>
          <a:lstStyle/>
          <a:p>
            <a:pPr indent="0" marL="0">
              <a:buNone/>
            </a:pPr>
            <a:r>
              <a:rPr lang="en-US" sz="1750" dirty="0">
                <a:solidFill>
                  <a:srgbClr val="17324D"/>
                </a:solidFill>
                <a:latin typeface="Aptos" pitchFamily="34" charset="0"/>
                <a:ea typeface="Aptos" pitchFamily="34" charset="-122"/>
                <a:cs typeface="Aptos" pitchFamily="34" charset="-120"/>
              </a:rPr>
              <a:t>☐ Limit access to provider list.</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Share only necessary client details with providers.</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Ask permission before using photos/videos publicly.</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Keep ratings and disputes factual.</a:t>
            </a:r>
            <a:endParaRPr lang="en-US" sz="1750" dirty="0"/>
          </a:p>
        </p:txBody>
      </p:sp>
      <p:sp>
        <p:nvSpPr>
          <p:cNvPr id="9" name="Text 7"/>
          <p:cNvSpPr/>
          <p:nvPr/>
        </p:nvSpPr>
        <p:spPr>
          <a:xfrm>
            <a:off x="6240780" y="1508760"/>
            <a:ext cx="5417820" cy="4754880"/>
          </a:xfrm>
          <a:prstGeom prst="rect">
            <a:avLst/>
          </a:prstGeom>
          <a:noFill/>
          <a:ln/>
        </p:spPr>
        <p:txBody>
          <a:bodyPr wrap="square" lIns="1270" tIns="1270" rIns="1270" bIns="1270" rtlCol="0" anchor="ctr">
            <a:normAutofit/>
          </a:bodyPr>
          <a:lstStyle/>
          <a:p>
            <a:pPr indent="0" marL="0">
              <a:buNone/>
            </a:pPr>
            <a:r>
              <a:rPr lang="en-US" sz="1750" dirty="0">
                <a:solidFill>
                  <a:srgbClr val="17324D"/>
                </a:solidFill>
                <a:latin typeface="Aptos" pitchFamily="34" charset="0"/>
                <a:ea typeface="Aptos" pitchFamily="34" charset="-122"/>
                <a:cs typeface="Aptos" pitchFamily="34" charset="-120"/>
              </a:rPr>
              <a:t>☐ Organize brand files, forms, sheets, reports, and pitch materials.</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Clarify ownership of code and source files.</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Store verification materials securely.</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Use request IDs and provider IDs instead of informal filenames.</a:t>
            </a:r>
            <a:endParaRPr lang="en-US" sz="1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Checklist</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Weekly Operating Rhythm</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Review evidence, improve the workflow, and assign next actions.</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Checklist</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22</a:t>
            </a:r>
            <a:endParaRPr lang="en-US" sz="850" dirty="0"/>
          </a:p>
        </p:txBody>
      </p:sp>
      <p:sp>
        <p:nvSpPr>
          <p:cNvPr id="8" name="Text 6"/>
          <p:cNvSpPr/>
          <p:nvPr/>
        </p:nvSpPr>
        <p:spPr>
          <a:xfrm>
            <a:off x="502920" y="1508760"/>
            <a:ext cx="5417820" cy="4754880"/>
          </a:xfrm>
          <a:prstGeom prst="rect">
            <a:avLst/>
          </a:prstGeom>
          <a:noFill/>
          <a:ln/>
        </p:spPr>
        <p:txBody>
          <a:bodyPr wrap="square" lIns="1270" tIns="1270" rIns="1270" bIns="1270" rtlCol="0" anchor="ctr">
            <a:normAutofit/>
          </a:bodyPr>
          <a:lstStyle/>
          <a:p>
            <a:pPr indent="0" marL="0">
              <a:buNone/>
            </a:pPr>
            <a:r>
              <a:rPr lang="en-US" sz="1750" dirty="0">
                <a:solidFill>
                  <a:srgbClr val="17324D"/>
                </a:solidFill>
                <a:latin typeface="Aptos" pitchFamily="34" charset="0"/>
                <a:ea typeface="Aptos" pitchFamily="34" charset="-122"/>
                <a:cs typeface="Aptos" pitchFamily="34" charset="-120"/>
              </a:rPr>
              <a:t>☐ Update provider sheet, request tracker, job log, and dispute log.</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Compute weekly metrics: providers, requests, offers, jobs, ratings, disputes, GMV.</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Identify top 3 lessons and top 3 problems.</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Review strongest and weakest categories.</a:t>
            </a:r>
            <a:endParaRPr lang="en-US" sz="1750" dirty="0"/>
          </a:p>
        </p:txBody>
      </p:sp>
      <p:sp>
        <p:nvSpPr>
          <p:cNvPr id="9" name="Text 7"/>
          <p:cNvSpPr/>
          <p:nvPr/>
        </p:nvSpPr>
        <p:spPr>
          <a:xfrm>
            <a:off x="6240780" y="1508760"/>
            <a:ext cx="5417820" cy="4754880"/>
          </a:xfrm>
          <a:prstGeom prst="rect">
            <a:avLst/>
          </a:prstGeom>
          <a:noFill/>
          <a:ln/>
        </p:spPr>
        <p:txBody>
          <a:bodyPr wrap="square" lIns="1270" tIns="1270" rIns="1270" bIns="1270" rtlCol="0" anchor="ctr">
            <a:normAutofit/>
          </a:bodyPr>
          <a:lstStyle/>
          <a:p>
            <a:pPr indent="0" marL="0">
              <a:buNone/>
            </a:pPr>
            <a:r>
              <a:rPr lang="en-US" sz="1750" dirty="0">
                <a:solidFill>
                  <a:srgbClr val="17324D"/>
                </a:solidFill>
                <a:latin typeface="Aptos" pitchFamily="34" charset="0"/>
                <a:ea typeface="Aptos" pitchFamily="34" charset="-122"/>
                <a:cs typeface="Aptos" pitchFamily="34" charset="-120"/>
              </a:rPr>
              <a:t>☐ Assign owners and deadlines for next actions.</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Update scripts, forms, and rules based on actual problems.</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Document decisions clearly.</a:t>
            </a:r>
            <a:endParaRPr lang="en-US" sz="1750" dirty="0"/>
          </a:p>
          <a:p>
            <a:pPr indent="0" marL="0">
              <a:buNone/>
            </a:pPr>
            <a:r>
              <a:rPr lang="en-US" sz="1750" dirty="0">
                <a:solidFill>
                  <a:srgbClr val="17324D"/>
                </a:solidFill>
                <a:latin typeface="Aptos" pitchFamily="34" charset="0"/>
                <a:ea typeface="Aptos" pitchFamily="34" charset="-122"/>
                <a:cs typeface="Aptos" pitchFamily="34" charset="-120"/>
              </a:rPr>
              <a:t>☐ Prepare a short weekly summary.</a:t>
            </a:r>
            <a:endParaRPr lang="en-US" sz="1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Checklist</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First 7 Days: Exact Starter Checklist</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Start immediately without building the app.</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Checklist</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23</a:t>
            </a:r>
            <a:endParaRPr lang="en-US" sz="850" dirty="0"/>
          </a:p>
        </p:txBody>
      </p:sp>
      <p:sp>
        <p:nvSpPr>
          <p:cNvPr id="8" name="Text 6"/>
          <p:cNvSpPr/>
          <p:nvPr/>
        </p:nvSpPr>
        <p:spPr>
          <a:xfrm>
            <a:off x="502920" y="1508760"/>
            <a:ext cx="5417820" cy="4754880"/>
          </a:xfrm>
          <a:prstGeom prst="rect">
            <a:avLst/>
          </a:prstGeom>
          <a:noFill/>
          <a:ln/>
        </p:spPr>
        <p:txBody>
          <a:bodyPr wrap="square" lIns="1270" tIns="1270" rIns="1270" bIns="1270" rtlCol="0" anchor="ctr">
            <a:normAutofit/>
          </a:bodyPr>
          <a:lstStyle/>
          <a:p>
            <a:pPr indent="0" marL="0">
              <a:buNone/>
            </a:pPr>
            <a:r>
              <a:rPr lang="en-US" sz="1720" dirty="0">
                <a:solidFill>
                  <a:srgbClr val="17324D"/>
                </a:solidFill>
                <a:latin typeface="Aptos" pitchFamily="34" charset="0"/>
                <a:ea typeface="Aptos" pitchFamily="34" charset="-122"/>
                <a:cs typeface="Aptos" pitchFamily="34" charset="-120"/>
              </a:rPr>
              <a:t>☐ Day 1: Decide pilot area, categories, client groups, provider groups, and free-pilot policy.</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Day 2: Create Facebook page, add description, contact details, category list, and pinned post.</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Day 3: Create provider form and provider database sheet.</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Day 4: Create client request form, request tracker, job log, and dispute log.</a:t>
            </a:r>
            <a:endParaRPr lang="en-US" sz="1720" dirty="0"/>
          </a:p>
        </p:txBody>
      </p:sp>
      <p:sp>
        <p:nvSpPr>
          <p:cNvPr id="9" name="Text 7"/>
          <p:cNvSpPr/>
          <p:nvPr/>
        </p:nvSpPr>
        <p:spPr>
          <a:xfrm>
            <a:off x="6240780" y="1508760"/>
            <a:ext cx="5417820" cy="4754880"/>
          </a:xfrm>
          <a:prstGeom prst="rect">
            <a:avLst/>
          </a:prstGeom>
          <a:noFill/>
          <a:ln/>
        </p:spPr>
        <p:txBody>
          <a:bodyPr wrap="square" lIns="1270" tIns="1270" rIns="1270" bIns="1270" rtlCol="0" anchor="ctr">
            <a:normAutofit/>
          </a:bodyPr>
          <a:lstStyle/>
          <a:p>
            <a:pPr indent="0" marL="0">
              <a:buNone/>
            </a:pPr>
            <a:r>
              <a:rPr lang="en-US" sz="1720" dirty="0">
                <a:solidFill>
                  <a:srgbClr val="17324D"/>
                </a:solidFill>
                <a:latin typeface="Aptos" pitchFamily="34" charset="0"/>
                <a:ea typeface="Aptos" pitchFamily="34" charset="-122"/>
                <a:cs typeface="Aptos" pitchFamily="34" charset="-120"/>
              </a:rPr>
              <a:t>☐ Day 5: Write rules, scripts, matching message, offer comparison, and rating templates.</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Day 6: Build 100-provider lead list.</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Day 7: Contact first 20 provider leads and start onboarding.</a:t>
            </a:r>
            <a:endParaRPr lang="en-US" sz="17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Guide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Recommended First Move</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KAILA Gingoog Concierge Pilot</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Guide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24</a:t>
            </a:r>
            <a:endParaRPr lang="en-US" sz="850" dirty="0"/>
          </a:p>
        </p:txBody>
      </p:sp>
      <p:sp>
        <p:nvSpPr>
          <p:cNvPr id="8" name="Shape 6"/>
          <p:cNvSpPr/>
          <p:nvPr/>
        </p:nvSpPr>
        <p:spPr>
          <a:xfrm>
            <a:off x="502920" y="1508760"/>
            <a:ext cx="3566160" cy="1234440"/>
          </a:xfrm>
          <a:prstGeom prst="roundRect">
            <a:avLst>
              <a:gd name="adj" fmla="val 5926"/>
            </a:avLst>
          </a:prstGeom>
          <a:solidFill>
            <a:srgbClr val="FFFFFF"/>
          </a:solidFill>
          <a:ln w="12700">
            <a:solidFill>
              <a:srgbClr val="C9D6E2"/>
            </a:solidFill>
            <a:prstDash val="solid"/>
          </a:ln>
        </p:spPr>
      </p:sp>
      <p:sp>
        <p:nvSpPr>
          <p:cNvPr id="9" name="Text 7"/>
          <p:cNvSpPr/>
          <p:nvPr/>
        </p:nvSpPr>
        <p:spPr>
          <a:xfrm>
            <a:off x="66751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50 providers</a:t>
            </a:r>
            <a:endParaRPr lang="en-US" sz="1600" dirty="0"/>
          </a:p>
        </p:txBody>
      </p:sp>
      <p:sp>
        <p:nvSpPr>
          <p:cNvPr id="10" name="Text 8"/>
          <p:cNvSpPr/>
          <p:nvPr/>
        </p:nvSpPr>
        <p:spPr>
          <a:xfrm>
            <a:off x="66751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Recruit and categorize</a:t>
            </a:r>
            <a:endParaRPr lang="en-US" sz="1450" dirty="0"/>
          </a:p>
        </p:txBody>
      </p:sp>
      <p:sp>
        <p:nvSpPr>
          <p:cNvPr id="11" name="Shape 9"/>
          <p:cNvSpPr/>
          <p:nvPr/>
        </p:nvSpPr>
        <p:spPr>
          <a:xfrm>
            <a:off x="4297680" y="1508760"/>
            <a:ext cx="3566160" cy="1234440"/>
          </a:xfrm>
          <a:prstGeom prst="roundRect">
            <a:avLst>
              <a:gd name="adj" fmla="val 5926"/>
            </a:avLst>
          </a:prstGeom>
          <a:solidFill>
            <a:srgbClr val="FFFFFF"/>
          </a:solidFill>
          <a:ln w="12700">
            <a:solidFill>
              <a:srgbClr val="C9D6E2"/>
            </a:solidFill>
            <a:prstDash val="solid"/>
          </a:ln>
        </p:spPr>
      </p:sp>
      <p:sp>
        <p:nvSpPr>
          <p:cNvPr id="12" name="Text 10"/>
          <p:cNvSpPr/>
          <p:nvPr/>
        </p:nvSpPr>
        <p:spPr>
          <a:xfrm>
            <a:off x="446227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100 client responses</a:t>
            </a:r>
            <a:endParaRPr lang="en-US" sz="1600" dirty="0"/>
          </a:p>
        </p:txBody>
      </p:sp>
      <p:sp>
        <p:nvSpPr>
          <p:cNvPr id="13" name="Text 11"/>
          <p:cNvSpPr/>
          <p:nvPr/>
        </p:nvSpPr>
        <p:spPr>
          <a:xfrm>
            <a:off x="446227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Survey and validate demand</a:t>
            </a:r>
            <a:endParaRPr lang="en-US" sz="1450" dirty="0"/>
          </a:p>
        </p:txBody>
      </p:sp>
      <p:sp>
        <p:nvSpPr>
          <p:cNvPr id="14" name="Shape 12"/>
          <p:cNvSpPr/>
          <p:nvPr/>
        </p:nvSpPr>
        <p:spPr>
          <a:xfrm>
            <a:off x="8092440" y="1508760"/>
            <a:ext cx="3566160" cy="1234440"/>
          </a:xfrm>
          <a:prstGeom prst="roundRect">
            <a:avLst>
              <a:gd name="adj" fmla="val 5926"/>
            </a:avLst>
          </a:prstGeom>
          <a:solidFill>
            <a:srgbClr val="FFFFFF"/>
          </a:solidFill>
          <a:ln w="12700">
            <a:solidFill>
              <a:srgbClr val="C9D6E2"/>
            </a:solidFill>
            <a:prstDash val="solid"/>
          </a:ln>
        </p:spPr>
      </p:sp>
      <p:sp>
        <p:nvSpPr>
          <p:cNvPr id="15" name="Text 13"/>
          <p:cNvSpPr/>
          <p:nvPr/>
        </p:nvSpPr>
        <p:spPr>
          <a:xfrm>
            <a:off x="825703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30 real requests</a:t>
            </a:r>
            <a:endParaRPr lang="en-US" sz="1600" dirty="0"/>
          </a:p>
        </p:txBody>
      </p:sp>
      <p:sp>
        <p:nvSpPr>
          <p:cNvPr id="16" name="Text 14"/>
          <p:cNvSpPr/>
          <p:nvPr/>
        </p:nvSpPr>
        <p:spPr>
          <a:xfrm>
            <a:off x="825703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Collect during pilot</a:t>
            </a:r>
            <a:endParaRPr lang="en-US" sz="1450" dirty="0"/>
          </a:p>
        </p:txBody>
      </p:sp>
      <p:sp>
        <p:nvSpPr>
          <p:cNvPr id="17" name="Shape 15"/>
          <p:cNvSpPr/>
          <p:nvPr/>
        </p:nvSpPr>
        <p:spPr>
          <a:xfrm>
            <a:off x="502920" y="2999232"/>
            <a:ext cx="3566160" cy="1234440"/>
          </a:xfrm>
          <a:prstGeom prst="roundRect">
            <a:avLst>
              <a:gd name="adj" fmla="val 5926"/>
            </a:avLst>
          </a:prstGeom>
          <a:solidFill>
            <a:srgbClr val="FFFFFF"/>
          </a:solidFill>
          <a:ln w="12700">
            <a:solidFill>
              <a:srgbClr val="C9D6E2"/>
            </a:solidFill>
            <a:prstDash val="solid"/>
          </a:ln>
        </p:spPr>
      </p:sp>
      <p:sp>
        <p:nvSpPr>
          <p:cNvPr id="18" name="Text 16"/>
          <p:cNvSpPr/>
          <p:nvPr/>
        </p:nvSpPr>
        <p:spPr>
          <a:xfrm>
            <a:off x="667512" y="3127248"/>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15 completed / matched jobs</a:t>
            </a:r>
            <a:endParaRPr lang="en-US" sz="1600" dirty="0"/>
          </a:p>
        </p:txBody>
      </p:sp>
      <p:sp>
        <p:nvSpPr>
          <p:cNvPr id="19" name="Text 17"/>
          <p:cNvSpPr/>
          <p:nvPr/>
        </p:nvSpPr>
        <p:spPr>
          <a:xfrm>
            <a:off x="667512" y="3474720"/>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Minimum strong evidence target</a:t>
            </a:r>
            <a:endParaRPr lang="en-US" sz="1450" dirty="0"/>
          </a:p>
        </p:txBody>
      </p:sp>
      <p:sp>
        <p:nvSpPr>
          <p:cNvPr id="20" name="Shape 18"/>
          <p:cNvSpPr/>
          <p:nvPr/>
        </p:nvSpPr>
        <p:spPr>
          <a:xfrm>
            <a:off x="4297680" y="2999232"/>
            <a:ext cx="3566160" cy="1234440"/>
          </a:xfrm>
          <a:prstGeom prst="roundRect">
            <a:avLst>
              <a:gd name="adj" fmla="val 5926"/>
            </a:avLst>
          </a:prstGeom>
          <a:solidFill>
            <a:srgbClr val="FFFFFF"/>
          </a:solidFill>
          <a:ln w="12700">
            <a:solidFill>
              <a:srgbClr val="C9D6E2"/>
            </a:solidFill>
            <a:prstDash val="solid"/>
          </a:ln>
        </p:spPr>
      </p:sp>
      <p:sp>
        <p:nvSpPr>
          <p:cNvPr id="21" name="Text 19"/>
          <p:cNvSpPr/>
          <p:nvPr/>
        </p:nvSpPr>
        <p:spPr>
          <a:xfrm>
            <a:off x="4462272" y="3127248"/>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5–8 categories</a:t>
            </a:r>
            <a:endParaRPr lang="en-US" sz="1600" dirty="0"/>
          </a:p>
        </p:txBody>
      </p:sp>
      <p:sp>
        <p:nvSpPr>
          <p:cNvPr id="22" name="Text 20"/>
          <p:cNvSpPr/>
          <p:nvPr/>
        </p:nvSpPr>
        <p:spPr>
          <a:xfrm>
            <a:off x="4462272" y="3474720"/>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Narrow and manageable</a:t>
            </a:r>
            <a:endParaRPr lang="en-US" sz="1450" dirty="0"/>
          </a:p>
        </p:txBody>
      </p:sp>
      <p:sp>
        <p:nvSpPr>
          <p:cNvPr id="23" name="Shape 21"/>
          <p:cNvSpPr/>
          <p:nvPr/>
        </p:nvSpPr>
        <p:spPr>
          <a:xfrm>
            <a:off x="8092440" y="2999232"/>
            <a:ext cx="3566160" cy="1234440"/>
          </a:xfrm>
          <a:prstGeom prst="roundRect">
            <a:avLst>
              <a:gd name="adj" fmla="val 5926"/>
            </a:avLst>
          </a:prstGeom>
          <a:solidFill>
            <a:srgbClr val="FFFFFF"/>
          </a:solidFill>
          <a:ln w="12700">
            <a:solidFill>
              <a:srgbClr val="C9D6E2"/>
            </a:solidFill>
            <a:prstDash val="solid"/>
          </a:ln>
        </p:spPr>
      </p:sp>
      <p:sp>
        <p:nvSpPr>
          <p:cNvPr id="24" name="Text 22"/>
          <p:cNvSpPr/>
          <p:nvPr/>
        </p:nvSpPr>
        <p:spPr>
          <a:xfrm>
            <a:off x="8257032" y="3127248"/>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30–45 days</a:t>
            </a:r>
            <a:endParaRPr lang="en-US" sz="1600" dirty="0"/>
          </a:p>
        </p:txBody>
      </p:sp>
      <p:sp>
        <p:nvSpPr>
          <p:cNvPr id="25" name="Text 23"/>
          <p:cNvSpPr/>
          <p:nvPr/>
        </p:nvSpPr>
        <p:spPr>
          <a:xfrm>
            <a:off x="8257032" y="3474720"/>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Active matching period</a:t>
            </a:r>
            <a:endParaRPr lang="en-US" sz="1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C"/>
          </a:solidFill>
          <a:ln w="12700">
            <a:solidFill>
              <a:srgbClr val="333333">
                <a:alpha val="0"/>
              </a:srgbClr>
            </a:solidFill>
            <a:prstDash val="solid"/>
          </a:ln>
        </p:spPr>
      </p:sp>
      <p:sp>
        <p:nvSpPr>
          <p:cNvPr id="3" name="Shape 1"/>
          <p:cNvSpPr/>
          <p:nvPr/>
        </p:nvSpPr>
        <p:spPr>
          <a:xfrm>
            <a:off x="0" y="0"/>
            <a:ext cx="12191695" cy="292608"/>
          </a:xfrm>
          <a:prstGeom prst="rect">
            <a:avLst/>
          </a:prstGeom>
          <a:solidFill>
            <a:srgbClr val="2E7D32"/>
          </a:solidFill>
          <a:ln w="12700">
            <a:solidFill>
              <a:srgbClr val="2E7D32"/>
            </a:solidFill>
            <a:prstDash val="solid"/>
          </a:ln>
        </p:spPr>
      </p:sp>
      <p:sp>
        <p:nvSpPr>
          <p:cNvPr id="4" name="Shape 2"/>
          <p:cNvSpPr/>
          <p:nvPr/>
        </p:nvSpPr>
        <p:spPr>
          <a:xfrm>
            <a:off x="685800" y="1005840"/>
            <a:ext cx="146304" cy="4480560"/>
          </a:xfrm>
          <a:prstGeom prst="rect">
            <a:avLst/>
          </a:prstGeom>
          <a:solidFill>
            <a:srgbClr val="2E7D32"/>
          </a:solidFill>
          <a:ln w="12700">
            <a:solidFill>
              <a:srgbClr val="2E7D32"/>
            </a:solidFill>
            <a:prstDash val="solid"/>
          </a:ln>
        </p:spPr>
      </p:sp>
      <p:sp>
        <p:nvSpPr>
          <p:cNvPr id="5" name="Text 3"/>
          <p:cNvSpPr/>
          <p:nvPr/>
        </p:nvSpPr>
        <p:spPr>
          <a:xfrm>
            <a:off x="1005840" y="1170432"/>
            <a:ext cx="9875520" cy="822960"/>
          </a:xfrm>
          <a:prstGeom prst="rect">
            <a:avLst/>
          </a:prstGeom>
          <a:noFill/>
          <a:ln/>
        </p:spPr>
        <p:txBody>
          <a:bodyPr wrap="square" lIns="0" tIns="0" rIns="0" bIns="0" rtlCol="0" anchor="ctr"/>
          <a:lstStyle/>
          <a:p>
            <a:pPr indent="0" marL="0">
              <a:buNone/>
            </a:pPr>
            <a:r>
              <a:rPr lang="en-US" sz="4200" b="1" dirty="0">
                <a:solidFill>
                  <a:srgbClr val="17324D"/>
                </a:solidFill>
                <a:latin typeface="Aptos Display" pitchFamily="34" charset="0"/>
                <a:ea typeface="Aptos Display" pitchFamily="34" charset="-122"/>
                <a:cs typeface="Aptos Display" pitchFamily="34" charset="-120"/>
              </a:rPr>
              <a:t>Section 2</a:t>
            </a:r>
            <a:endParaRPr lang="en-US" sz="4200" dirty="0"/>
          </a:p>
        </p:txBody>
      </p:sp>
      <p:sp>
        <p:nvSpPr>
          <p:cNvPr id="6" name="Text 4"/>
          <p:cNvSpPr/>
          <p:nvPr/>
        </p:nvSpPr>
        <p:spPr>
          <a:xfrm>
            <a:off x="1005840" y="2029968"/>
            <a:ext cx="9692640" cy="502920"/>
          </a:xfrm>
          <a:prstGeom prst="rect">
            <a:avLst/>
          </a:prstGeom>
          <a:noFill/>
          <a:ln/>
        </p:spPr>
        <p:txBody>
          <a:bodyPr wrap="square" lIns="0" tIns="0" rIns="0" bIns="0" rtlCol="0" anchor="ctr"/>
          <a:lstStyle/>
          <a:p>
            <a:pPr indent="0" marL="0">
              <a:buNone/>
            </a:pPr>
            <a:r>
              <a:rPr lang="en-US" sz="2000" dirty="0">
                <a:solidFill>
                  <a:srgbClr val="5A6B7A"/>
                </a:solidFill>
                <a:latin typeface="Aptos" pitchFamily="34" charset="0"/>
                <a:ea typeface="Aptos" pitchFamily="34" charset="-122"/>
                <a:cs typeface="Aptos" pitchFamily="34" charset="-120"/>
              </a:rPr>
              <a:t>Complete Templates and Forms Pack</a:t>
            </a:r>
            <a:endParaRPr lang="en-US" sz="2000" dirty="0"/>
          </a:p>
        </p:txBody>
      </p:sp>
      <p:sp>
        <p:nvSpPr>
          <p:cNvPr id="7" name="Text 5"/>
          <p:cNvSpPr/>
          <p:nvPr/>
        </p:nvSpPr>
        <p:spPr>
          <a:xfrm>
            <a:off x="1005840" y="2834640"/>
            <a:ext cx="9875520" cy="2194560"/>
          </a:xfrm>
          <a:prstGeom prst="rect">
            <a:avLst/>
          </a:prstGeom>
          <a:noFill/>
          <a:ln/>
        </p:spPr>
        <p:txBody>
          <a:bodyPr wrap="square" lIns="635" tIns="635" rIns="635" bIns="635" rtlCol="0" anchor="ctr"/>
          <a:lstStyle/>
          <a:p>
            <a:pPr marL="228600" indent="-228600">
              <a:buSzPct val="100000"/>
              <a:buChar char="•"/>
            </a:pPr>
            <a:r>
              <a:rPr lang="en-US" sz="2000" dirty="0">
                <a:solidFill>
                  <a:srgbClr val="17324D"/>
                </a:solidFill>
                <a:latin typeface="Aptos" pitchFamily="34" charset="0"/>
                <a:ea typeface="Aptos" pitchFamily="34" charset="-122"/>
                <a:cs typeface="Aptos" pitchFamily="34" charset="-120"/>
              </a:rPr>
              <a:t>Provider forms</a:t>
            </a:r>
            <a:endParaRPr lang="en-US" sz="2000" dirty="0"/>
          </a:p>
          <a:p>
            <a:pPr marL="228600" indent="-228600">
              <a:buSzPct val="100000"/>
              <a:buChar char="•"/>
            </a:pPr>
            <a:r>
              <a:rPr lang="en-US" sz="2000" dirty="0">
                <a:solidFill>
                  <a:srgbClr val="17324D"/>
                </a:solidFill>
                <a:latin typeface="Aptos" pitchFamily="34" charset="0"/>
                <a:ea typeface="Aptos" pitchFamily="34" charset="-122"/>
                <a:cs typeface="Aptos" pitchFamily="34" charset="-120"/>
              </a:rPr>
              <a:t>Client request forms</a:t>
            </a:r>
            <a:endParaRPr lang="en-US" sz="2000" dirty="0"/>
          </a:p>
          <a:p>
            <a:pPr marL="228600" indent="-228600">
              <a:buSzPct val="100000"/>
              <a:buChar char="•"/>
            </a:pPr>
            <a:r>
              <a:rPr lang="en-US" sz="2000" dirty="0">
                <a:solidFill>
                  <a:srgbClr val="17324D"/>
                </a:solidFill>
                <a:latin typeface="Aptos" pitchFamily="34" charset="0"/>
                <a:ea typeface="Aptos" pitchFamily="34" charset="-122"/>
                <a:cs typeface="Aptos" pitchFamily="34" charset="-120"/>
              </a:rPr>
              <a:t>Tracking sheets</a:t>
            </a:r>
            <a:endParaRPr lang="en-US" sz="2000" dirty="0"/>
          </a:p>
          <a:p>
            <a:pPr marL="228600" indent="-228600">
              <a:buSzPct val="100000"/>
              <a:buChar char="•"/>
            </a:pPr>
            <a:r>
              <a:rPr lang="en-US" sz="2000" dirty="0">
                <a:solidFill>
                  <a:srgbClr val="17324D"/>
                </a:solidFill>
                <a:latin typeface="Aptos" pitchFamily="34" charset="0"/>
                <a:ea typeface="Aptos" pitchFamily="34" charset="-122"/>
                <a:cs typeface="Aptos" pitchFamily="34" charset="-120"/>
              </a:rPr>
              <a:t>Scripts and messages</a:t>
            </a:r>
            <a:endParaRPr lang="en-US" sz="2000" dirty="0"/>
          </a:p>
          <a:p>
            <a:pPr marL="228600" indent="-228600">
              <a:buSzPct val="100000"/>
              <a:buChar char="•"/>
            </a:pPr>
            <a:r>
              <a:rPr lang="en-US" sz="2000" dirty="0">
                <a:solidFill>
                  <a:srgbClr val="17324D"/>
                </a:solidFill>
                <a:latin typeface="Aptos" pitchFamily="34" charset="0"/>
                <a:ea typeface="Aptos" pitchFamily="34" charset="-122"/>
                <a:cs typeface="Aptos" pitchFamily="34" charset="-120"/>
              </a:rPr>
              <a:t>Weekly reports and scorecards</a:t>
            </a:r>
            <a:endParaRPr lang="en-US" sz="2000" dirty="0"/>
          </a:p>
        </p:txBody>
      </p:sp>
      <p:sp>
        <p:nvSpPr>
          <p:cNvPr id="8" name="Text 6"/>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KAILA</a:t>
            </a:r>
            <a:endParaRPr lang="en-US" sz="850" dirty="0"/>
          </a:p>
        </p:txBody>
      </p:sp>
      <p:sp>
        <p:nvSpPr>
          <p:cNvPr id="9" name="Text 7"/>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25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Templates</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Forms Pack Overview</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Copy these templates into Google Forms, Google Sheets, Messenger, and meeting notes.</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Templates</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26</a:t>
            </a:r>
            <a:endParaRPr lang="en-US" sz="850" dirty="0"/>
          </a:p>
        </p:txBody>
      </p:sp>
      <p:sp>
        <p:nvSpPr>
          <p:cNvPr id="8" name="Text 6"/>
          <p:cNvSpPr/>
          <p:nvPr/>
        </p:nvSpPr>
        <p:spPr>
          <a:xfrm>
            <a:off x="502920" y="1554480"/>
            <a:ext cx="11109960" cy="4526280"/>
          </a:xfrm>
          <a:prstGeom prst="rect">
            <a:avLst/>
          </a:prstGeom>
          <a:noFill/>
          <a:ln/>
        </p:spPr>
        <p:txBody>
          <a:bodyPr wrap="square" lIns="1016" tIns="1016" rIns="1016" bIns="1016" rtlCol="0" anchor="ctr">
            <a:normAutofit/>
          </a:bodyPr>
          <a:lstStyle/>
          <a:p>
            <a:pPr marL="203200" indent="-203200">
              <a:buSzPct val="100000"/>
              <a:buChar char="•"/>
            </a:pPr>
            <a:r>
              <a:rPr lang="en-US" sz="1850" dirty="0">
                <a:solidFill>
                  <a:srgbClr val="17324D"/>
                </a:solidFill>
                <a:latin typeface="Aptos" pitchFamily="34" charset="0"/>
                <a:ea typeface="Aptos" pitchFamily="34" charset="-122"/>
                <a:cs typeface="Aptos" pitchFamily="34" charset="-120"/>
              </a:rPr>
              <a:t>Provider Signup Form: collects provider identity, services, availability, pricing, proof, and consent.</a:t>
            </a:r>
            <a:endParaRPr lang="en-US" sz="1850" dirty="0"/>
          </a:p>
          <a:p>
            <a:pPr marL="203200" indent="-203200">
              <a:buSzPct val="100000"/>
              <a:buChar char="•"/>
            </a:pPr>
            <a:r>
              <a:rPr lang="en-US" sz="1850" dirty="0">
                <a:solidFill>
                  <a:srgbClr val="17324D"/>
                </a:solidFill>
                <a:latin typeface="Aptos" pitchFamily="34" charset="0"/>
                <a:ea typeface="Aptos" pitchFamily="34" charset="-122"/>
                <a:cs typeface="Aptos" pitchFamily="34" charset="-120"/>
              </a:rPr>
              <a:t>Client Request Form: collects demand details for matching.</a:t>
            </a:r>
            <a:endParaRPr lang="en-US" sz="1850" dirty="0"/>
          </a:p>
          <a:p>
            <a:pPr marL="203200" indent="-203200">
              <a:buSzPct val="100000"/>
              <a:buChar char="•"/>
            </a:pPr>
            <a:r>
              <a:rPr lang="en-US" sz="1850" dirty="0">
                <a:solidFill>
                  <a:srgbClr val="17324D"/>
                </a:solidFill>
                <a:latin typeface="Aptos" pitchFamily="34" charset="0"/>
                <a:ea typeface="Aptos" pitchFamily="34" charset="-122"/>
                <a:cs typeface="Aptos" pitchFamily="34" charset="-120"/>
              </a:rPr>
              <a:t>Tracking Sheets: provider database, request tracker, completed job log, dispute log.</a:t>
            </a:r>
            <a:endParaRPr lang="en-US" sz="1850" dirty="0"/>
          </a:p>
          <a:p>
            <a:pPr marL="203200" indent="-203200">
              <a:buSzPct val="100000"/>
              <a:buChar char="•"/>
            </a:pPr>
            <a:r>
              <a:rPr lang="en-US" sz="1850" dirty="0">
                <a:solidFill>
                  <a:srgbClr val="17324D"/>
                </a:solidFill>
                <a:latin typeface="Aptos" pitchFamily="34" charset="0"/>
                <a:ea typeface="Aptos" pitchFamily="34" charset="-122"/>
                <a:cs typeface="Aptos" pitchFamily="34" charset="-120"/>
              </a:rPr>
              <a:t>Survey + Interview Forms: collect validation evidence before and during launch.</a:t>
            </a:r>
            <a:endParaRPr lang="en-US" sz="1850" dirty="0"/>
          </a:p>
          <a:p>
            <a:pPr marL="203200" indent="-203200">
              <a:buSzPct val="100000"/>
              <a:buChar char="•"/>
            </a:pPr>
            <a:r>
              <a:rPr lang="en-US" sz="1850" dirty="0">
                <a:solidFill>
                  <a:srgbClr val="17324D"/>
                </a:solidFill>
                <a:latin typeface="Aptos" pitchFamily="34" charset="0"/>
                <a:ea typeface="Aptos" pitchFamily="34" charset="-122"/>
                <a:cs typeface="Aptos" pitchFamily="34" charset="-120"/>
              </a:rPr>
              <a:t>Scripts + Message Templates: standardize provider recruitment, forwarding, offers, and ratings.</a:t>
            </a:r>
            <a:endParaRPr lang="en-US" sz="1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Provider Form</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Provider Signup Form — Part 1</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Copy into Google Forms. Use this to collect basic provider identity and contact details.</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Provider Form</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27</a:t>
            </a:r>
            <a:endParaRPr lang="en-US" sz="850" dirty="0"/>
          </a:p>
        </p:txBody>
      </p:sp>
      <p:sp>
        <p:nvSpPr>
          <p:cNvPr id="8" name="Text 6"/>
          <p:cNvSpPr/>
          <p:nvPr/>
        </p:nvSpPr>
        <p:spPr>
          <a:xfrm>
            <a:off x="502920" y="1380744"/>
            <a:ext cx="292608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630168" y="1380744"/>
            <a:ext cx="802843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2926080" cy="500634"/>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ptos" pitchFamily="34" charset="0"/>
                <a:ea typeface="Aptos" pitchFamily="34" charset="-122"/>
                <a:cs typeface="Aptos" pitchFamily="34" charset="-120"/>
              </a:rPr>
              <a:t>Full name</a:t>
            </a:r>
            <a:endParaRPr lang="en-US" sz="1550" dirty="0"/>
          </a:p>
        </p:txBody>
      </p:sp>
      <p:sp>
        <p:nvSpPr>
          <p:cNvPr id="11" name="Text 9"/>
          <p:cNvSpPr/>
          <p:nvPr/>
        </p:nvSpPr>
        <p:spPr>
          <a:xfrm>
            <a:off x="3630168" y="1700784"/>
            <a:ext cx="8028432" cy="500634"/>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Short answer. Legal name or complete name.</a:t>
            </a:r>
            <a:endParaRPr lang="en-US" sz="155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2926080" cy="500634"/>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ptos" pitchFamily="34" charset="0"/>
                <a:ea typeface="Aptos" pitchFamily="34" charset="-122"/>
                <a:cs typeface="Aptos" pitchFamily="34" charset="-120"/>
              </a:rPr>
              <a:t>Display name</a:t>
            </a:r>
            <a:endParaRPr lang="en-US" sz="1550" dirty="0"/>
          </a:p>
        </p:txBody>
      </p:sp>
      <p:sp>
        <p:nvSpPr>
          <p:cNvPr id="14" name="Text 12"/>
          <p:cNvSpPr/>
          <p:nvPr/>
        </p:nvSpPr>
        <p:spPr>
          <a:xfrm>
            <a:off x="3630168" y="2274570"/>
            <a:ext cx="8028432" cy="500634"/>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Short answer. Name that may be shown to clients.</a:t>
            </a:r>
            <a:endParaRPr lang="en-US" sz="155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2926080" cy="500634"/>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ptos" pitchFamily="34" charset="0"/>
                <a:ea typeface="Aptos" pitchFamily="34" charset="-122"/>
                <a:cs typeface="Aptos" pitchFamily="34" charset="-120"/>
              </a:rPr>
              <a:t>Contact number</a:t>
            </a:r>
            <a:endParaRPr lang="en-US" sz="1550" dirty="0"/>
          </a:p>
        </p:txBody>
      </p:sp>
      <p:sp>
        <p:nvSpPr>
          <p:cNvPr id="17" name="Text 15"/>
          <p:cNvSpPr/>
          <p:nvPr/>
        </p:nvSpPr>
        <p:spPr>
          <a:xfrm>
            <a:off x="3630168" y="2848356"/>
            <a:ext cx="8028432" cy="500634"/>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Short answer. Required for pilot coordination.</a:t>
            </a:r>
            <a:endParaRPr lang="en-US" sz="155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2926080" cy="500634"/>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ptos" pitchFamily="34" charset="0"/>
                <a:ea typeface="Aptos" pitchFamily="34" charset="-122"/>
                <a:cs typeface="Aptos" pitchFamily="34" charset="-120"/>
              </a:rPr>
              <a:t>Messenger / Facebook link</a:t>
            </a:r>
            <a:endParaRPr lang="en-US" sz="1550" dirty="0"/>
          </a:p>
        </p:txBody>
      </p:sp>
      <p:sp>
        <p:nvSpPr>
          <p:cNvPr id="20" name="Text 18"/>
          <p:cNvSpPr/>
          <p:nvPr/>
        </p:nvSpPr>
        <p:spPr>
          <a:xfrm>
            <a:off x="3630168" y="3422142"/>
            <a:ext cx="8028432" cy="500634"/>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Short answer. Preferred for fast communication.</a:t>
            </a:r>
            <a:endParaRPr lang="en-US" sz="155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2926080" cy="500634"/>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ptos" pitchFamily="34" charset="0"/>
                <a:ea typeface="Aptos" pitchFamily="34" charset="-122"/>
                <a:cs typeface="Aptos" pitchFamily="34" charset="-120"/>
              </a:rPr>
              <a:t>Barangay / area</a:t>
            </a:r>
            <a:endParaRPr lang="en-US" sz="1550" dirty="0"/>
          </a:p>
        </p:txBody>
      </p:sp>
      <p:sp>
        <p:nvSpPr>
          <p:cNvPr id="23" name="Text 21"/>
          <p:cNvSpPr/>
          <p:nvPr/>
        </p:nvSpPr>
        <p:spPr>
          <a:xfrm>
            <a:off x="3630168" y="3995928"/>
            <a:ext cx="8028432" cy="500634"/>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Short answer or dropdown. Helps match by location.</a:t>
            </a:r>
            <a:endParaRPr lang="en-US" sz="155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2926080" cy="500634"/>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ptos" pitchFamily="34" charset="0"/>
                <a:ea typeface="Aptos" pitchFamily="34" charset="-122"/>
                <a:cs typeface="Aptos" pitchFamily="34" charset="-120"/>
              </a:rPr>
              <a:t>Preferred contact channel</a:t>
            </a:r>
            <a:endParaRPr lang="en-US" sz="1550" dirty="0"/>
          </a:p>
        </p:txBody>
      </p:sp>
      <p:sp>
        <p:nvSpPr>
          <p:cNvPr id="26" name="Text 24"/>
          <p:cNvSpPr/>
          <p:nvPr/>
        </p:nvSpPr>
        <p:spPr>
          <a:xfrm>
            <a:off x="3630168" y="4569714"/>
            <a:ext cx="8028432" cy="500634"/>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Multiple choice: Messenger, SMS, Call, Email, Other.</a:t>
            </a:r>
            <a:endParaRPr lang="en-US" sz="155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2926080" cy="500634"/>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ptos" pitchFamily="34" charset="0"/>
                <a:ea typeface="Aptos" pitchFamily="34" charset="-122"/>
                <a:cs typeface="Aptos" pitchFamily="34" charset="-120"/>
              </a:rPr>
              <a:t>Best time to contact</a:t>
            </a:r>
            <a:endParaRPr lang="en-US" sz="1550" dirty="0"/>
          </a:p>
        </p:txBody>
      </p:sp>
      <p:sp>
        <p:nvSpPr>
          <p:cNvPr id="29" name="Text 27"/>
          <p:cNvSpPr/>
          <p:nvPr/>
        </p:nvSpPr>
        <p:spPr>
          <a:xfrm>
            <a:off x="3630168" y="5143500"/>
            <a:ext cx="8028432" cy="500634"/>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Short answer. Example: 6 PM–9 PM.</a:t>
            </a:r>
            <a:endParaRPr lang="en-US" sz="155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2926080" cy="500634"/>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ptos" pitchFamily="34" charset="0"/>
                <a:ea typeface="Aptos" pitchFamily="34" charset="-122"/>
                <a:cs typeface="Aptos" pitchFamily="34" charset="-120"/>
              </a:rPr>
              <a:t>Provider type</a:t>
            </a:r>
            <a:endParaRPr lang="en-US" sz="1550" dirty="0"/>
          </a:p>
        </p:txBody>
      </p:sp>
      <p:sp>
        <p:nvSpPr>
          <p:cNvPr id="32" name="Text 30"/>
          <p:cNvSpPr/>
          <p:nvPr/>
        </p:nvSpPr>
        <p:spPr>
          <a:xfrm>
            <a:off x="3630168" y="5717286"/>
            <a:ext cx="8028432" cy="500634"/>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Multiple choice: Individual, Freelancer, Shop, Small team, Business.</a:t>
            </a:r>
            <a:endParaRPr lang="en-US" sz="155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Provider Form</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Provider Signup Form — Part 2</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Service details, skills, coverage, and availability.</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Provider Form</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28</a:t>
            </a:r>
            <a:endParaRPr lang="en-US" sz="850" dirty="0"/>
          </a:p>
        </p:txBody>
      </p:sp>
      <p:sp>
        <p:nvSpPr>
          <p:cNvPr id="8" name="Text 6"/>
          <p:cNvSpPr/>
          <p:nvPr/>
        </p:nvSpPr>
        <p:spPr>
          <a:xfrm>
            <a:off x="502920" y="1380744"/>
            <a:ext cx="292608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630168" y="1380744"/>
            <a:ext cx="802843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2926080" cy="500634"/>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Main service category</a:t>
            </a:r>
            <a:endParaRPr lang="en-US" sz="1490" dirty="0"/>
          </a:p>
        </p:txBody>
      </p:sp>
      <p:sp>
        <p:nvSpPr>
          <p:cNvPr id="11" name="Text 9"/>
          <p:cNvSpPr/>
          <p:nvPr/>
        </p:nvSpPr>
        <p:spPr>
          <a:xfrm>
            <a:off x="3630168" y="1700784"/>
            <a:ext cx="8028432" cy="500634"/>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Dropdown: Appliance, Plumbing, Electrical, Computer, Motorcycle, Carpentry, Cleaning, Digital, Other.</a:t>
            </a:r>
            <a:endParaRPr lang="en-US" sz="149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2926080" cy="500634"/>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Specific services offered</a:t>
            </a:r>
            <a:endParaRPr lang="en-US" sz="1490" dirty="0"/>
          </a:p>
        </p:txBody>
      </p:sp>
      <p:sp>
        <p:nvSpPr>
          <p:cNvPr id="14" name="Text 12"/>
          <p:cNvSpPr/>
          <p:nvPr/>
        </p:nvSpPr>
        <p:spPr>
          <a:xfrm>
            <a:off x="3630168" y="2274570"/>
            <a:ext cx="8028432" cy="500634"/>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Paragraph. Ask for exact jobs they can do.</a:t>
            </a:r>
            <a:endParaRPr lang="en-US" sz="149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2926080" cy="500634"/>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Years of experience</a:t>
            </a:r>
            <a:endParaRPr lang="en-US" sz="1490" dirty="0"/>
          </a:p>
        </p:txBody>
      </p:sp>
      <p:sp>
        <p:nvSpPr>
          <p:cNvPr id="17" name="Text 15"/>
          <p:cNvSpPr/>
          <p:nvPr/>
        </p:nvSpPr>
        <p:spPr>
          <a:xfrm>
            <a:off x="3630168" y="2848356"/>
            <a:ext cx="8028432" cy="500634"/>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Multiple choice: Less than 1, 1–2, 3–5, 6–10, 10+.</a:t>
            </a:r>
            <a:endParaRPr lang="en-US" sz="149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2926080" cy="500634"/>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Coverage area</a:t>
            </a:r>
            <a:endParaRPr lang="en-US" sz="1490" dirty="0"/>
          </a:p>
        </p:txBody>
      </p:sp>
      <p:sp>
        <p:nvSpPr>
          <p:cNvPr id="20" name="Text 18"/>
          <p:cNvSpPr/>
          <p:nvPr/>
        </p:nvSpPr>
        <p:spPr>
          <a:xfrm>
            <a:off x="3630168" y="3422142"/>
            <a:ext cx="8028432" cy="500634"/>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Checkboxes or paragraph. Barangays/areas they can serve.</a:t>
            </a:r>
            <a:endParaRPr lang="en-US" sz="149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2926080" cy="500634"/>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Emergency availability</a:t>
            </a:r>
            <a:endParaRPr lang="en-US" sz="1490" dirty="0"/>
          </a:p>
        </p:txBody>
      </p:sp>
      <p:sp>
        <p:nvSpPr>
          <p:cNvPr id="23" name="Text 21"/>
          <p:cNvSpPr/>
          <p:nvPr/>
        </p:nvSpPr>
        <p:spPr>
          <a:xfrm>
            <a:off x="3630168" y="3995928"/>
            <a:ext cx="8028432" cy="500634"/>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Multiple choice: Yes, No, Sometimes.</a:t>
            </a:r>
            <a:endParaRPr lang="en-US" sz="149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2926080" cy="500634"/>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Available days</a:t>
            </a:r>
            <a:endParaRPr lang="en-US" sz="1490" dirty="0"/>
          </a:p>
        </p:txBody>
      </p:sp>
      <p:sp>
        <p:nvSpPr>
          <p:cNvPr id="26" name="Text 24"/>
          <p:cNvSpPr/>
          <p:nvPr/>
        </p:nvSpPr>
        <p:spPr>
          <a:xfrm>
            <a:off x="3630168" y="4569714"/>
            <a:ext cx="8028432" cy="500634"/>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Checkboxes: Mon, Tue, Wed, Thu, Fri, Sat, Sun.</a:t>
            </a:r>
            <a:endParaRPr lang="en-US" sz="149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2926080" cy="500634"/>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Available time</a:t>
            </a:r>
            <a:endParaRPr lang="en-US" sz="1490" dirty="0"/>
          </a:p>
        </p:txBody>
      </p:sp>
      <p:sp>
        <p:nvSpPr>
          <p:cNvPr id="29" name="Text 27"/>
          <p:cNvSpPr/>
          <p:nvPr/>
        </p:nvSpPr>
        <p:spPr>
          <a:xfrm>
            <a:off x="3630168" y="5143500"/>
            <a:ext cx="8028432" cy="500634"/>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Short answer. Example: evenings only, weekends, whole day.</a:t>
            </a:r>
            <a:endParaRPr lang="en-US" sz="149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2926080" cy="500634"/>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Travel limits</a:t>
            </a:r>
            <a:endParaRPr lang="en-US" sz="1490" dirty="0"/>
          </a:p>
        </p:txBody>
      </p:sp>
      <p:sp>
        <p:nvSpPr>
          <p:cNvPr id="32" name="Text 30"/>
          <p:cNvSpPr/>
          <p:nvPr/>
        </p:nvSpPr>
        <p:spPr>
          <a:xfrm>
            <a:off x="3630168" y="5717286"/>
            <a:ext cx="8028432" cy="500634"/>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Short answer. Maximum distance or areas not covered.</a:t>
            </a:r>
            <a:endParaRPr lang="en-US" sz="149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Provider Form</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Provider Signup Form — Part 3</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Pricing, work proof, verification, and consent.</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Provider Form</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29</a:t>
            </a:r>
            <a:endParaRPr lang="en-US" sz="850" dirty="0"/>
          </a:p>
        </p:txBody>
      </p:sp>
      <p:sp>
        <p:nvSpPr>
          <p:cNvPr id="8" name="Text 6"/>
          <p:cNvSpPr/>
          <p:nvPr/>
        </p:nvSpPr>
        <p:spPr>
          <a:xfrm>
            <a:off x="502920" y="1380744"/>
            <a:ext cx="292608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630168" y="1380744"/>
            <a:ext cx="802843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292608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Minimum service fee</a:t>
            </a:r>
            <a:endParaRPr lang="en-US" sz="1480" dirty="0"/>
          </a:p>
        </p:txBody>
      </p:sp>
      <p:sp>
        <p:nvSpPr>
          <p:cNvPr id="11" name="Text 9"/>
          <p:cNvSpPr/>
          <p:nvPr/>
        </p:nvSpPr>
        <p:spPr>
          <a:xfrm>
            <a:off x="3630168" y="1700784"/>
            <a:ext cx="802843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Short answer. Example: PHP 300 inspection fee.</a:t>
            </a:r>
            <a:endParaRPr lang="en-US" sz="148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292608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Price range examples</a:t>
            </a:r>
            <a:endParaRPr lang="en-US" sz="1480" dirty="0"/>
          </a:p>
        </p:txBody>
      </p:sp>
      <p:sp>
        <p:nvSpPr>
          <p:cNvPr id="14" name="Text 12"/>
          <p:cNvSpPr/>
          <p:nvPr/>
        </p:nvSpPr>
        <p:spPr>
          <a:xfrm>
            <a:off x="3630168" y="2274570"/>
            <a:ext cx="802843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Paragraph. Ask for common prices for typical jobs.</a:t>
            </a:r>
            <a:endParaRPr lang="en-US" sz="148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292608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Work sample photos</a:t>
            </a:r>
            <a:endParaRPr lang="en-US" sz="1480" dirty="0"/>
          </a:p>
        </p:txBody>
      </p:sp>
      <p:sp>
        <p:nvSpPr>
          <p:cNvPr id="17" name="Text 15"/>
          <p:cNvSpPr/>
          <p:nvPr/>
        </p:nvSpPr>
        <p:spPr>
          <a:xfrm>
            <a:off x="3630168" y="2848356"/>
            <a:ext cx="802843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File upload or link. Photos of finished work, tools, or shop.</a:t>
            </a:r>
            <a:endParaRPr lang="en-US" sz="148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292608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Certificate / training proof</a:t>
            </a:r>
            <a:endParaRPr lang="en-US" sz="1480" dirty="0"/>
          </a:p>
        </p:txBody>
      </p:sp>
      <p:sp>
        <p:nvSpPr>
          <p:cNvPr id="20" name="Text 18"/>
          <p:cNvSpPr/>
          <p:nvPr/>
        </p:nvSpPr>
        <p:spPr>
          <a:xfrm>
            <a:off x="3630168" y="3422142"/>
            <a:ext cx="802843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Optional file upload or link.</a:t>
            </a:r>
            <a:endParaRPr lang="en-US" sz="148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292608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Valid ID for verification</a:t>
            </a:r>
            <a:endParaRPr lang="en-US" sz="1480" dirty="0"/>
          </a:p>
        </p:txBody>
      </p:sp>
      <p:sp>
        <p:nvSpPr>
          <p:cNvPr id="23" name="Text 21"/>
          <p:cNvSpPr/>
          <p:nvPr/>
        </p:nvSpPr>
        <p:spPr>
          <a:xfrm>
            <a:off x="3630168" y="3995928"/>
            <a:ext cx="802843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Optional during pilot; required for Identity Verified badge.</a:t>
            </a:r>
            <a:endParaRPr lang="en-US" sz="148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292608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Consent to receive job requests</a:t>
            </a:r>
            <a:endParaRPr lang="en-US" sz="1480" dirty="0"/>
          </a:p>
        </p:txBody>
      </p:sp>
      <p:sp>
        <p:nvSpPr>
          <p:cNvPr id="26" name="Text 24"/>
          <p:cNvSpPr/>
          <p:nvPr/>
        </p:nvSpPr>
        <p:spPr>
          <a:xfrm>
            <a:off x="3630168" y="4569714"/>
            <a:ext cx="802843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Yes/No. Required.</a:t>
            </a:r>
            <a:endParaRPr lang="en-US" sz="148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292608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Consent to receive ratings</a:t>
            </a:r>
            <a:endParaRPr lang="en-US" sz="1480" dirty="0"/>
          </a:p>
        </p:txBody>
      </p:sp>
      <p:sp>
        <p:nvSpPr>
          <p:cNvPr id="29" name="Text 27"/>
          <p:cNvSpPr/>
          <p:nvPr/>
        </p:nvSpPr>
        <p:spPr>
          <a:xfrm>
            <a:off x="3630168" y="5143500"/>
            <a:ext cx="802843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Yes/No. Required.</a:t>
            </a:r>
            <a:endParaRPr lang="en-US" sz="148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292608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Agreement to provider rules</a:t>
            </a:r>
            <a:endParaRPr lang="en-US" sz="1480" dirty="0"/>
          </a:p>
        </p:txBody>
      </p:sp>
      <p:sp>
        <p:nvSpPr>
          <p:cNvPr id="32" name="Text 30"/>
          <p:cNvSpPr/>
          <p:nvPr/>
        </p:nvSpPr>
        <p:spPr>
          <a:xfrm>
            <a:off x="3630168" y="5717286"/>
            <a:ext cx="802843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Checkbox: I understand and agree.</a:t>
            </a:r>
            <a:endParaRPr lang="en-US" sz="148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Provider Sheet</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Provider Database Sheet — Columns 1</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Use one row per provider. This is the main supply database.</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Provider Sheet</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30</a:t>
            </a:r>
            <a:endParaRPr lang="en-US" sz="850" dirty="0"/>
          </a:p>
        </p:txBody>
      </p:sp>
      <p:sp>
        <p:nvSpPr>
          <p:cNvPr id="8" name="Text 6"/>
          <p:cNvSpPr/>
          <p:nvPr/>
        </p:nvSpPr>
        <p:spPr>
          <a:xfrm>
            <a:off x="502920" y="1380744"/>
            <a:ext cx="310896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813048" y="1380744"/>
            <a:ext cx="784555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108960" cy="500634"/>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ptos" pitchFamily="34" charset="0"/>
                <a:ea typeface="Aptos" pitchFamily="34" charset="-122"/>
                <a:cs typeface="Aptos" pitchFamily="34" charset="-120"/>
              </a:rPr>
              <a:t>Provider ID</a:t>
            </a:r>
            <a:endParaRPr lang="en-US" sz="1550" dirty="0"/>
          </a:p>
        </p:txBody>
      </p:sp>
      <p:sp>
        <p:nvSpPr>
          <p:cNvPr id="11" name="Text 9"/>
          <p:cNvSpPr/>
          <p:nvPr/>
        </p:nvSpPr>
        <p:spPr>
          <a:xfrm>
            <a:off x="3813048" y="1700784"/>
            <a:ext cx="7845552" cy="500634"/>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Unique ID. Example: PROV-0001.</a:t>
            </a:r>
            <a:endParaRPr lang="en-US" sz="155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3108960" cy="500634"/>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ptos" pitchFamily="34" charset="0"/>
                <a:ea typeface="Aptos" pitchFamily="34" charset="-122"/>
                <a:cs typeface="Aptos" pitchFamily="34" charset="-120"/>
              </a:rPr>
              <a:t>Date joined</a:t>
            </a:r>
            <a:endParaRPr lang="en-US" sz="1550" dirty="0"/>
          </a:p>
        </p:txBody>
      </p:sp>
      <p:sp>
        <p:nvSpPr>
          <p:cNvPr id="14" name="Text 12"/>
          <p:cNvSpPr/>
          <p:nvPr/>
        </p:nvSpPr>
        <p:spPr>
          <a:xfrm>
            <a:off x="3813048" y="2274570"/>
            <a:ext cx="7845552" cy="500634"/>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Date provider was added.</a:t>
            </a:r>
            <a:endParaRPr lang="en-US" sz="155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3108960" cy="500634"/>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ptos" pitchFamily="34" charset="0"/>
                <a:ea typeface="Aptos" pitchFamily="34" charset="-122"/>
                <a:cs typeface="Aptos" pitchFamily="34" charset="-120"/>
              </a:rPr>
              <a:t>Full name / Display name</a:t>
            </a:r>
            <a:endParaRPr lang="en-US" sz="1550" dirty="0"/>
          </a:p>
        </p:txBody>
      </p:sp>
      <p:sp>
        <p:nvSpPr>
          <p:cNvPr id="17" name="Text 15"/>
          <p:cNvSpPr/>
          <p:nvPr/>
        </p:nvSpPr>
        <p:spPr>
          <a:xfrm>
            <a:off x="3813048" y="2848356"/>
            <a:ext cx="7845552" cy="500634"/>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Keep private/public name separate.</a:t>
            </a:r>
            <a:endParaRPr lang="en-US" sz="155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3108960" cy="500634"/>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ptos" pitchFamily="34" charset="0"/>
                <a:ea typeface="Aptos" pitchFamily="34" charset="-122"/>
                <a:cs typeface="Aptos" pitchFamily="34" charset="-120"/>
              </a:rPr>
              <a:t>Contact number / Messenger link</a:t>
            </a:r>
            <a:endParaRPr lang="en-US" sz="1550" dirty="0"/>
          </a:p>
        </p:txBody>
      </p:sp>
      <p:sp>
        <p:nvSpPr>
          <p:cNvPr id="20" name="Text 18"/>
          <p:cNvSpPr/>
          <p:nvPr/>
        </p:nvSpPr>
        <p:spPr>
          <a:xfrm>
            <a:off x="3813048" y="3422142"/>
            <a:ext cx="7845552" cy="500634"/>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Use for coordination.</a:t>
            </a:r>
            <a:endParaRPr lang="en-US" sz="155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3108960" cy="500634"/>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ptos" pitchFamily="34" charset="0"/>
                <a:ea typeface="Aptos" pitchFamily="34" charset="-122"/>
                <a:cs typeface="Aptos" pitchFamily="34" charset="-120"/>
              </a:rPr>
              <a:t>Barangay / Area</a:t>
            </a:r>
            <a:endParaRPr lang="en-US" sz="1550" dirty="0"/>
          </a:p>
        </p:txBody>
      </p:sp>
      <p:sp>
        <p:nvSpPr>
          <p:cNvPr id="23" name="Text 21"/>
          <p:cNvSpPr/>
          <p:nvPr/>
        </p:nvSpPr>
        <p:spPr>
          <a:xfrm>
            <a:off x="3813048" y="3995928"/>
            <a:ext cx="7845552" cy="500634"/>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Primary location.</a:t>
            </a:r>
            <a:endParaRPr lang="en-US" sz="155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3108960" cy="500634"/>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ptos" pitchFamily="34" charset="0"/>
                <a:ea typeface="Aptos" pitchFamily="34" charset="-122"/>
                <a:cs typeface="Aptos" pitchFamily="34" charset="-120"/>
              </a:rPr>
              <a:t>Category / Specific skills</a:t>
            </a:r>
            <a:endParaRPr lang="en-US" sz="1550" dirty="0"/>
          </a:p>
        </p:txBody>
      </p:sp>
      <p:sp>
        <p:nvSpPr>
          <p:cNvPr id="26" name="Text 24"/>
          <p:cNvSpPr/>
          <p:nvPr/>
        </p:nvSpPr>
        <p:spPr>
          <a:xfrm>
            <a:off x="3813048" y="4569714"/>
            <a:ext cx="7845552" cy="500634"/>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Main service and detailed services.</a:t>
            </a:r>
            <a:endParaRPr lang="en-US" sz="155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3108960" cy="500634"/>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ptos" pitchFamily="34" charset="0"/>
                <a:ea typeface="Aptos" pitchFamily="34" charset="-122"/>
                <a:cs typeface="Aptos" pitchFamily="34" charset="-120"/>
              </a:rPr>
              <a:t>Years of experience</a:t>
            </a:r>
            <a:endParaRPr lang="en-US" sz="1550" dirty="0"/>
          </a:p>
        </p:txBody>
      </p:sp>
      <p:sp>
        <p:nvSpPr>
          <p:cNvPr id="29" name="Text 27"/>
          <p:cNvSpPr/>
          <p:nvPr/>
        </p:nvSpPr>
        <p:spPr>
          <a:xfrm>
            <a:off x="3813048" y="5143500"/>
            <a:ext cx="7845552" cy="500634"/>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Trust signal.</a:t>
            </a:r>
            <a:endParaRPr lang="en-US" sz="155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3108960" cy="500634"/>
          </a:xfrm>
          <a:prstGeom prst="rect">
            <a:avLst/>
          </a:prstGeom>
          <a:noFill/>
          <a:ln/>
        </p:spPr>
        <p:txBody>
          <a:bodyPr wrap="square" lIns="0" tIns="0" rIns="0" bIns="0" rtlCol="0" anchor="ctr">
            <a:normAutofit/>
          </a:bodyPr>
          <a:lstStyle/>
          <a:p>
            <a:pPr indent="0" marL="0">
              <a:buNone/>
            </a:pPr>
            <a:r>
              <a:rPr lang="en-US" sz="1550" b="1" dirty="0">
                <a:solidFill>
                  <a:srgbClr val="17324D"/>
                </a:solidFill>
                <a:latin typeface="Aptos" pitchFamily="34" charset="0"/>
                <a:ea typeface="Aptos" pitchFamily="34" charset="-122"/>
                <a:cs typeface="Aptos" pitchFamily="34" charset="-120"/>
              </a:rPr>
              <a:t>Coverage area</a:t>
            </a:r>
            <a:endParaRPr lang="en-US" sz="1550" dirty="0"/>
          </a:p>
        </p:txBody>
      </p:sp>
      <p:sp>
        <p:nvSpPr>
          <p:cNvPr id="32" name="Text 30"/>
          <p:cNvSpPr/>
          <p:nvPr/>
        </p:nvSpPr>
        <p:spPr>
          <a:xfrm>
            <a:off x="3813048" y="5717286"/>
            <a:ext cx="7845552" cy="500634"/>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Where provider can serve.</a:t>
            </a:r>
            <a:endParaRPr lang="en-US" sz="155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Provider Sheet</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Provider Database Sheet — Columns 2</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Track responsiveness, quality, and provider status.</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Provider Sheet</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31</a:t>
            </a:r>
            <a:endParaRPr lang="en-US" sz="850" dirty="0"/>
          </a:p>
        </p:txBody>
      </p:sp>
      <p:sp>
        <p:nvSpPr>
          <p:cNvPr id="8" name="Text 6"/>
          <p:cNvSpPr/>
          <p:nvPr/>
        </p:nvSpPr>
        <p:spPr>
          <a:xfrm>
            <a:off x="502920" y="1380744"/>
            <a:ext cx="320040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904488" y="1380744"/>
            <a:ext cx="775411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20040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Availability / Emergency availability</a:t>
            </a:r>
            <a:endParaRPr lang="en-US" sz="1480" dirty="0"/>
          </a:p>
        </p:txBody>
      </p:sp>
      <p:sp>
        <p:nvSpPr>
          <p:cNvPr id="11" name="Text 9"/>
          <p:cNvSpPr/>
          <p:nvPr/>
        </p:nvSpPr>
        <p:spPr>
          <a:xfrm>
            <a:off x="3904488" y="1700784"/>
            <a:ext cx="775411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When provider can accept jobs.</a:t>
            </a:r>
            <a:endParaRPr lang="en-US" sz="148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320040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Minimum fee / price range</a:t>
            </a:r>
            <a:endParaRPr lang="en-US" sz="1480" dirty="0"/>
          </a:p>
        </p:txBody>
      </p:sp>
      <p:sp>
        <p:nvSpPr>
          <p:cNvPr id="14" name="Text 12"/>
          <p:cNvSpPr/>
          <p:nvPr/>
        </p:nvSpPr>
        <p:spPr>
          <a:xfrm>
            <a:off x="3904488" y="2274570"/>
            <a:ext cx="775411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Helpful for matching and client expectations.</a:t>
            </a:r>
            <a:endParaRPr lang="en-US" sz="148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320040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Work sample link</a:t>
            </a:r>
            <a:endParaRPr lang="en-US" sz="1480" dirty="0"/>
          </a:p>
        </p:txBody>
      </p:sp>
      <p:sp>
        <p:nvSpPr>
          <p:cNvPr id="17" name="Text 15"/>
          <p:cNvSpPr/>
          <p:nvPr/>
        </p:nvSpPr>
        <p:spPr>
          <a:xfrm>
            <a:off x="3904488" y="2848356"/>
            <a:ext cx="775411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Google Drive or folder link.</a:t>
            </a:r>
            <a:endParaRPr lang="en-US" sz="148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320040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Verification level</a:t>
            </a:r>
            <a:endParaRPr lang="en-US" sz="1480" dirty="0"/>
          </a:p>
        </p:txBody>
      </p:sp>
      <p:sp>
        <p:nvSpPr>
          <p:cNvPr id="20" name="Text 18"/>
          <p:cNvSpPr/>
          <p:nvPr/>
        </p:nvSpPr>
        <p:spPr>
          <a:xfrm>
            <a:off x="3904488" y="3422142"/>
            <a:ext cx="775411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Listed, Identity Verified, Work Verified, Top Rated, Certified/Business Verified.</a:t>
            </a:r>
            <a:endParaRPr lang="en-US" sz="148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320040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Requests received / replies</a:t>
            </a:r>
            <a:endParaRPr lang="en-US" sz="1480" dirty="0"/>
          </a:p>
        </p:txBody>
      </p:sp>
      <p:sp>
        <p:nvSpPr>
          <p:cNvPr id="23" name="Text 21"/>
          <p:cNvSpPr/>
          <p:nvPr/>
        </p:nvSpPr>
        <p:spPr>
          <a:xfrm>
            <a:off x="3904488" y="3995928"/>
            <a:ext cx="775411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Count requests sent and provider replies.</a:t>
            </a:r>
            <a:endParaRPr lang="en-US" sz="148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320040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Response rate / average response time</a:t>
            </a:r>
            <a:endParaRPr lang="en-US" sz="1480" dirty="0"/>
          </a:p>
        </p:txBody>
      </p:sp>
      <p:sp>
        <p:nvSpPr>
          <p:cNvPr id="26" name="Text 24"/>
          <p:cNvSpPr/>
          <p:nvPr/>
        </p:nvSpPr>
        <p:spPr>
          <a:xfrm>
            <a:off x="3904488" y="4569714"/>
            <a:ext cx="775411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Helps identify reliable providers.</a:t>
            </a:r>
            <a:endParaRPr lang="en-US" sz="148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320040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Jobs completed / average rating</a:t>
            </a:r>
            <a:endParaRPr lang="en-US" sz="1480" dirty="0"/>
          </a:p>
        </p:txBody>
      </p:sp>
      <p:sp>
        <p:nvSpPr>
          <p:cNvPr id="29" name="Text 27"/>
          <p:cNvSpPr/>
          <p:nvPr/>
        </p:nvSpPr>
        <p:spPr>
          <a:xfrm>
            <a:off x="3904488" y="5143500"/>
            <a:ext cx="775411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Trust and performance record.</a:t>
            </a:r>
            <a:endParaRPr lang="en-US" sz="148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320040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Status / notes</a:t>
            </a:r>
            <a:endParaRPr lang="en-US" sz="1480" dirty="0"/>
          </a:p>
        </p:txBody>
      </p:sp>
      <p:sp>
        <p:nvSpPr>
          <p:cNvPr id="32" name="Text 30"/>
          <p:cNvSpPr/>
          <p:nvPr/>
        </p:nvSpPr>
        <p:spPr>
          <a:xfrm>
            <a:off x="3904488" y="5717286"/>
            <a:ext cx="775411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Active, inactive, warning, suspended, removed.</a:t>
            </a:r>
            <a:endParaRPr lang="en-US" sz="148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Client Form</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Client Request Form — Part 1</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Copy into Google Forms. Use this to collect clear service requests.</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Client Form</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32</a:t>
            </a:r>
            <a:endParaRPr lang="en-US" sz="850" dirty="0"/>
          </a:p>
        </p:txBody>
      </p:sp>
      <p:sp>
        <p:nvSpPr>
          <p:cNvPr id="8" name="Text 6"/>
          <p:cNvSpPr/>
          <p:nvPr/>
        </p:nvSpPr>
        <p:spPr>
          <a:xfrm>
            <a:off x="502920" y="1380744"/>
            <a:ext cx="292608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630168" y="1380744"/>
            <a:ext cx="802843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2926080" cy="500634"/>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Client name or nickname</a:t>
            </a:r>
            <a:endParaRPr lang="en-US" sz="1510" dirty="0"/>
          </a:p>
        </p:txBody>
      </p:sp>
      <p:sp>
        <p:nvSpPr>
          <p:cNvPr id="11" name="Text 9"/>
          <p:cNvSpPr/>
          <p:nvPr/>
        </p:nvSpPr>
        <p:spPr>
          <a:xfrm>
            <a:off x="3630168" y="1700784"/>
            <a:ext cx="8028432" cy="500634"/>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Short answer. Nickname is okay during pilot.</a:t>
            </a:r>
            <a:endParaRPr lang="en-US" sz="151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2926080" cy="500634"/>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Contact number or Messenger</a:t>
            </a:r>
            <a:endParaRPr lang="en-US" sz="1510" dirty="0"/>
          </a:p>
        </p:txBody>
      </p:sp>
      <p:sp>
        <p:nvSpPr>
          <p:cNvPr id="14" name="Text 12"/>
          <p:cNvSpPr/>
          <p:nvPr/>
        </p:nvSpPr>
        <p:spPr>
          <a:xfrm>
            <a:off x="3630168" y="2274570"/>
            <a:ext cx="8028432" cy="500634"/>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Short answer. Required for coordination.</a:t>
            </a:r>
            <a:endParaRPr lang="en-US" sz="151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2926080" cy="500634"/>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Barangay / area</a:t>
            </a:r>
            <a:endParaRPr lang="en-US" sz="1510" dirty="0"/>
          </a:p>
        </p:txBody>
      </p:sp>
      <p:sp>
        <p:nvSpPr>
          <p:cNvPr id="17" name="Text 15"/>
          <p:cNvSpPr/>
          <p:nvPr/>
        </p:nvSpPr>
        <p:spPr>
          <a:xfrm>
            <a:off x="3630168" y="2848356"/>
            <a:ext cx="8028432" cy="500634"/>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Short answer or dropdown.</a:t>
            </a:r>
            <a:endParaRPr lang="en-US" sz="151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2926080" cy="500634"/>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Exact location notes</a:t>
            </a:r>
            <a:endParaRPr lang="en-US" sz="1510" dirty="0"/>
          </a:p>
        </p:txBody>
      </p:sp>
      <p:sp>
        <p:nvSpPr>
          <p:cNvPr id="20" name="Text 18"/>
          <p:cNvSpPr/>
          <p:nvPr/>
        </p:nvSpPr>
        <p:spPr>
          <a:xfrm>
            <a:off x="3630168" y="3422142"/>
            <a:ext cx="8028432" cy="500634"/>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Optional paragraph. Do not forward full address too early.</a:t>
            </a:r>
            <a:endParaRPr lang="en-US" sz="151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2926080" cy="500634"/>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Service category needed</a:t>
            </a:r>
            <a:endParaRPr lang="en-US" sz="1510" dirty="0"/>
          </a:p>
        </p:txBody>
      </p:sp>
      <p:sp>
        <p:nvSpPr>
          <p:cNvPr id="23" name="Text 21"/>
          <p:cNvSpPr/>
          <p:nvPr/>
        </p:nvSpPr>
        <p:spPr>
          <a:xfrm>
            <a:off x="3630168" y="3995928"/>
            <a:ext cx="8028432" cy="500634"/>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Dropdown using the approved pilot categories.</a:t>
            </a:r>
            <a:endParaRPr lang="en-US" sz="151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2926080" cy="500634"/>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Problem description</a:t>
            </a:r>
            <a:endParaRPr lang="en-US" sz="1510" dirty="0"/>
          </a:p>
        </p:txBody>
      </p:sp>
      <p:sp>
        <p:nvSpPr>
          <p:cNvPr id="26" name="Text 24"/>
          <p:cNvSpPr/>
          <p:nvPr/>
        </p:nvSpPr>
        <p:spPr>
          <a:xfrm>
            <a:off x="3630168" y="4569714"/>
            <a:ext cx="8028432" cy="500634"/>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Paragraph. Ask what happened, when it started, and what help is needed.</a:t>
            </a:r>
            <a:endParaRPr lang="en-US" sz="151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2926080" cy="500634"/>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Urgency level</a:t>
            </a:r>
            <a:endParaRPr lang="en-US" sz="1510" dirty="0"/>
          </a:p>
        </p:txBody>
      </p:sp>
      <p:sp>
        <p:nvSpPr>
          <p:cNvPr id="29" name="Text 27"/>
          <p:cNvSpPr/>
          <p:nvPr/>
        </p:nvSpPr>
        <p:spPr>
          <a:xfrm>
            <a:off x="3630168" y="5143500"/>
            <a:ext cx="8028432" cy="500634"/>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Emergency, Today, This Week, Flexible, Scheduled.</a:t>
            </a:r>
            <a:endParaRPr lang="en-US" sz="151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2926080" cy="500634"/>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Preferred schedule</a:t>
            </a:r>
            <a:endParaRPr lang="en-US" sz="1510" dirty="0"/>
          </a:p>
        </p:txBody>
      </p:sp>
      <p:sp>
        <p:nvSpPr>
          <p:cNvPr id="32" name="Text 30"/>
          <p:cNvSpPr/>
          <p:nvPr/>
        </p:nvSpPr>
        <p:spPr>
          <a:xfrm>
            <a:off x="3630168" y="5717286"/>
            <a:ext cx="8028432" cy="500634"/>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Short answer. Example: today after 3 PM.</a:t>
            </a:r>
            <a:endParaRPr lang="en-US" sz="151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Client Form</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Client Request Form — Part 2</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Budget, evidence, permission, and consent.</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Client Form</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33</a:t>
            </a:r>
            <a:endParaRPr lang="en-US" sz="850" dirty="0"/>
          </a:p>
        </p:txBody>
      </p:sp>
      <p:sp>
        <p:nvSpPr>
          <p:cNvPr id="8" name="Text 6"/>
          <p:cNvSpPr/>
          <p:nvPr/>
        </p:nvSpPr>
        <p:spPr>
          <a:xfrm>
            <a:off x="502920" y="1380744"/>
            <a:ext cx="292608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630168" y="1380744"/>
            <a:ext cx="802843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292608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Budget range</a:t>
            </a:r>
            <a:endParaRPr lang="en-US" sz="1470" dirty="0"/>
          </a:p>
        </p:txBody>
      </p:sp>
      <p:sp>
        <p:nvSpPr>
          <p:cNvPr id="11" name="Text 9"/>
          <p:cNvSpPr/>
          <p:nvPr/>
        </p:nvSpPr>
        <p:spPr>
          <a:xfrm>
            <a:off x="3630168" y="1700784"/>
            <a:ext cx="802843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Multiple choice or short answer. Example: PHP 500–800.</a:t>
            </a:r>
            <a:endParaRPr lang="en-US" sz="147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292608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Photos/videos of problem</a:t>
            </a:r>
            <a:endParaRPr lang="en-US" sz="1470" dirty="0"/>
          </a:p>
        </p:txBody>
      </p:sp>
      <p:sp>
        <p:nvSpPr>
          <p:cNvPr id="14" name="Text 12"/>
          <p:cNvSpPr/>
          <p:nvPr/>
        </p:nvSpPr>
        <p:spPr>
          <a:xfrm>
            <a:off x="3630168" y="2274570"/>
            <a:ext cx="802843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File upload or link. Strongly recommended.</a:t>
            </a:r>
            <a:endParaRPr lang="en-US" sz="147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292608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Permission to forward request</a:t>
            </a:r>
            <a:endParaRPr lang="en-US" sz="1470" dirty="0"/>
          </a:p>
        </p:txBody>
      </p:sp>
      <p:sp>
        <p:nvSpPr>
          <p:cNvPr id="17" name="Text 15"/>
          <p:cNvSpPr/>
          <p:nvPr/>
        </p:nvSpPr>
        <p:spPr>
          <a:xfrm>
            <a:off x="3630168" y="2848356"/>
            <a:ext cx="802843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Yes/No. Required before contacting providers.</a:t>
            </a:r>
            <a:endParaRPr lang="en-US" sz="147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292608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Can KAILA contact you for clarification?</a:t>
            </a:r>
            <a:endParaRPr lang="en-US" sz="1470" dirty="0"/>
          </a:p>
        </p:txBody>
      </p:sp>
      <p:sp>
        <p:nvSpPr>
          <p:cNvPr id="20" name="Text 18"/>
          <p:cNvSpPr/>
          <p:nvPr/>
        </p:nvSpPr>
        <p:spPr>
          <a:xfrm>
            <a:off x="3630168" y="3422142"/>
            <a:ext cx="802843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Yes/No. Required.</a:t>
            </a:r>
            <a:endParaRPr lang="en-US" sz="147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292608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Can provider contact you after selection?</a:t>
            </a:r>
            <a:endParaRPr lang="en-US" sz="1470" dirty="0"/>
          </a:p>
        </p:txBody>
      </p:sp>
      <p:sp>
        <p:nvSpPr>
          <p:cNvPr id="23" name="Text 21"/>
          <p:cNvSpPr/>
          <p:nvPr/>
        </p:nvSpPr>
        <p:spPr>
          <a:xfrm>
            <a:off x="3630168" y="3995928"/>
            <a:ext cx="802843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Yes/No. Required for matching.</a:t>
            </a:r>
            <a:endParaRPr lang="en-US" sz="147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292608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Willing to rate after completion?</a:t>
            </a:r>
            <a:endParaRPr lang="en-US" sz="1470" dirty="0"/>
          </a:p>
        </p:txBody>
      </p:sp>
      <p:sp>
        <p:nvSpPr>
          <p:cNvPr id="26" name="Text 24"/>
          <p:cNvSpPr/>
          <p:nvPr/>
        </p:nvSpPr>
        <p:spPr>
          <a:xfrm>
            <a:off x="3630168" y="4569714"/>
            <a:ext cx="802843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Yes/No. Important for trust system.</a:t>
            </a:r>
            <a:endParaRPr lang="en-US" sz="147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292608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Data privacy consent</a:t>
            </a:r>
            <a:endParaRPr lang="en-US" sz="1470" dirty="0"/>
          </a:p>
        </p:txBody>
      </p:sp>
      <p:sp>
        <p:nvSpPr>
          <p:cNvPr id="29" name="Text 27"/>
          <p:cNvSpPr/>
          <p:nvPr/>
        </p:nvSpPr>
        <p:spPr>
          <a:xfrm>
            <a:off x="3630168" y="5143500"/>
            <a:ext cx="802843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Checkbox: I allow KAILA to use my submitted details for pilot matching.</a:t>
            </a:r>
            <a:endParaRPr lang="en-US" sz="147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292608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Additional notes</a:t>
            </a:r>
            <a:endParaRPr lang="en-US" sz="1470" dirty="0"/>
          </a:p>
        </p:txBody>
      </p:sp>
      <p:sp>
        <p:nvSpPr>
          <p:cNvPr id="32" name="Text 30"/>
          <p:cNvSpPr/>
          <p:nvPr/>
        </p:nvSpPr>
        <p:spPr>
          <a:xfrm>
            <a:off x="3630168" y="5717286"/>
            <a:ext cx="802843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Paragraph. Anything providers should know.</a:t>
            </a:r>
            <a:endParaRPr lang="en-US" sz="147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Request Tracker</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Request Tracker Sheet — Columns 1</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Use one row per client request. This is the evidence tracker.</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Request Tracker</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34</a:t>
            </a:r>
            <a:endParaRPr lang="en-US" sz="850" dirty="0"/>
          </a:p>
        </p:txBody>
      </p:sp>
      <p:sp>
        <p:nvSpPr>
          <p:cNvPr id="8" name="Text 6"/>
          <p:cNvSpPr/>
          <p:nvPr/>
        </p:nvSpPr>
        <p:spPr>
          <a:xfrm>
            <a:off x="502920" y="1380744"/>
            <a:ext cx="301752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721608" y="1380744"/>
            <a:ext cx="793699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017520" cy="500634"/>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Request ID</a:t>
            </a:r>
            <a:endParaRPr lang="en-US" sz="1510" dirty="0"/>
          </a:p>
        </p:txBody>
      </p:sp>
      <p:sp>
        <p:nvSpPr>
          <p:cNvPr id="11" name="Text 9"/>
          <p:cNvSpPr/>
          <p:nvPr/>
        </p:nvSpPr>
        <p:spPr>
          <a:xfrm>
            <a:off x="3721608" y="1700784"/>
            <a:ext cx="7936992" cy="500634"/>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Unique ID. Example: REQ-0001.</a:t>
            </a:r>
            <a:endParaRPr lang="en-US" sz="151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3017520" cy="500634"/>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Date/time received</a:t>
            </a:r>
            <a:endParaRPr lang="en-US" sz="1510" dirty="0"/>
          </a:p>
        </p:txBody>
      </p:sp>
      <p:sp>
        <p:nvSpPr>
          <p:cNvPr id="14" name="Text 12"/>
          <p:cNvSpPr/>
          <p:nvPr/>
        </p:nvSpPr>
        <p:spPr>
          <a:xfrm>
            <a:off x="3721608" y="2274570"/>
            <a:ext cx="7936992" cy="500634"/>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Important for response time.</a:t>
            </a:r>
            <a:endParaRPr lang="en-US" sz="151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3017520" cy="500634"/>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Client name / contact method</a:t>
            </a:r>
            <a:endParaRPr lang="en-US" sz="1510" dirty="0"/>
          </a:p>
        </p:txBody>
      </p:sp>
      <p:sp>
        <p:nvSpPr>
          <p:cNvPr id="17" name="Text 15"/>
          <p:cNvSpPr/>
          <p:nvPr/>
        </p:nvSpPr>
        <p:spPr>
          <a:xfrm>
            <a:off x="3721608" y="2848356"/>
            <a:ext cx="7936992" cy="500634"/>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Keep details private and organized.</a:t>
            </a:r>
            <a:endParaRPr lang="en-US" sz="151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3017520" cy="500634"/>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Barangay / category</a:t>
            </a:r>
            <a:endParaRPr lang="en-US" sz="1510" dirty="0"/>
          </a:p>
        </p:txBody>
      </p:sp>
      <p:sp>
        <p:nvSpPr>
          <p:cNvPr id="20" name="Text 18"/>
          <p:cNvSpPr/>
          <p:nvPr/>
        </p:nvSpPr>
        <p:spPr>
          <a:xfrm>
            <a:off x="3721608" y="3422142"/>
            <a:ext cx="7936992" cy="500634"/>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Helps measure demand by area and category.</a:t>
            </a:r>
            <a:endParaRPr lang="en-US" sz="151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3017520" cy="500634"/>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Problem description</a:t>
            </a:r>
            <a:endParaRPr lang="en-US" sz="1510" dirty="0"/>
          </a:p>
        </p:txBody>
      </p:sp>
      <p:sp>
        <p:nvSpPr>
          <p:cNvPr id="23" name="Text 21"/>
          <p:cNvSpPr/>
          <p:nvPr/>
        </p:nvSpPr>
        <p:spPr>
          <a:xfrm>
            <a:off x="3721608" y="3995928"/>
            <a:ext cx="7936992" cy="500634"/>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Clear summary of the need.</a:t>
            </a:r>
            <a:endParaRPr lang="en-US" sz="151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3017520" cy="500634"/>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Urgency / budget</a:t>
            </a:r>
            <a:endParaRPr lang="en-US" sz="1510" dirty="0"/>
          </a:p>
        </p:txBody>
      </p:sp>
      <p:sp>
        <p:nvSpPr>
          <p:cNvPr id="26" name="Text 24"/>
          <p:cNvSpPr/>
          <p:nvPr/>
        </p:nvSpPr>
        <p:spPr>
          <a:xfrm>
            <a:off x="3721608" y="4569714"/>
            <a:ext cx="7936992" cy="500634"/>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Used for matching and offer comparison.</a:t>
            </a:r>
            <a:endParaRPr lang="en-US" sz="151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3017520" cy="500634"/>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Photo/video link</a:t>
            </a:r>
            <a:endParaRPr lang="en-US" sz="1510" dirty="0"/>
          </a:p>
        </p:txBody>
      </p:sp>
      <p:sp>
        <p:nvSpPr>
          <p:cNvPr id="29" name="Text 27"/>
          <p:cNvSpPr/>
          <p:nvPr/>
        </p:nvSpPr>
        <p:spPr>
          <a:xfrm>
            <a:off x="3721608" y="5143500"/>
            <a:ext cx="7936992" cy="500634"/>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Optional evidence for provider estimate.</a:t>
            </a:r>
            <a:endParaRPr lang="en-US" sz="151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3017520" cy="500634"/>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Request completeness</a:t>
            </a:r>
            <a:endParaRPr lang="en-US" sz="1510" dirty="0"/>
          </a:p>
        </p:txBody>
      </p:sp>
      <p:sp>
        <p:nvSpPr>
          <p:cNvPr id="32" name="Text 30"/>
          <p:cNvSpPr/>
          <p:nvPr/>
        </p:nvSpPr>
        <p:spPr>
          <a:xfrm>
            <a:off x="3721608" y="5717286"/>
            <a:ext cx="7936992" cy="500634"/>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Complete, needs clarification, incomplete.</a:t>
            </a:r>
            <a:endParaRPr lang="en-US" sz="151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Request Tracker</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Request Tracker Sheet — Columns 2</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Track matching, offers, job outcome, and issues.</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Request Tracker</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35</a:t>
            </a:r>
            <a:endParaRPr lang="en-US" sz="850" dirty="0"/>
          </a:p>
        </p:txBody>
      </p:sp>
      <p:sp>
        <p:nvSpPr>
          <p:cNvPr id="8" name="Text 6"/>
          <p:cNvSpPr/>
          <p:nvPr/>
        </p:nvSpPr>
        <p:spPr>
          <a:xfrm>
            <a:off x="502920" y="1380744"/>
            <a:ext cx="301752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721608" y="1380744"/>
            <a:ext cx="793699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01752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Providers contacted</a:t>
            </a:r>
            <a:endParaRPr lang="en-US" sz="1480" dirty="0"/>
          </a:p>
        </p:txBody>
      </p:sp>
      <p:sp>
        <p:nvSpPr>
          <p:cNvPr id="11" name="Text 9"/>
          <p:cNvSpPr/>
          <p:nvPr/>
        </p:nvSpPr>
        <p:spPr>
          <a:xfrm>
            <a:off x="3721608" y="1700784"/>
            <a:ext cx="793699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Names or provider IDs contacted.</a:t>
            </a:r>
            <a:endParaRPr lang="en-US" sz="148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301752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Time forwarded to providers</a:t>
            </a:r>
            <a:endParaRPr lang="en-US" sz="1480" dirty="0"/>
          </a:p>
        </p:txBody>
      </p:sp>
      <p:sp>
        <p:nvSpPr>
          <p:cNvPr id="14" name="Text 12"/>
          <p:cNvSpPr/>
          <p:nvPr/>
        </p:nvSpPr>
        <p:spPr>
          <a:xfrm>
            <a:off x="3721608" y="2274570"/>
            <a:ext cx="793699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Used to calculate response time.</a:t>
            </a:r>
            <a:endParaRPr lang="en-US" sz="148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301752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Offers received</a:t>
            </a:r>
            <a:endParaRPr lang="en-US" sz="1480" dirty="0"/>
          </a:p>
        </p:txBody>
      </p:sp>
      <p:sp>
        <p:nvSpPr>
          <p:cNvPr id="17" name="Text 15"/>
          <p:cNvSpPr/>
          <p:nvPr/>
        </p:nvSpPr>
        <p:spPr>
          <a:xfrm>
            <a:off x="3721608" y="2848356"/>
            <a:ext cx="793699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Amounts, schedule, and notes.</a:t>
            </a:r>
            <a:endParaRPr lang="en-US" sz="148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301752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Selected provider</a:t>
            </a:r>
            <a:endParaRPr lang="en-US" sz="1480" dirty="0"/>
          </a:p>
        </p:txBody>
      </p:sp>
      <p:sp>
        <p:nvSpPr>
          <p:cNvPr id="20" name="Text 18"/>
          <p:cNvSpPr/>
          <p:nvPr/>
        </p:nvSpPr>
        <p:spPr>
          <a:xfrm>
            <a:off x="3721608" y="3422142"/>
            <a:ext cx="793699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Provider chosen by client.</a:t>
            </a:r>
            <a:endParaRPr lang="en-US" sz="148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301752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Agreed amount</a:t>
            </a:r>
            <a:endParaRPr lang="en-US" sz="1480" dirty="0"/>
          </a:p>
        </p:txBody>
      </p:sp>
      <p:sp>
        <p:nvSpPr>
          <p:cNvPr id="23" name="Text 21"/>
          <p:cNvSpPr/>
          <p:nvPr/>
        </p:nvSpPr>
        <p:spPr>
          <a:xfrm>
            <a:off x="3721608" y="3995928"/>
            <a:ext cx="793699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Final price before job starts.</a:t>
            </a:r>
            <a:endParaRPr lang="en-US" sz="148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301752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Job status</a:t>
            </a:r>
            <a:endParaRPr lang="en-US" sz="1480" dirty="0"/>
          </a:p>
        </p:txBody>
      </p:sp>
      <p:sp>
        <p:nvSpPr>
          <p:cNvPr id="26" name="Text 24"/>
          <p:cNvSpPr/>
          <p:nvPr/>
        </p:nvSpPr>
        <p:spPr>
          <a:xfrm>
            <a:off x="3721608" y="4569714"/>
            <a:ext cx="793699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Received, forwarded, accepted, in progress, completed, rated, cancelled, disputed.</a:t>
            </a:r>
            <a:endParaRPr lang="en-US" sz="148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301752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Ratings / issue</a:t>
            </a:r>
            <a:endParaRPr lang="en-US" sz="1480" dirty="0"/>
          </a:p>
        </p:txBody>
      </p:sp>
      <p:sp>
        <p:nvSpPr>
          <p:cNvPr id="29" name="Text 27"/>
          <p:cNvSpPr/>
          <p:nvPr/>
        </p:nvSpPr>
        <p:spPr>
          <a:xfrm>
            <a:off x="3721608" y="5143500"/>
            <a:ext cx="793699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Client rating, provider rating, dispute or issue.</a:t>
            </a:r>
            <a:endParaRPr lang="en-US" sz="148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3017520" cy="500634"/>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Final notes</a:t>
            </a:r>
            <a:endParaRPr lang="en-US" sz="1480" dirty="0"/>
          </a:p>
        </p:txBody>
      </p:sp>
      <p:sp>
        <p:nvSpPr>
          <p:cNvPr id="32" name="Text 30"/>
          <p:cNvSpPr/>
          <p:nvPr/>
        </p:nvSpPr>
        <p:spPr>
          <a:xfrm>
            <a:off x="3721608" y="5717286"/>
            <a:ext cx="7936992" cy="500634"/>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Lessons, follow-up, repeat client potential.</a:t>
            </a:r>
            <a:endParaRPr lang="en-US" sz="148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Job Log</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Completed Job Log Template</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Record completed or strongly matched jobs.</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Job Log</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36</a:t>
            </a:r>
            <a:endParaRPr lang="en-US" sz="850" dirty="0"/>
          </a:p>
        </p:txBody>
      </p:sp>
      <p:sp>
        <p:nvSpPr>
          <p:cNvPr id="8" name="Text 6"/>
          <p:cNvSpPr/>
          <p:nvPr/>
        </p:nvSpPr>
        <p:spPr>
          <a:xfrm>
            <a:off x="502920" y="1380744"/>
            <a:ext cx="310896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813048" y="1380744"/>
            <a:ext cx="784555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108960" cy="500634"/>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Job ID / Request ID</a:t>
            </a:r>
            <a:endParaRPr lang="en-US" sz="1490" dirty="0"/>
          </a:p>
        </p:txBody>
      </p:sp>
      <p:sp>
        <p:nvSpPr>
          <p:cNvPr id="11" name="Text 9"/>
          <p:cNvSpPr/>
          <p:nvPr/>
        </p:nvSpPr>
        <p:spPr>
          <a:xfrm>
            <a:off x="3813048" y="1700784"/>
            <a:ext cx="7845552" cy="500634"/>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Use both IDs for easy tracing.</a:t>
            </a:r>
            <a:endParaRPr lang="en-US" sz="149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3108960" cy="500634"/>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Client / Provider</a:t>
            </a:r>
            <a:endParaRPr lang="en-US" sz="1490" dirty="0"/>
          </a:p>
        </p:txBody>
      </p:sp>
      <p:sp>
        <p:nvSpPr>
          <p:cNvPr id="14" name="Text 12"/>
          <p:cNvSpPr/>
          <p:nvPr/>
        </p:nvSpPr>
        <p:spPr>
          <a:xfrm>
            <a:off x="3813048" y="2274570"/>
            <a:ext cx="7845552" cy="500634"/>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Name or assigned ID.</a:t>
            </a:r>
            <a:endParaRPr lang="en-US" sz="149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3108960" cy="500634"/>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Category</a:t>
            </a:r>
            <a:endParaRPr lang="en-US" sz="1490" dirty="0"/>
          </a:p>
        </p:txBody>
      </p:sp>
      <p:sp>
        <p:nvSpPr>
          <p:cNvPr id="17" name="Text 15"/>
          <p:cNvSpPr/>
          <p:nvPr/>
        </p:nvSpPr>
        <p:spPr>
          <a:xfrm>
            <a:off x="3813048" y="2848356"/>
            <a:ext cx="7845552" cy="500634"/>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Service category.</a:t>
            </a:r>
            <a:endParaRPr lang="en-US" sz="149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3108960" cy="500634"/>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Agreed amount</a:t>
            </a:r>
            <a:endParaRPr lang="en-US" sz="1490" dirty="0"/>
          </a:p>
        </p:txBody>
      </p:sp>
      <p:sp>
        <p:nvSpPr>
          <p:cNvPr id="20" name="Text 18"/>
          <p:cNvSpPr/>
          <p:nvPr/>
        </p:nvSpPr>
        <p:spPr>
          <a:xfrm>
            <a:off x="3813048" y="3422142"/>
            <a:ext cx="7845552" cy="500634"/>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Final amount used for GMV.</a:t>
            </a:r>
            <a:endParaRPr lang="en-US" sz="149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3108960" cy="500634"/>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Date posted / accepted / completed</a:t>
            </a:r>
            <a:endParaRPr lang="en-US" sz="1490" dirty="0"/>
          </a:p>
        </p:txBody>
      </p:sp>
      <p:sp>
        <p:nvSpPr>
          <p:cNvPr id="23" name="Text 21"/>
          <p:cNvSpPr/>
          <p:nvPr/>
        </p:nvSpPr>
        <p:spPr>
          <a:xfrm>
            <a:off x="3813048" y="3995928"/>
            <a:ext cx="7845552" cy="500634"/>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Used for timing metrics.</a:t>
            </a:r>
            <a:endParaRPr lang="en-US" sz="149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3108960" cy="500634"/>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Client rating / provider rating</a:t>
            </a:r>
            <a:endParaRPr lang="en-US" sz="1490" dirty="0"/>
          </a:p>
        </p:txBody>
      </p:sp>
      <p:sp>
        <p:nvSpPr>
          <p:cNvPr id="26" name="Text 24"/>
          <p:cNvSpPr/>
          <p:nvPr/>
        </p:nvSpPr>
        <p:spPr>
          <a:xfrm>
            <a:off x="3813048" y="4569714"/>
            <a:ext cx="7845552" cy="500634"/>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Two-way trust data.</a:t>
            </a:r>
            <a:endParaRPr lang="en-US" sz="149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3108960" cy="500634"/>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Issue encountered</a:t>
            </a:r>
            <a:endParaRPr lang="en-US" sz="1490" dirty="0"/>
          </a:p>
        </p:txBody>
      </p:sp>
      <p:sp>
        <p:nvSpPr>
          <p:cNvPr id="29" name="Text 27"/>
          <p:cNvSpPr/>
          <p:nvPr/>
        </p:nvSpPr>
        <p:spPr>
          <a:xfrm>
            <a:off x="3813048" y="5143500"/>
            <a:ext cx="7845552" cy="500634"/>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No issue, price change, delay, quality, no-show, communication, other.</a:t>
            </a:r>
            <a:endParaRPr lang="en-US" sz="149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3108960" cy="500634"/>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Repeat client / notes</a:t>
            </a:r>
            <a:endParaRPr lang="en-US" sz="1490" dirty="0"/>
          </a:p>
        </p:txBody>
      </p:sp>
      <p:sp>
        <p:nvSpPr>
          <p:cNvPr id="32" name="Text 30"/>
          <p:cNvSpPr/>
          <p:nvPr/>
        </p:nvSpPr>
        <p:spPr>
          <a:xfrm>
            <a:off x="3813048" y="5717286"/>
            <a:ext cx="7845552" cy="500634"/>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Would client use again? Would provider accept again?</a:t>
            </a:r>
            <a:endParaRPr lang="en-US" sz="149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Dispute Log</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Dispute Log Template</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Use factual records only. Avoid emotional language.</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Dispute Log</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37</a:t>
            </a:r>
            <a:endParaRPr lang="en-US" sz="850" dirty="0"/>
          </a:p>
        </p:txBody>
      </p:sp>
      <p:sp>
        <p:nvSpPr>
          <p:cNvPr id="8" name="Text 6"/>
          <p:cNvSpPr/>
          <p:nvPr/>
        </p:nvSpPr>
        <p:spPr>
          <a:xfrm>
            <a:off x="502920" y="1380744"/>
            <a:ext cx="320040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904488" y="1380744"/>
            <a:ext cx="775411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200400" cy="500634"/>
          </a:xfrm>
          <a:prstGeom prst="rect">
            <a:avLst/>
          </a:prstGeom>
          <a:noFill/>
          <a:ln/>
        </p:spPr>
        <p:txBody>
          <a:bodyPr wrap="square" lIns="0" tIns="0" rIns="0" bIns="0" rtlCol="0" anchor="ctr">
            <a:normAutofit/>
          </a:bodyPr>
          <a:lstStyle/>
          <a:p>
            <a:pPr indent="0" marL="0">
              <a:buNone/>
            </a:pPr>
            <a:r>
              <a:rPr lang="en-US" sz="1430" b="1" dirty="0">
                <a:solidFill>
                  <a:srgbClr val="17324D"/>
                </a:solidFill>
                <a:latin typeface="Aptos" pitchFamily="34" charset="0"/>
                <a:ea typeface="Aptos" pitchFamily="34" charset="-122"/>
                <a:cs typeface="Aptos" pitchFamily="34" charset="-120"/>
              </a:rPr>
              <a:t>Dispute ID / Job ID</a:t>
            </a:r>
            <a:endParaRPr lang="en-US" sz="1430" dirty="0"/>
          </a:p>
        </p:txBody>
      </p:sp>
      <p:sp>
        <p:nvSpPr>
          <p:cNvPr id="11" name="Text 9"/>
          <p:cNvSpPr/>
          <p:nvPr/>
        </p:nvSpPr>
        <p:spPr>
          <a:xfrm>
            <a:off x="3904488" y="1700784"/>
            <a:ext cx="7754112" cy="500634"/>
          </a:xfrm>
          <a:prstGeom prst="rect">
            <a:avLst/>
          </a:prstGeom>
          <a:noFill/>
          <a:ln/>
        </p:spPr>
        <p:txBody>
          <a:bodyPr wrap="square" lIns="0" tIns="0" rIns="0" bIns="0" rtlCol="0" anchor="ctr">
            <a:normAutofit/>
          </a:bodyPr>
          <a:lstStyle/>
          <a:p>
            <a:pPr indent="0" marL="0">
              <a:buNone/>
            </a:pPr>
            <a:r>
              <a:rPr lang="en-US" sz="1430" dirty="0">
                <a:solidFill>
                  <a:srgbClr val="17324D"/>
                </a:solidFill>
                <a:latin typeface="Aptos" pitchFamily="34" charset="0"/>
                <a:ea typeface="Aptos" pitchFamily="34" charset="-122"/>
                <a:cs typeface="Aptos" pitchFamily="34" charset="-120"/>
              </a:rPr>
              <a:t>Unique ID and related job.</a:t>
            </a:r>
            <a:endParaRPr lang="en-US" sz="143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3200400" cy="500634"/>
          </a:xfrm>
          <a:prstGeom prst="rect">
            <a:avLst/>
          </a:prstGeom>
          <a:noFill/>
          <a:ln/>
        </p:spPr>
        <p:txBody>
          <a:bodyPr wrap="square" lIns="0" tIns="0" rIns="0" bIns="0" rtlCol="0" anchor="ctr">
            <a:normAutofit/>
          </a:bodyPr>
          <a:lstStyle/>
          <a:p>
            <a:pPr indent="0" marL="0">
              <a:buNone/>
            </a:pPr>
            <a:r>
              <a:rPr lang="en-US" sz="1430" b="1" dirty="0">
                <a:solidFill>
                  <a:srgbClr val="17324D"/>
                </a:solidFill>
                <a:latin typeface="Aptos" pitchFamily="34" charset="0"/>
                <a:ea typeface="Aptos" pitchFamily="34" charset="-122"/>
                <a:cs typeface="Aptos" pitchFamily="34" charset="-120"/>
              </a:rPr>
              <a:t>Complaint by</a:t>
            </a:r>
            <a:endParaRPr lang="en-US" sz="1430" dirty="0"/>
          </a:p>
        </p:txBody>
      </p:sp>
      <p:sp>
        <p:nvSpPr>
          <p:cNvPr id="14" name="Text 12"/>
          <p:cNvSpPr/>
          <p:nvPr/>
        </p:nvSpPr>
        <p:spPr>
          <a:xfrm>
            <a:off x="3904488" y="2274570"/>
            <a:ext cx="7754112" cy="500634"/>
          </a:xfrm>
          <a:prstGeom prst="rect">
            <a:avLst/>
          </a:prstGeom>
          <a:noFill/>
          <a:ln/>
        </p:spPr>
        <p:txBody>
          <a:bodyPr wrap="square" lIns="0" tIns="0" rIns="0" bIns="0" rtlCol="0" anchor="ctr">
            <a:normAutofit/>
          </a:bodyPr>
          <a:lstStyle/>
          <a:p>
            <a:pPr indent="0" marL="0">
              <a:buNone/>
            </a:pPr>
            <a:r>
              <a:rPr lang="en-US" sz="1430" dirty="0">
                <a:solidFill>
                  <a:srgbClr val="17324D"/>
                </a:solidFill>
                <a:latin typeface="Aptos" pitchFamily="34" charset="0"/>
                <a:ea typeface="Aptos" pitchFamily="34" charset="-122"/>
                <a:cs typeface="Aptos" pitchFamily="34" charset="-120"/>
              </a:rPr>
              <a:t>Client, provider, or KAILA operations.</a:t>
            </a:r>
            <a:endParaRPr lang="en-US" sz="143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3200400" cy="500634"/>
          </a:xfrm>
          <a:prstGeom prst="rect">
            <a:avLst/>
          </a:prstGeom>
          <a:noFill/>
          <a:ln/>
        </p:spPr>
        <p:txBody>
          <a:bodyPr wrap="square" lIns="0" tIns="0" rIns="0" bIns="0" rtlCol="0" anchor="ctr">
            <a:normAutofit/>
          </a:bodyPr>
          <a:lstStyle/>
          <a:p>
            <a:pPr indent="0" marL="0">
              <a:buNone/>
            </a:pPr>
            <a:r>
              <a:rPr lang="en-US" sz="1430" b="1" dirty="0">
                <a:solidFill>
                  <a:srgbClr val="17324D"/>
                </a:solidFill>
                <a:latin typeface="Aptos" pitchFamily="34" charset="0"/>
                <a:ea typeface="Aptos" pitchFamily="34" charset="-122"/>
                <a:cs typeface="Aptos" pitchFamily="34" charset="-120"/>
              </a:rPr>
              <a:t>Issue type</a:t>
            </a:r>
            <a:endParaRPr lang="en-US" sz="1430" dirty="0"/>
          </a:p>
        </p:txBody>
      </p:sp>
      <p:sp>
        <p:nvSpPr>
          <p:cNvPr id="17" name="Text 15"/>
          <p:cNvSpPr/>
          <p:nvPr/>
        </p:nvSpPr>
        <p:spPr>
          <a:xfrm>
            <a:off x="3904488" y="2848356"/>
            <a:ext cx="7754112" cy="500634"/>
          </a:xfrm>
          <a:prstGeom prst="rect">
            <a:avLst/>
          </a:prstGeom>
          <a:noFill/>
          <a:ln/>
        </p:spPr>
        <p:txBody>
          <a:bodyPr wrap="square" lIns="0" tIns="0" rIns="0" bIns="0" rtlCol="0" anchor="ctr">
            <a:normAutofit/>
          </a:bodyPr>
          <a:lstStyle/>
          <a:p>
            <a:pPr indent="0" marL="0">
              <a:buNone/>
            </a:pPr>
            <a:r>
              <a:rPr lang="en-US" sz="1430" dirty="0">
                <a:solidFill>
                  <a:srgbClr val="17324D"/>
                </a:solidFill>
                <a:latin typeface="Aptos" pitchFamily="34" charset="0"/>
                <a:ea typeface="Aptos" pitchFamily="34" charset="-122"/>
                <a:cs typeface="Aptos" pitchFamily="34" charset="-120"/>
              </a:rPr>
              <a:t>No-show, price change, poor quality, damage, payment, scope, rude communication, other.</a:t>
            </a:r>
            <a:endParaRPr lang="en-US" sz="143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3200400" cy="500634"/>
          </a:xfrm>
          <a:prstGeom prst="rect">
            <a:avLst/>
          </a:prstGeom>
          <a:noFill/>
          <a:ln/>
        </p:spPr>
        <p:txBody>
          <a:bodyPr wrap="square" lIns="0" tIns="0" rIns="0" bIns="0" rtlCol="0" anchor="ctr">
            <a:normAutofit/>
          </a:bodyPr>
          <a:lstStyle/>
          <a:p>
            <a:pPr indent="0" marL="0">
              <a:buNone/>
            </a:pPr>
            <a:r>
              <a:rPr lang="en-US" sz="1430" b="1" dirty="0">
                <a:solidFill>
                  <a:srgbClr val="17324D"/>
                </a:solidFill>
                <a:latin typeface="Aptos" pitchFamily="34" charset="0"/>
                <a:ea typeface="Aptos" pitchFamily="34" charset="-122"/>
                <a:cs typeface="Aptos" pitchFamily="34" charset="-120"/>
              </a:rPr>
              <a:t>Date reported</a:t>
            </a:r>
            <a:endParaRPr lang="en-US" sz="1430" dirty="0"/>
          </a:p>
        </p:txBody>
      </p:sp>
      <p:sp>
        <p:nvSpPr>
          <p:cNvPr id="20" name="Text 18"/>
          <p:cNvSpPr/>
          <p:nvPr/>
        </p:nvSpPr>
        <p:spPr>
          <a:xfrm>
            <a:off x="3904488" y="3422142"/>
            <a:ext cx="7754112" cy="500634"/>
          </a:xfrm>
          <a:prstGeom prst="rect">
            <a:avLst/>
          </a:prstGeom>
          <a:noFill/>
          <a:ln/>
        </p:spPr>
        <p:txBody>
          <a:bodyPr wrap="square" lIns="0" tIns="0" rIns="0" bIns="0" rtlCol="0" anchor="ctr">
            <a:normAutofit/>
          </a:bodyPr>
          <a:lstStyle/>
          <a:p>
            <a:pPr indent="0" marL="0">
              <a:buNone/>
            </a:pPr>
            <a:r>
              <a:rPr lang="en-US" sz="1430" dirty="0">
                <a:solidFill>
                  <a:srgbClr val="17324D"/>
                </a:solidFill>
                <a:latin typeface="Aptos" pitchFamily="34" charset="0"/>
                <a:ea typeface="Aptos" pitchFamily="34" charset="-122"/>
                <a:cs typeface="Aptos" pitchFamily="34" charset="-120"/>
              </a:rPr>
              <a:t>When issue was raised.</a:t>
            </a:r>
            <a:endParaRPr lang="en-US" sz="143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3200400" cy="500634"/>
          </a:xfrm>
          <a:prstGeom prst="rect">
            <a:avLst/>
          </a:prstGeom>
          <a:noFill/>
          <a:ln/>
        </p:spPr>
        <p:txBody>
          <a:bodyPr wrap="square" lIns="0" tIns="0" rIns="0" bIns="0" rtlCol="0" anchor="ctr">
            <a:normAutofit/>
          </a:bodyPr>
          <a:lstStyle/>
          <a:p>
            <a:pPr indent="0" marL="0">
              <a:buNone/>
            </a:pPr>
            <a:r>
              <a:rPr lang="en-US" sz="1430" b="1" dirty="0">
                <a:solidFill>
                  <a:srgbClr val="17324D"/>
                </a:solidFill>
                <a:latin typeface="Aptos" pitchFamily="34" charset="0"/>
                <a:ea typeface="Aptos" pitchFamily="34" charset="-122"/>
                <a:cs typeface="Aptos" pitchFamily="34" charset="-120"/>
              </a:rPr>
              <a:t>Description</a:t>
            </a:r>
            <a:endParaRPr lang="en-US" sz="1430" dirty="0"/>
          </a:p>
        </p:txBody>
      </p:sp>
      <p:sp>
        <p:nvSpPr>
          <p:cNvPr id="23" name="Text 21"/>
          <p:cNvSpPr/>
          <p:nvPr/>
        </p:nvSpPr>
        <p:spPr>
          <a:xfrm>
            <a:off x="3904488" y="3995928"/>
            <a:ext cx="7754112" cy="500634"/>
          </a:xfrm>
          <a:prstGeom prst="rect">
            <a:avLst/>
          </a:prstGeom>
          <a:noFill/>
          <a:ln/>
        </p:spPr>
        <p:txBody>
          <a:bodyPr wrap="square" lIns="0" tIns="0" rIns="0" bIns="0" rtlCol="0" anchor="ctr">
            <a:normAutofit/>
          </a:bodyPr>
          <a:lstStyle/>
          <a:p>
            <a:pPr indent="0" marL="0">
              <a:buNone/>
            </a:pPr>
            <a:r>
              <a:rPr lang="en-US" sz="1430" dirty="0">
                <a:solidFill>
                  <a:srgbClr val="17324D"/>
                </a:solidFill>
                <a:latin typeface="Aptos" pitchFamily="34" charset="0"/>
                <a:ea typeface="Aptos" pitchFamily="34" charset="-122"/>
                <a:cs typeface="Aptos" pitchFamily="34" charset="-120"/>
              </a:rPr>
              <a:t>Neutral summary of what happened.</a:t>
            </a:r>
            <a:endParaRPr lang="en-US" sz="143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3200400" cy="500634"/>
          </a:xfrm>
          <a:prstGeom prst="rect">
            <a:avLst/>
          </a:prstGeom>
          <a:noFill/>
          <a:ln/>
        </p:spPr>
        <p:txBody>
          <a:bodyPr wrap="square" lIns="0" tIns="0" rIns="0" bIns="0" rtlCol="0" anchor="ctr">
            <a:normAutofit/>
          </a:bodyPr>
          <a:lstStyle/>
          <a:p>
            <a:pPr indent="0" marL="0">
              <a:buNone/>
            </a:pPr>
            <a:r>
              <a:rPr lang="en-US" sz="1430" b="1" dirty="0">
                <a:solidFill>
                  <a:srgbClr val="17324D"/>
                </a:solidFill>
                <a:latin typeface="Aptos" pitchFamily="34" charset="0"/>
                <a:ea typeface="Aptos" pitchFamily="34" charset="-122"/>
                <a:cs typeface="Aptos" pitchFamily="34" charset="-120"/>
              </a:rPr>
              <a:t>Evidence collected</a:t>
            </a:r>
            <a:endParaRPr lang="en-US" sz="1430" dirty="0"/>
          </a:p>
        </p:txBody>
      </p:sp>
      <p:sp>
        <p:nvSpPr>
          <p:cNvPr id="26" name="Text 24"/>
          <p:cNvSpPr/>
          <p:nvPr/>
        </p:nvSpPr>
        <p:spPr>
          <a:xfrm>
            <a:off x="3904488" y="4569714"/>
            <a:ext cx="7754112" cy="500634"/>
          </a:xfrm>
          <a:prstGeom prst="rect">
            <a:avLst/>
          </a:prstGeom>
          <a:noFill/>
          <a:ln/>
        </p:spPr>
        <p:txBody>
          <a:bodyPr wrap="square" lIns="0" tIns="0" rIns="0" bIns="0" rtlCol="0" anchor="ctr">
            <a:normAutofit/>
          </a:bodyPr>
          <a:lstStyle/>
          <a:p>
            <a:pPr indent="0" marL="0">
              <a:buNone/>
            </a:pPr>
            <a:r>
              <a:rPr lang="en-US" sz="1430" dirty="0">
                <a:solidFill>
                  <a:srgbClr val="17324D"/>
                </a:solidFill>
                <a:latin typeface="Aptos" pitchFamily="34" charset="0"/>
                <a:ea typeface="Aptos" pitchFamily="34" charset="-122"/>
                <a:cs typeface="Aptos" pitchFamily="34" charset="-120"/>
              </a:rPr>
              <a:t>Request details, chats, photos, offer amount, agreed scope, completion confirmation.</a:t>
            </a:r>
            <a:endParaRPr lang="en-US" sz="143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3200400" cy="500634"/>
          </a:xfrm>
          <a:prstGeom prst="rect">
            <a:avLst/>
          </a:prstGeom>
          <a:noFill/>
          <a:ln/>
        </p:spPr>
        <p:txBody>
          <a:bodyPr wrap="square" lIns="0" tIns="0" rIns="0" bIns="0" rtlCol="0" anchor="ctr">
            <a:normAutofit/>
          </a:bodyPr>
          <a:lstStyle/>
          <a:p>
            <a:pPr indent="0" marL="0">
              <a:buNone/>
            </a:pPr>
            <a:r>
              <a:rPr lang="en-US" sz="1430" b="1" dirty="0">
                <a:solidFill>
                  <a:srgbClr val="17324D"/>
                </a:solidFill>
                <a:latin typeface="Aptos" pitchFamily="34" charset="0"/>
                <a:ea typeface="Aptos" pitchFamily="34" charset="-122"/>
                <a:cs typeface="Aptos" pitchFamily="34" charset="-120"/>
              </a:rPr>
              <a:t>Current status</a:t>
            </a:r>
            <a:endParaRPr lang="en-US" sz="1430" dirty="0"/>
          </a:p>
        </p:txBody>
      </p:sp>
      <p:sp>
        <p:nvSpPr>
          <p:cNvPr id="29" name="Text 27"/>
          <p:cNvSpPr/>
          <p:nvPr/>
        </p:nvSpPr>
        <p:spPr>
          <a:xfrm>
            <a:off x="3904488" y="5143500"/>
            <a:ext cx="7754112" cy="500634"/>
          </a:xfrm>
          <a:prstGeom prst="rect">
            <a:avLst/>
          </a:prstGeom>
          <a:noFill/>
          <a:ln/>
        </p:spPr>
        <p:txBody>
          <a:bodyPr wrap="square" lIns="0" tIns="0" rIns="0" bIns="0" rtlCol="0" anchor="ctr">
            <a:normAutofit/>
          </a:bodyPr>
          <a:lstStyle/>
          <a:p>
            <a:pPr indent="0" marL="0">
              <a:buNone/>
            </a:pPr>
            <a:r>
              <a:rPr lang="en-US" sz="1430" dirty="0">
                <a:solidFill>
                  <a:srgbClr val="17324D"/>
                </a:solidFill>
                <a:latin typeface="Aptos" pitchFamily="34" charset="0"/>
                <a:ea typeface="Aptos" pitchFamily="34" charset="-122"/>
                <a:cs typeface="Aptos" pitchFamily="34" charset="-120"/>
              </a:rPr>
              <a:t>Open, under review, resolved, closed, escalated.</a:t>
            </a:r>
            <a:endParaRPr lang="en-US" sz="143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3200400" cy="500634"/>
          </a:xfrm>
          <a:prstGeom prst="rect">
            <a:avLst/>
          </a:prstGeom>
          <a:noFill/>
          <a:ln/>
        </p:spPr>
        <p:txBody>
          <a:bodyPr wrap="square" lIns="0" tIns="0" rIns="0" bIns="0" rtlCol="0" anchor="ctr">
            <a:normAutofit/>
          </a:bodyPr>
          <a:lstStyle/>
          <a:p>
            <a:pPr indent="0" marL="0">
              <a:buNone/>
            </a:pPr>
            <a:r>
              <a:rPr lang="en-US" sz="1430" b="1" dirty="0">
                <a:solidFill>
                  <a:srgbClr val="17324D"/>
                </a:solidFill>
                <a:latin typeface="Aptos" pitchFamily="34" charset="0"/>
                <a:ea typeface="Aptos" pitchFamily="34" charset="-122"/>
                <a:cs typeface="Aptos" pitchFamily="34" charset="-120"/>
              </a:rPr>
              <a:t>Action taken / resolution</a:t>
            </a:r>
            <a:endParaRPr lang="en-US" sz="1430" dirty="0"/>
          </a:p>
        </p:txBody>
      </p:sp>
      <p:sp>
        <p:nvSpPr>
          <p:cNvPr id="32" name="Text 30"/>
          <p:cNvSpPr/>
          <p:nvPr/>
        </p:nvSpPr>
        <p:spPr>
          <a:xfrm>
            <a:off x="3904488" y="5717286"/>
            <a:ext cx="7754112" cy="500634"/>
          </a:xfrm>
          <a:prstGeom prst="rect">
            <a:avLst/>
          </a:prstGeom>
          <a:noFill/>
          <a:ln/>
        </p:spPr>
        <p:txBody>
          <a:bodyPr wrap="square" lIns="0" tIns="0" rIns="0" bIns="0" rtlCol="0" anchor="ctr">
            <a:normAutofit/>
          </a:bodyPr>
          <a:lstStyle/>
          <a:p>
            <a:pPr indent="0" marL="0">
              <a:buNone/>
            </a:pPr>
            <a:r>
              <a:rPr lang="en-US" sz="1430" dirty="0">
                <a:solidFill>
                  <a:srgbClr val="17324D"/>
                </a:solidFill>
                <a:latin typeface="Aptos" pitchFamily="34" charset="0"/>
                <a:ea typeface="Aptos" pitchFamily="34" charset="-122"/>
                <a:cs typeface="Aptos" pitchFamily="34" charset="-120"/>
              </a:rPr>
              <a:t>Warning, no action, restriction, status downgrade, suspension, removal.</a:t>
            </a:r>
            <a:endParaRPr lang="en-US" sz="143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Survey Form</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Client Survey Form — Part 1</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Use before and during pilot to validate demand.</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Survey Form</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38</a:t>
            </a:r>
            <a:endParaRPr lang="en-US" sz="850" dirty="0"/>
          </a:p>
        </p:txBody>
      </p:sp>
      <p:sp>
        <p:nvSpPr>
          <p:cNvPr id="8" name="Text 6"/>
          <p:cNvSpPr/>
          <p:nvPr/>
        </p:nvSpPr>
        <p:spPr>
          <a:xfrm>
            <a:off x="502920" y="1380744"/>
            <a:ext cx="374904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4453128" y="1380744"/>
            <a:ext cx="720547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74904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Name or nickname</a:t>
            </a:r>
            <a:endParaRPr lang="en-US" sz="1460" dirty="0"/>
          </a:p>
        </p:txBody>
      </p:sp>
      <p:sp>
        <p:nvSpPr>
          <p:cNvPr id="11" name="Text 9"/>
          <p:cNvSpPr/>
          <p:nvPr/>
        </p:nvSpPr>
        <p:spPr>
          <a:xfrm>
            <a:off x="4453128" y="1700784"/>
            <a:ext cx="720547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Optional but useful for follow-up.</a:t>
            </a:r>
            <a:endParaRPr lang="en-US" sz="146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374904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Barangay / area</a:t>
            </a:r>
            <a:endParaRPr lang="en-US" sz="1460" dirty="0"/>
          </a:p>
        </p:txBody>
      </p:sp>
      <p:sp>
        <p:nvSpPr>
          <p:cNvPr id="14" name="Text 12"/>
          <p:cNvSpPr/>
          <p:nvPr/>
        </p:nvSpPr>
        <p:spPr>
          <a:xfrm>
            <a:off x="4453128" y="2274570"/>
            <a:ext cx="720547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Helps identify demand geography.</a:t>
            </a:r>
            <a:endParaRPr lang="en-US" sz="146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374904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Age range</a:t>
            </a:r>
            <a:endParaRPr lang="en-US" sz="1460" dirty="0"/>
          </a:p>
        </p:txBody>
      </p:sp>
      <p:sp>
        <p:nvSpPr>
          <p:cNvPr id="17" name="Text 15"/>
          <p:cNvSpPr/>
          <p:nvPr/>
        </p:nvSpPr>
        <p:spPr>
          <a:xfrm>
            <a:off x="4453128" y="2848356"/>
            <a:ext cx="720547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Optional demographic grouping.</a:t>
            </a:r>
            <a:endParaRPr lang="en-US" sz="146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374904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In the past 6 months, did you need a service provider?</a:t>
            </a:r>
            <a:endParaRPr lang="en-US" sz="1460" dirty="0"/>
          </a:p>
        </p:txBody>
      </p:sp>
      <p:sp>
        <p:nvSpPr>
          <p:cNvPr id="20" name="Text 18"/>
          <p:cNvSpPr/>
          <p:nvPr/>
        </p:nvSpPr>
        <p:spPr>
          <a:xfrm>
            <a:off x="4453128" y="3422142"/>
            <a:ext cx="720547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Yes/No.</a:t>
            </a:r>
            <a:endParaRPr lang="en-US" sz="146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374904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What service did you need?</a:t>
            </a:r>
            <a:endParaRPr lang="en-US" sz="1460" dirty="0"/>
          </a:p>
        </p:txBody>
      </p:sp>
      <p:sp>
        <p:nvSpPr>
          <p:cNvPr id="23" name="Text 21"/>
          <p:cNvSpPr/>
          <p:nvPr/>
        </p:nvSpPr>
        <p:spPr>
          <a:xfrm>
            <a:off x="4453128" y="3995928"/>
            <a:ext cx="720547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Appliance, plumbing, electrical, computer, motorcycle, cleaning, digital, other.</a:t>
            </a:r>
            <a:endParaRPr lang="en-US" sz="146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374904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How did you look for that person?</a:t>
            </a:r>
            <a:endParaRPr lang="en-US" sz="1460" dirty="0"/>
          </a:p>
        </p:txBody>
      </p:sp>
      <p:sp>
        <p:nvSpPr>
          <p:cNvPr id="26" name="Text 24"/>
          <p:cNvSpPr/>
          <p:nvPr/>
        </p:nvSpPr>
        <p:spPr>
          <a:xfrm>
            <a:off x="4453128" y="4569714"/>
            <a:ext cx="720547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Referral, Facebook, Messenger, neighbor, shop, previous provider, other.</a:t>
            </a:r>
            <a:endParaRPr lang="en-US" sz="146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374904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How long did it take?</a:t>
            </a:r>
            <a:endParaRPr lang="en-US" sz="1460" dirty="0"/>
          </a:p>
        </p:txBody>
      </p:sp>
      <p:sp>
        <p:nvSpPr>
          <p:cNvPr id="29" name="Text 27"/>
          <p:cNvSpPr/>
          <p:nvPr/>
        </p:nvSpPr>
        <p:spPr>
          <a:xfrm>
            <a:off x="4453128" y="5143500"/>
            <a:ext cx="720547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Same day, 1–2 days, 3–7 days, more than a week, never found one.</a:t>
            </a:r>
            <a:endParaRPr lang="en-US" sz="146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374904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What was the hardest part?</a:t>
            </a:r>
            <a:endParaRPr lang="en-US" sz="1460" dirty="0"/>
          </a:p>
        </p:txBody>
      </p:sp>
      <p:sp>
        <p:nvSpPr>
          <p:cNvPr id="32" name="Text 30"/>
          <p:cNvSpPr/>
          <p:nvPr/>
        </p:nvSpPr>
        <p:spPr>
          <a:xfrm>
            <a:off x="4453128" y="5717286"/>
            <a:ext cx="720547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Paragraph. Capture pain point in their words.</a:t>
            </a:r>
            <a:endParaRPr lang="en-US" sz="146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Survey Form</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Client Survey Form — Part 2</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Trust, price, and willingness to use KAILA.</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Survey Form</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39</a:t>
            </a:r>
            <a:endParaRPr lang="en-US" sz="850" dirty="0"/>
          </a:p>
        </p:txBody>
      </p:sp>
      <p:sp>
        <p:nvSpPr>
          <p:cNvPr id="8" name="Text 6"/>
          <p:cNvSpPr/>
          <p:nvPr/>
        </p:nvSpPr>
        <p:spPr>
          <a:xfrm>
            <a:off x="502920" y="1380744"/>
            <a:ext cx="374904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4453128" y="1380744"/>
            <a:ext cx="720547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74904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Did you compare prices?</a:t>
            </a:r>
            <a:endParaRPr lang="en-US" sz="1460" dirty="0"/>
          </a:p>
        </p:txBody>
      </p:sp>
      <p:sp>
        <p:nvSpPr>
          <p:cNvPr id="11" name="Text 9"/>
          <p:cNvSpPr/>
          <p:nvPr/>
        </p:nvSpPr>
        <p:spPr>
          <a:xfrm>
            <a:off x="4453128" y="1700784"/>
            <a:ext cx="720547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Yes/No.</a:t>
            </a:r>
            <a:endParaRPr lang="en-US" sz="146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374904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Was the price clear before the job started?</a:t>
            </a:r>
            <a:endParaRPr lang="en-US" sz="1460" dirty="0"/>
          </a:p>
        </p:txBody>
      </p:sp>
      <p:sp>
        <p:nvSpPr>
          <p:cNvPr id="14" name="Text 12"/>
          <p:cNvSpPr/>
          <p:nvPr/>
        </p:nvSpPr>
        <p:spPr>
          <a:xfrm>
            <a:off x="4453128" y="2274570"/>
            <a:ext cx="720547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Yes/No/Somewhat.</a:t>
            </a:r>
            <a:endParaRPr lang="en-US" sz="146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374904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What made you trust the provider?</a:t>
            </a:r>
            <a:endParaRPr lang="en-US" sz="1460" dirty="0"/>
          </a:p>
        </p:txBody>
      </p:sp>
      <p:sp>
        <p:nvSpPr>
          <p:cNvPr id="17" name="Text 15"/>
          <p:cNvSpPr/>
          <p:nvPr/>
        </p:nvSpPr>
        <p:spPr>
          <a:xfrm>
            <a:off x="4453128" y="2848356"/>
            <a:ext cx="720547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Referral, known person, reviews, work samples, ID, shop, price, other.</a:t>
            </a:r>
            <a:endParaRPr lang="en-US" sz="146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374904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Were you satisfied with the work?</a:t>
            </a:r>
            <a:endParaRPr lang="en-US" sz="1460" dirty="0"/>
          </a:p>
        </p:txBody>
      </p:sp>
      <p:sp>
        <p:nvSpPr>
          <p:cNvPr id="20" name="Text 18"/>
          <p:cNvSpPr/>
          <p:nvPr/>
        </p:nvSpPr>
        <p:spPr>
          <a:xfrm>
            <a:off x="4453128" y="3422142"/>
            <a:ext cx="720547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1–5 rating or Yes/No.</a:t>
            </a:r>
            <a:endParaRPr lang="en-US" sz="146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374904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Would you post a request in KAILA?</a:t>
            </a:r>
            <a:endParaRPr lang="en-US" sz="1460" dirty="0"/>
          </a:p>
        </p:txBody>
      </p:sp>
      <p:sp>
        <p:nvSpPr>
          <p:cNvPr id="23" name="Text 21"/>
          <p:cNvSpPr/>
          <p:nvPr/>
        </p:nvSpPr>
        <p:spPr>
          <a:xfrm>
            <a:off x="4453128" y="3995928"/>
            <a:ext cx="720547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Yes/No/Maybe.</a:t>
            </a:r>
            <a:endParaRPr lang="en-US" sz="146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374904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Would you upload photos/videos?</a:t>
            </a:r>
            <a:endParaRPr lang="en-US" sz="1460" dirty="0"/>
          </a:p>
        </p:txBody>
      </p:sp>
      <p:sp>
        <p:nvSpPr>
          <p:cNvPr id="26" name="Text 24"/>
          <p:cNvSpPr/>
          <p:nvPr/>
        </p:nvSpPr>
        <p:spPr>
          <a:xfrm>
            <a:off x="4453128" y="4569714"/>
            <a:ext cx="720547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Yes/No/Maybe.</a:t>
            </a:r>
            <a:endParaRPr lang="en-US" sz="146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374904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Would you compare offers from providers?</a:t>
            </a:r>
            <a:endParaRPr lang="en-US" sz="1460" dirty="0"/>
          </a:p>
        </p:txBody>
      </p:sp>
      <p:sp>
        <p:nvSpPr>
          <p:cNvPr id="29" name="Text 27"/>
          <p:cNvSpPr/>
          <p:nvPr/>
        </p:nvSpPr>
        <p:spPr>
          <a:xfrm>
            <a:off x="4453128" y="5143500"/>
            <a:ext cx="720547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Yes/No/Maybe.</a:t>
            </a:r>
            <a:endParaRPr lang="en-US" sz="146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374904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Would you rate the provider after completion?</a:t>
            </a:r>
            <a:endParaRPr lang="en-US" sz="1460" dirty="0"/>
          </a:p>
        </p:txBody>
      </p:sp>
      <p:sp>
        <p:nvSpPr>
          <p:cNvPr id="32" name="Text 30"/>
          <p:cNvSpPr/>
          <p:nvPr/>
        </p:nvSpPr>
        <p:spPr>
          <a:xfrm>
            <a:off x="4453128" y="5717286"/>
            <a:ext cx="720547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Yes/No/Maybe.</a:t>
            </a:r>
            <a:endParaRPr lang="en-US" sz="146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Interview Form</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Provider Interview Form — Part 1</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Use for deeper provider understanding beyond signup.</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Interview Form</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40</a:t>
            </a:r>
            <a:endParaRPr lang="en-US" sz="850" dirty="0"/>
          </a:p>
        </p:txBody>
      </p:sp>
      <p:sp>
        <p:nvSpPr>
          <p:cNvPr id="8" name="Text 6"/>
          <p:cNvSpPr/>
          <p:nvPr/>
        </p:nvSpPr>
        <p:spPr>
          <a:xfrm>
            <a:off x="502920" y="1380744"/>
            <a:ext cx="374904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4453128" y="1380744"/>
            <a:ext cx="720547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74904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What services do you offer?</a:t>
            </a:r>
            <a:endParaRPr lang="en-US" sz="1470" dirty="0"/>
          </a:p>
        </p:txBody>
      </p:sp>
      <p:sp>
        <p:nvSpPr>
          <p:cNvPr id="11" name="Text 9"/>
          <p:cNvSpPr/>
          <p:nvPr/>
        </p:nvSpPr>
        <p:spPr>
          <a:xfrm>
            <a:off x="4453128" y="1700784"/>
            <a:ext cx="720547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Ask for specific jobs, not just category name.</a:t>
            </a:r>
            <a:endParaRPr lang="en-US" sz="147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374904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How many years have you done this work?</a:t>
            </a:r>
            <a:endParaRPr lang="en-US" sz="1470" dirty="0"/>
          </a:p>
        </p:txBody>
      </p:sp>
      <p:sp>
        <p:nvSpPr>
          <p:cNvPr id="14" name="Text 12"/>
          <p:cNvSpPr/>
          <p:nvPr/>
        </p:nvSpPr>
        <p:spPr>
          <a:xfrm>
            <a:off x="4453128" y="2274570"/>
            <a:ext cx="720547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Experience background.</a:t>
            </a:r>
            <a:endParaRPr lang="en-US" sz="147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374904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How do clients usually find you?</a:t>
            </a:r>
            <a:endParaRPr lang="en-US" sz="1470" dirty="0"/>
          </a:p>
        </p:txBody>
      </p:sp>
      <p:sp>
        <p:nvSpPr>
          <p:cNvPr id="17" name="Text 15"/>
          <p:cNvSpPr/>
          <p:nvPr/>
        </p:nvSpPr>
        <p:spPr>
          <a:xfrm>
            <a:off x="4453128" y="2848356"/>
            <a:ext cx="720547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Referral, Facebook, shop walk-ins, repeat clients, other.</a:t>
            </a:r>
            <a:endParaRPr lang="en-US" sz="147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374904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How many jobs do you get weekly?</a:t>
            </a:r>
            <a:endParaRPr lang="en-US" sz="1470" dirty="0"/>
          </a:p>
        </p:txBody>
      </p:sp>
      <p:sp>
        <p:nvSpPr>
          <p:cNvPr id="20" name="Text 18"/>
          <p:cNvSpPr/>
          <p:nvPr/>
        </p:nvSpPr>
        <p:spPr>
          <a:xfrm>
            <a:off x="4453128" y="3422142"/>
            <a:ext cx="720547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Estimate normal workload.</a:t>
            </a:r>
            <a:endParaRPr lang="en-US" sz="147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374904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Do you want more clients?</a:t>
            </a:r>
            <a:endParaRPr lang="en-US" sz="1470" dirty="0"/>
          </a:p>
        </p:txBody>
      </p:sp>
      <p:sp>
        <p:nvSpPr>
          <p:cNvPr id="23" name="Text 21"/>
          <p:cNvSpPr/>
          <p:nvPr/>
        </p:nvSpPr>
        <p:spPr>
          <a:xfrm>
            <a:off x="4453128" y="3995928"/>
            <a:ext cx="720547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Yes/No/Depends. Ask why.</a:t>
            </a:r>
            <a:endParaRPr lang="en-US" sz="147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374904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What areas can you cover?</a:t>
            </a:r>
            <a:endParaRPr lang="en-US" sz="1470" dirty="0"/>
          </a:p>
        </p:txBody>
      </p:sp>
      <p:sp>
        <p:nvSpPr>
          <p:cNvPr id="26" name="Text 24"/>
          <p:cNvSpPr/>
          <p:nvPr/>
        </p:nvSpPr>
        <p:spPr>
          <a:xfrm>
            <a:off x="4453128" y="4569714"/>
            <a:ext cx="720547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Barangays, city limits, travel fee rules.</a:t>
            </a:r>
            <a:endParaRPr lang="en-US" sz="147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374904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Which jobs are most profitable?</a:t>
            </a:r>
            <a:endParaRPr lang="en-US" sz="1470" dirty="0"/>
          </a:p>
        </p:txBody>
      </p:sp>
      <p:sp>
        <p:nvSpPr>
          <p:cNvPr id="29" name="Text 27"/>
          <p:cNvSpPr/>
          <p:nvPr/>
        </p:nvSpPr>
        <p:spPr>
          <a:xfrm>
            <a:off x="4453128" y="5143500"/>
            <a:ext cx="720547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Useful for category prioritization.</a:t>
            </a:r>
            <a:endParaRPr lang="en-US" sz="147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374904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Which jobs do you avoid?</a:t>
            </a:r>
            <a:endParaRPr lang="en-US" sz="1470" dirty="0"/>
          </a:p>
        </p:txBody>
      </p:sp>
      <p:sp>
        <p:nvSpPr>
          <p:cNvPr id="32" name="Text 30"/>
          <p:cNvSpPr/>
          <p:nvPr/>
        </p:nvSpPr>
        <p:spPr>
          <a:xfrm>
            <a:off x="4453128" y="5717286"/>
            <a:ext cx="720547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Avoid poor matches and disputes.</a:t>
            </a:r>
            <a:endParaRPr lang="en-US" sz="147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Interview Form</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Provider Interview Form — Part 2</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Offer behavior, verification, concerns, and platform trust.</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Interview Form</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41</a:t>
            </a:r>
            <a:endParaRPr lang="en-US" sz="850" dirty="0"/>
          </a:p>
        </p:txBody>
      </p:sp>
      <p:sp>
        <p:nvSpPr>
          <p:cNvPr id="8" name="Text 6"/>
          <p:cNvSpPr/>
          <p:nvPr/>
        </p:nvSpPr>
        <p:spPr>
          <a:xfrm>
            <a:off x="502920" y="1380744"/>
            <a:ext cx="374904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4453128" y="1380744"/>
            <a:ext cx="720547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749040" cy="500634"/>
          </a:xfrm>
          <a:prstGeom prst="rect">
            <a:avLst/>
          </a:prstGeom>
          <a:noFill/>
          <a:ln/>
        </p:spPr>
        <p:txBody>
          <a:bodyPr wrap="square" lIns="0" tIns="0" rIns="0" bIns="0" rtlCol="0" anchor="ctr">
            <a:normAutofit/>
          </a:bodyPr>
          <a:lstStyle/>
          <a:p>
            <a:pPr indent="0" marL="0">
              <a:buNone/>
            </a:pPr>
            <a:r>
              <a:rPr lang="en-US" sz="1420" b="1" dirty="0">
                <a:solidFill>
                  <a:srgbClr val="17324D"/>
                </a:solidFill>
                <a:latin typeface="Aptos" pitchFamily="34" charset="0"/>
                <a:ea typeface="Aptos" pitchFamily="34" charset="-122"/>
                <a:cs typeface="Aptos" pitchFamily="34" charset="-120"/>
              </a:rPr>
              <a:t>Can you receive requests through Messenger/SMS?</a:t>
            </a:r>
            <a:endParaRPr lang="en-US" sz="1420" dirty="0"/>
          </a:p>
        </p:txBody>
      </p:sp>
      <p:sp>
        <p:nvSpPr>
          <p:cNvPr id="11" name="Text 9"/>
          <p:cNvSpPr/>
          <p:nvPr/>
        </p:nvSpPr>
        <p:spPr>
          <a:xfrm>
            <a:off x="4453128" y="1700784"/>
            <a:ext cx="7205472" cy="500634"/>
          </a:xfrm>
          <a:prstGeom prst="rect">
            <a:avLst/>
          </a:prstGeom>
          <a:noFill/>
          <a:ln/>
        </p:spPr>
        <p:txBody>
          <a:bodyPr wrap="square" lIns="0" tIns="0" rIns="0" bIns="0" rtlCol="0" anchor="ctr">
            <a:normAutofit/>
          </a:bodyPr>
          <a:lstStyle/>
          <a:p>
            <a:pPr indent="0" marL="0">
              <a:buNone/>
            </a:pPr>
            <a:r>
              <a:rPr lang="en-US" sz="1420" dirty="0">
                <a:solidFill>
                  <a:srgbClr val="17324D"/>
                </a:solidFill>
                <a:latin typeface="Aptos" pitchFamily="34" charset="0"/>
                <a:ea typeface="Aptos" pitchFamily="34" charset="-122"/>
                <a:cs typeface="Aptos" pitchFamily="34" charset="-120"/>
              </a:rPr>
              <a:t>Preferred channel and response habit.</a:t>
            </a:r>
            <a:endParaRPr lang="en-US" sz="142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3749040" cy="500634"/>
          </a:xfrm>
          <a:prstGeom prst="rect">
            <a:avLst/>
          </a:prstGeom>
          <a:noFill/>
          <a:ln/>
        </p:spPr>
        <p:txBody>
          <a:bodyPr wrap="square" lIns="0" tIns="0" rIns="0" bIns="0" rtlCol="0" anchor="ctr">
            <a:normAutofit/>
          </a:bodyPr>
          <a:lstStyle/>
          <a:p>
            <a:pPr indent="0" marL="0">
              <a:buNone/>
            </a:pPr>
            <a:r>
              <a:rPr lang="en-US" sz="1420" b="1" dirty="0">
                <a:solidFill>
                  <a:srgbClr val="17324D"/>
                </a:solidFill>
                <a:latin typeface="Aptos" pitchFamily="34" charset="0"/>
                <a:ea typeface="Aptos" pitchFamily="34" charset="-122"/>
                <a:cs typeface="Aptos" pitchFamily="34" charset="-120"/>
              </a:rPr>
              <a:t>Are you comfortable submitting offers?</a:t>
            </a:r>
            <a:endParaRPr lang="en-US" sz="1420" dirty="0"/>
          </a:p>
        </p:txBody>
      </p:sp>
      <p:sp>
        <p:nvSpPr>
          <p:cNvPr id="14" name="Text 12"/>
          <p:cNvSpPr/>
          <p:nvPr/>
        </p:nvSpPr>
        <p:spPr>
          <a:xfrm>
            <a:off x="4453128" y="2274570"/>
            <a:ext cx="7205472" cy="500634"/>
          </a:xfrm>
          <a:prstGeom prst="rect">
            <a:avLst/>
          </a:prstGeom>
          <a:noFill/>
          <a:ln/>
        </p:spPr>
        <p:txBody>
          <a:bodyPr wrap="square" lIns="0" tIns="0" rIns="0" bIns="0" rtlCol="0" anchor="ctr">
            <a:normAutofit/>
          </a:bodyPr>
          <a:lstStyle/>
          <a:p>
            <a:pPr indent="0" marL="0">
              <a:buNone/>
            </a:pPr>
            <a:r>
              <a:rPr lang="en-US" sz="1420" dirty="0">
                <a:solidFill>
                  <a:srgbClr val="17324D"/>
                </a:solidFill>
                <a:latin typeface="Aptos" pitchFamily="34" charset="0"/>
                <a:ea typeface="Aptos" pitchFamily="34" charset="-122"/>
                <a:cs typeface="Aptos" pitchFamily="34" charset="-120"/>
              </a:rPr>
              <a:t>Yes/No/Maybe. Ask concerns.</a:t>
            </a:r>
            <a:endParaRPr lang="en-US" sz="142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3749040" cy="500634"/>
          </a:xfrm>
          <a:prstGeom prst="rect">
            <a:avLst/>
          </a:prstGeom>
          <a:noFill/>
          <a:ln/>
        </p:spPr>
        <p:txBody>
          <a:bodyPr wrap="square" lIns="0" tIns="0" rIns="0" bIns="0" rtlCol="0" anchor="ctr">
            <a:normAutofit/>
          </a:bodyPr>
          <a:lstStyle/>
          <a:p>
            <a:pPr indent="0" marL="0">
              <a:buNone/>
            </a:pPr>
            <a:r>
              <a:rPr lang="en-US" sz="1420" b="1" dirty="0">
                <a:solidFill>
                  <a:srgbClr val="17324D"/>
                </a:solidFill>
                <a:latin typeface="Aptos" pitchFamily="34" charset="0"/>
                <a:ea typeface="Aptos" pitchFamily="34" charset="-122"/>
                <a:cs typeface="Aptos" pitchFamily="34" charset="-120"/>
              </a:rPr>
              <a:t>How do you estimate price?</a:t>
            </a:r>
            <a:endParaRPr lang="en-US" sz="1420" dirty="0"/>
          </a:p>
        </p:txBody>
      </p:sp>
      <p:sp>
        <p:nvSpPr>
          <p:cNvPr id="17" name="Text 15"/>
          <p:cNvSpPr/>
          <p:nvPr/>
        </p:nvSpPr>
        <p:spPr>
          <a:xfrm>
            <a:off x="4453128" y="2848356"/>
            <a:ext cx="7205472" cy="500634"/>
          </a:xfrm>
          <a:prstGeom prst="rect">
            <a:avLst/>
          </a:prstGeom>
          <a:noFill/>
          <a:ln/>
        </p:spPr>
        <p:txBody>
          <a:bodyPr wrap="square" lIns="0" tIns="0" rIns="0" bIns="0" rtlCol="0" anchor="ctr">
            <a:normAutofit/>
          </a:bodyPr>
          <a:lstStyle/>
          <a:p>
            <a:pPr indent="0" marL="0">
              <a:buNone/>
            </a:pPr>
            <a:r>
              <a:rPr lang="en-US" sz="1420" dirty="0">
                <a:solidFill>
                  <a:srgbClr val="17324D"/>
                </a:solidFill>
                <a:latin typeface="Aptos" pitchFamily="34" charset="0"/>
                <a:ea typeface="Aptos" pitchFamily="34" charset="-122"/>
                <a:cs typeface="Aptos" pitchFamily="34" charset="-120"/>
              </a:rPr>
              <a:t>Inspection fee, fixed fee, parts/labor, scope-based.</a:t>
            </a:r>
            <a:endParaRPr lang="en-US" sz="142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3749040" cy="500634"/>
          </a:xfrm>
          <a:prstGeom prst="rect">
            <a:avLst/>
          </a:prstGeom>
          <a:noFill/>
          <a:ln/>
        </p:spPr>
        <p:txBody>
          <a:bodyPr wrap="square" lIns="0" tIns="0" rIns="0" bIns="0" rtlCol="0" anchor="ctr">
            <a:normAutofit/>
          </a:bodyPr>
          <a:lstStyle/>
          <a:p>
            <a:pPr indent="0" marL="0">
              <a:buNone/>
            </a:pPr>
            <a:r>
              <a:rPr lang="en-US" sz="1420" b="1" dirty="0">
                <a:solidFill>
                  <a:srgbClr val="17324D"/>
                </a:solidFill>
                <a:latin typeface="Aptos" pitchFamily="34" charset="0"/>
                <a:ea typeface="Aptos" pitchFamily="34" charset="-122"/>
                <a:cs typeface="Aptos" pitchFamily="34" charset="-120"/>
              </a:rPr>
              <a:t>What makes a client difficult?</a:t>
            </a:r>
            <a:endParaRPr lang="en-US" sz="1420" dirty="0"/>
          </a:p>
        </p:txBody>
      </p:sp>
      <p:sp>
        <p:nvSpPr>
          <p:cNvPr id="20" name="Text 18"/>
          <p:cNvSpPr/>
          <p:nvPr/>
        </p:nvSpPr>
        <p:spPr>
          <a:xfrm>
            <a:off x="4453128" y="3422142"/>
            <a:ext cx="7205472" cy="500634"/>
          </a:xfrm>
          <a:prstGeom prst="rect">
            <a:avLst/>
          </a:prstGeom>
          <a:noFill/>
          <a:ln/>
        </p:spPr>
        <p:txBody>
          <a:bodyPr wrap="square" lIns="0" tIns="0" rIns="0" bIns="0" rtlCol="0" anchor="ctr">
            <a:normAutofit/>
          </a:bodyPr>
          <a:lstStyle/>
          <a:p>
            <a:pPr indent="0" marL="0">
              <a:buNone/>
            </a:pPr>
            <a:r>
              <a:rPr lang="en-US" sz="1420" dirty="0">
                <a:solidFill>
                  <a:srgbClr val="17324D"/>
                </a:solidFill>
                <a:latin typeface="Aptos" pitchFamily="34" charset="0"/>
                <a:ea typeface="Aptos" pitchFamily="34" charset="-122"/>
                <a:cs typeface="Aptos" pitchFamily="34" charset="-120"/>
              </a:rPr>
              <a:t>No-show, unclear scope, low budget, delayed payment, rude behavior.</a:t>
            </a:r>
            <a:endParaRPr lang="en-US" sz="142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3749040" cy="500634"/>
          </a:xfrm>
          <a:prstGeom prst="rect">
            <a:avLst/>
          </a:prstGeom>
          <a:noFill/>
          <a:ln/>
        </p:spPr>
        <p:txBody>
          <a:bodyPr wrap="square" lIns="0" tIns="0" rIns="0" bIns="0" rtlCol="0" anchor="ctr">
            <a:normAutofit/>
          </a:bodyPr>
          <a:lstStyle/>
          <a:p>
            <a:pPr indent="0" marL="0">
              <a:buNone/>
            </a:pPr>
            <a:r>
              <a:rPr lang="en-US" sz="1420" b="1" dirty="0">
                <a:solidFill>
                  <a:srgbClr val="17324D"/>
                </a:solidFill>
                <a:latin typeface="Aptos" pitchFamily="34" charset="0"/>
                <a:ea typeface="Aptos" pitchFamily="34" charset="-122"/>
                <a:cs typeface="Aptos" pitchFamily="34" charset="-120"/>
              </a:rPr>
              <a:t>What verification steps are acceptable?</a:t>
            </a:r>
            <a:endParaRPr lang="en-US" sz="1420" dirty="0"/>
          </a:p>
        </p:txBody>
      </p:sp>
      <p:sp>
        <p:nvSpPr>
          <p:cNvPr id="23" name="Text 21"/>
          <p:cNvSpPr/>
          <p:nvPr/>
        </p:nvSpPr>
        <p:spPr>
          <a:xfrm>
            <a:off x="4453128" y="3995928"/>
            <a:ext cx="7205472" cy="500634"/>
          </a:xfrm>
          <a:prstGeom prst="rect">
            <a:avLst/>
          </a:prstGeom>
          <a:noFill/>
          <a:ln/>
        </p:spPr>
        <p:txBody>
          <a:bodyPr wrap="square" lIns="0" tIns="0" rIns="0" bIns="0" rtlCol="0" anchor="ctr">
            <a:normAutofit/>
          </a:bodyPr>
          <a:lstStyle/>
          <a:p>
            <a:pPr indent="0" marL="0">
              <a:buNone/>
            </a:pPr>
            <a:r>
              <a:rPr lang="en-US" sz="1420" dirty="0">
                <a:solidFill>
                  <a:srgbClr val="17324D"/>
                </a:solidFill>
                <a:latin typeface="Aptos" pitchFamily="34" charset="0"/>
                <a:ea typeface="Aptos" pitchFamily="34" charset="-122"/>
                <a:cs typeface="Aptos" pitchFamily="34" charset="-120"/>
              </a:rPr>
              <a:t>ID, work samples, references, certificate, shop photo, pilot job history.</a:t>
            </a:r>
            <a:endParaRPr lang="en-US" sz="142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3749040" cy="500634"/>
          </a:xfrm>
          <a:prstGeom prst="rect">
            <a:avLst/>
          </a:prstGeom>
          <a:noFill/>
          <a:ln/>
        </p:spPr>
        <p:txBody>
          <a:bodyPr wrap="square" lIns="0" tIns="0" rIns="0" bIns="0" rtlCol="0" anchor="ctr">
            <a:normAutofit/>
          </a:bodyPr>
          <a:lstStyle/>
          <a:p>
            <a:pPr indent="0" marL="0">
              <a:buNone/>
            </a:pPr>
            <a:r>
              <a:rPr lang="en-US" sz="1420" b="1" dirty="0">
                <a:solidFill>
                  <a:srgbClr val="17324D"/>
                </a:solidFill>
                <a:latin typeface="Aptos" pitchFamily="34" charset="0"/>
                <a:ea typeface="Aptos" pitchFamily="34" charset="-122"/>
                <a:cs typeface="Aptos" pitchFamily="34" charset="-120"/>
              </a:rPr>
              <a:t>What concerns do you have about ratings?</a:t>
            </a:r>
            <a:endParaRPr lang="en-US" sz="1420" dirty="0"/>
          </a:p>
        </p:txBody>
      </p:sp>
      <p:sp>
        <p:nvSpPr>
          <p:cNvPr id="26" name="Text 24"/>
          <p:cNvSpPr/>
          <p:nvPr/>
        </p:nvSpPr>
        <p:spPr>
          <a:xfrm>
            <a:off x="4453128" y="4569714"/>
            <a:ext cx="7205472" cy="500634"/>
          </a:xfrm>
          <a:prstGeom prst="rect">
            <a:avLst/>
          </a:prstGeom>
          <a:noFill/>
          <a:ln/>
        </p:spPr>
        <p:txBody>
          <a:bodyPr wrap="square" lIns="0" tIns="0" rIns="0" bIns="0" rtlCol="0" anchor="ctr">
            <a:normAutofit/>
          </a:bodyPr>
          <a:lstStyle/>
          <a:p>
            <a:pPr indent="0" marL="0">
              <a:buNone/>
            </a:pPr>
            <a:r>
              <a:rPr lang="en-US" sz="1420" dirty="0">
                <a:solidFill>
                  <a:srgbClr val="17324D"/>
                </a:solidFill>
                <a:latin typeface="Aptos" pitchFamily="34" charset="0"/>
                <a:ea typeface="Aptos" pitchFamily="34" charset="-122"/>
                <a:cs typeface="Aptos" pitchFamily="34" charset="-120"/>
              </a:rPr>
              <a:t>Fear of unfair reviews, public complaints, client abuse.</a:t>
            </a:r>
            <a:endParaRPr lang="en-US" sz="142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3749040" cy="500634"/>
          </a:xfrm>
          <a:prstGeom prst="rect">
            <a:avLst/>
          </a:prstGeom>
          <a:noFill/>
          <a:ln/>
        </p:spPr>
        <p:txBody>
          <a:bodyPr wrap="square" lIns="0" tIns="0" rIns="0" bIns="0" rtlCol="0" anchor="ctr">
            <a:normAutofit/>
          </a:bodyPr>
          <a:lstStyle/>
          <a:p>
            <a:pPr indent="0" marL="0">
              <a:buNone/>
            </a:pPr>
            <a:r>
              <a:rPr lang="en-US" sz="1420" b="1" dirty="0">
                <a:solidFill>
                  <a:srgbClr val="17324D"/>
                </a:solidFill>
                <a:latin typeface="Aptos" pitchFamily="34" charset="0"/>
                <a:ea typeface="Aptos" pitchFamily="34" charset="-122"/>
                <a:cs typeface="Aptos" pitchFamily="34" charset="-120"/>
              </a:rPr>
              <a:t>What would make KAILA valuable to you?</a:t>
            </a:r>
            <a:endParaRPr lang="en-US" sz="1420" dirty="0"/>
          </a:p>
        </p:txBody>
      </p:sp>
      <p:sp>
        <p:nvSpPr>
          <p:cNvPr id="29" name="Text 27"/>
          <p:cNvSpPr/>
          <p:nvPr/>
        </p:nvSpPr>
        <p:spPr>
          <a:xfrm>
            <a:off x="4453128" y="5143500"/>
            <a:ext cx="7205472" cy="500634"/>
          </a:xfrm>
          <a:prstGeom prst="rect">
            <a:avLst/>
          </a:prstGeom>
          <a:noFill/>
          <a:ln/>
        </p:spPr>
        <p:txBody>
          <a:bodyPr wrap="square" lIns="0" tIns="0" rIns="0" bIns="0" rtlCol="0" anchor="ctr">
            <a:normAutofit/>
          </a:bodyPr>
          <a:lstStyle/>
          <a:p>
            <a:pPr indent="0" marL="0">
              <a:buNone/>
            </a:pPr>
            <a:r>
              <a:rPr lang="en-US" sz="1420" dirty="0">
                <a:solidFill>
                  <a:srgbClr val="17324D"/>
                </a:solidFill>
                <a:latin typeface="Aptos" pitchFamily="34" charset="0"/>
                <a:ea typeface="Aptos" pitchFamily="34" charset="-122"/>
                <a:cs typeface="Aptos" pitchFamily="34" charset="-120"/>
              </a:rPr>
              <a:t>More jobs, better clients, visibility, trust badge, performance summary.</a:t>
            </a:r>
            <a:endParaRPr lang="en-US" sz="142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3749040" cy="500634"/>
          </a:xfrm>
          <a:prstGeom prst="rect">
            <a:avLst/>
          </a:prstGeom>
          <a:noFill/>
          <a:ln/>
        </p:spPr>
        <p:txBody>
          <a:bodyPr wrap="square" lIns="0" tIns="0" rIns="0" bIns="0" rtlCol="0" anchor="ctr">
            <a:normAutofit/>
          </a:bodyPr>
          <a:lstStyle/>
          <a:p>
            <a:pPr indent="0" marL="0">
              <a:buNone/>
            </a:pPr>
            <a:r>
              <a:rPr lang="en-US" sz="1420" b="1" dirty="0">
                <a:solidFill>
                  <a:srgbClr val="17324D"/>
                </a:solidFill>
                <a:latin typeface="Aptos" pitchFamily="34" charset="0"/>
                <a:ea typeface="Aptos" pitchFamily="34" charset="-122"/>
                <a:cs typeface="Aptos" pitchFamily="34" charset="-120"/>
              </a:rPr>
              <a:t>Would you recommend another provider?</a:t>
            </a:r>
            <a:endParaRPr lang="en-US" sz="1420" dirty="0"/>
          </a:p>
        </p:txBody>
      </p:sp>
      <p:sp>
        <p:nvSpPr>
          <p:cNvPr id="32" name="Text 30"/>
          <p:cNvSpPr/>
          <p:nvPr/>
        </p:nvSpPr>
        <p:spPr>
          <a:xfrm>
            <a:off x="4453128" y="5717286"/>
            <a:ext cx="7205472" cy="500634"/>
          </a:xfrm>
          <a:prstGeom prst="rect">
            <a:avLst/>
          </a:prstGeom>
          <a:noFill/>
          <a:ln/>
        </p:spPr>
        <p:txBody>
          <a:bodyPr wrap="square" lIns="0" tIns="0" rIns="0" bIns="0" rtlCol="0" anchor="ctr">
            <a:normAutofit/>
          </a:bodyPr>
          <a:lstStyle/>
          <a:p>
            <a:pPr indent="0" marL="0">
              <a:buNone/>
            </a:pPr>
            <a:r>
              <a:rPr lang="en-US" sz="1420" dirty="0">
                <a:solidFill>
                  <a:srgbClr val="17324D"/>
                </a:solidFill>
                <a:latin typeface="Aptos" pitchFamily="34" charset="0"/>
                <a:ea typeface="Aptos" pitchFamily="34" charset="-122"/>
                <a:cs typeface="Aptos" pitchFamily="34" charset="-120"/>
              </a:rPr>
              <a:t>Ask for two referrals.</a:t>
            </a:r>
            <a:endParaRPr lang="en-US" sz="142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Scripts</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Provider Recruitment Script</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Use this when contacting potential providers.</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Scripts</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42</a:t>
            </a:r>
            <a:endParaRPr lang="en-US" sz="850" dirty="0"/>
          </a:p>
        </p:txBody>
      </p:sp>
      <p:sp>
        <p:nvSpPr>
          <p:cNvPr id="8" name="Shape 6"/>
          <p:cNvSpPr/>
          <p:nvPr/>
        </p:nvSpPr>
        <p:spPr>
          <a:xfrm>
            <a:off x="502920" y="1481328"/>
            <a:ext cx="11155680" cy="2299716"/>
          </a:xfrm>
          <a:prstGeom prst="roundRect">
            <a:avLst>
              <a:gd name="adj" fmla="val 3181"/>
            </a:avLst>
          </a:prstGeom>
          <a:solidFill>
            <a:srgbClr val="F3F8FB"/>
          </a:solidFill>
          <a:ln w="12700">
            <a:solidFill>
              <a:srgbClr val="C9D6E2"/>
            </a:solidFill>
            <a:prstDash val="solid"/>
          </a:ln>
        </p:spPr>
      </p:sp>
      <p:sp>
        <p:nvSpPr>
          <p:cNvPr id="9" name="Text 7"/>
          <p:cNvSpPr/>
          <p:nvPr/>
        </p:nvSpPr>
        <p:spPr>
          <a:xfrm>
            <a:off x="667512" y="1591056"/>
            <a:ext cx="1920240" cy="237744"/>
          </a:xfrm>
          <a:prstGeom prst="rect">
            <a:avLst/>
          </a:prstGeom>
          <a:noFill/>
          <a:ln/>
        </p:spPr>
        <p:txBody>
          <a:bodyPr wrap="square" lIns="0" tIns="0" rIns="0" bIns="0" rtlCol="0" anchor="ctr"/>
          <a:lstStyle/>
          <a:p>
            <a:pPr indent="0" marL="0">
              <a:buNone/>
            </a:pPr>
            <a:r>
              <a:rPr lang="en-US" sz="1250" b="1" dirty="0">
                <a:solidFill>
                  <a:srgbClr val="0E5A7A"/>
                </a:solidFill>
              </a:rPr>
              <a:t>Short message</a:t>
            </a:r>
            <a:endParaRPr lang="en-US" sz="1250" dirty="0"/>
          </a:p>
        </p:txBody>
      </p:sp>
      <p:sp>
        <p:nvSpPr>
          <p:cNvPr id="10" name="Text 8"/>
          <p:cNvSpPr/>
          <p:nvPr/>
        </p:nvSpPr>
        <p:spPr>
          <a:xfrm>
            <a:off x="667512" y="1883664"/>
            <a:ext cx="10826496" cy="1805940"/>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Good day! We are starting KAILA, a local pilot platform that helps people in Gingoog find trusted service providers like repairmen, electricians, plumbers, computer technicians, motorcycle mechanics, cleaners, and digital workers. The pilot is free. We will list reliable providers so clients can find you more easily. When a client has a request, we may contact you. You can accept, decline, or give your own offer. Would you like to be included as one of the early KAILA providers?</a:t>
            </a:r>
            <a:endParaRPr lang="en-US" sz="1550" dirty="0"/>
          </a:p>
        </p:txBody>
      </p:sp>
      <p:sp>
        <p:nvSpPr>
          <p:cNvPr id="11" name="Shape 9"/>
          <p:cNvSpPr/>
          <p:nvPr/>
        </p:nvSpPr>
        <p:spPr>
          <a:xfrm>
            <a:off x="502920" y="3982212"/>
            <a:ext cx="11155680" cy="2299716"/>
          </a:xfrm>
          <a:prstGeom prst="roundRect">
            <a:avLst>
              <a:gd name="adj" fmla="val 3181"/>
            </a:avLst>
          </a:prstGeom>
          <a:solidFill>
            <a:srgbClr val="FFFFFF"/>
          </a:solidFill>
          <a:ln w="12700">
            <a:solidFill>
              <a:srgbClr val="C9D6E2"/>
            </a:solidFill>
            <a:prstDash val="solid"/>
          </a:ln>
        </p:spPr>
      </p:sp>
      <p:sp>
        <p:nvSpPr>
          <p:cNvPr id="12" name="Text 10"/>
          <p:cNvSpPr/>
          <p:nvPr/>
        </p:nvSpPr>
        <p:spPr>
          <a:xfrm>
            <a:off x="667512" y="4091940"/>
            <a:ext cx="1920240" cy="237744"/>
          </a:xfrm>
          <a:prstGeom prst="rect">
            <a:avLst/>
          </a:prstGeom>
          <a:noFill/>
          <a:ln/>
        </p:spPr>
        <p:txBody>
          <a:bodyPr wrap="square" lIns="0" tIns="0" rIns="0" bIns="0" rtlCol="0" anchor="ctr"/>
          <a:lstStyle/>
          <a:p>
            <a:pPr indent="0" marL="0">
              <a:buNone/>
            </a:pPr>
            <a:r>
              <a:rPr lang="en-US" sz="1250" b="1" dirty="0">
                <a:solidFill>
                  <a:srgbClr val="0E5A7A"/>
                </a:solidFill>
              </a:rPr>
              <a:t>Follow-up</a:t>
            </a:r>
            <a:endParaRPr lang="en-US" sz="1250" dirty="0"/>
          </a:p>
        </p:txBody>
      </p:sp>
      <p:sp>
        <p:nvSpPr>
          <p:cNvPr id="13" name="Text 11"/>
          <p:cNvSpPr/>
          <p:nvPr/>
        </p:nvSpPr>
        <p:spPr>
          <a:xfrm>
            <a:off x="667512" y="4384548"/>
            <a:ext cx="10826496" cy="1805940"/>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If yes, I can send you a short provider signup form. It asks about your services, area covered, availability, price range, and work samples so we can match you with the right requests.</a:t>
            </a:r>
            <a:endParaRPr lang="en-US" sz="15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Scripts</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Client Request Confirmation Script</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Send after a client submits a request.</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Scripts</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43</a:t>
            </a:r>
            <a:endParaRPr lang="en-US" sz="850" dirty="0"/>
          </a:p>
        </p:txBody>
      </p:sp>
      <p:sp>
        <p:nvSpPr>
          <p:cNvPr id="8" name="Shape 6"/>
          <p:cNvSpPr/>
          <p:nvPr/>
        </p:nvSpPr>
        <p:spPr>
          <a:xfrm>
            <a:off x="502920" y="1481328"/>
            <a:ext cx="11155680" cy="2299716"/>
          </a:xfrm>
          <a:prstGeom prst="roundRect">
            <a:avLst>
              <a:gd name="adj" fmla="val 3181"/>
            </a:avLst>
          </a:prstGeom>
          <a:solidFill>
            <a:srgbClr val="F3F8FB"/>
          </a:solidFill>
          <a:ln w="12700">
            <a:solidFill>
              <a:srgbClr val="C9D6E2"/>
            </a:solidFill>
            <a:prstDash val="solid"/>
          </a:ln>
        </p:spPr>
      </p:sp>
      <p:sp>
        <p:nvSpPr>
          <p:cNvPr id="9" name="Text 7"/>
          <p:cNvSpPr/>
          <p:nvPr/>
        </p:nvSpPr>
        <p:spPr>
          <a:xfrm>
            <a:off x="667512" y="1591056"/>
            <a:ext cx="1920240" cy="237744"/>
          </a:xfrm>
          <a:prstGeom prst="rect">
            <a:avLst/>
          </a:prstGeom>
          <a:noFill/>
          <a:ln/>
        </p:spPr>
        <p:txBody>
          <a:bodyPr wrap="square" lIns="0" tIns="0" rIns="0" bIns="0" rtlCol="0" anchor="ctr"/>
          <a:lstStyle/>
          <a:p>
            <a:pPr indent="0" marL="0">
              <a:buNone/>
            </a:pPr>
            <a:r>
              <a:rPr lang="en-US" sz="1250" b="1" dirty="0">
                <a:solidFill>
                  <a:srgbClr val="0E5A7A"/>
                </a:solidFill>
              </a:rPr>
              <a:t>Confirmation</a:t>
            </a:r>
            <a:endParaRPr lang="en-US" sz="1250" dirty="0"/>
          </a:p>
        </p:txBody>
      </p:sp>
      <p:sp>
        <p:nvSpPr>
          <p:cNvPr id="10" name="Text 8"/>
          <p:cNvSpPr/>
          <p:nvPr/>
        </p:nvSpPr>
        <p:spPr>
          <a:xfrm>
            <a:off x="667512" y="1883664"/>
            <a:ext cx="10826496" cy="1805940"/>
          </a:xfrm>
          <a:prstGeom prst="rect">
            <a:avLst/>
          </a:prstGeom>
          <a:noFill/>
          <a:ln/>
        </p:spPr>
        <p:txBody>
          <a:bodyPr wrap="square" lIns="0" tIns="0" rIns="0" bIns="0" rtlCol="0" anchor="ctr">
            <a:normAutofit/>
          </a:bodyPr>
          <a:lstStyle/>
          <a:p>
            <a:pPr indent="0" marL="0">
              <a:buNone/>
            </a:pPr>
            <a:r>
              <a:rPr lang="en-US" sz="1600" dirty="0">
                <a:solidFill>
                  <a:srgbClr val="17324D"/>
                </a:solidFill>
                <a:latin typeface="Aptos" pitchFamily="34" charset="0"/>
                <a:ea typeface="Aptos" pitchFamily="34" charset="-122"/>
                <a:cs typeface="Aptos" pitchFamily="34" charset="-120"/>
              </a:rPr>
              <a:t>Thank you for submitting your request to KAILA. We will review the details and look for matching providers. We may contact you if we need more information. Please note that this is still a pilot, and providers are independent service providers.</a:t>
            </a:r>
            <a:endParaRPr lang="en-US" sz="1600" dirty="0"/>
          </a:p>
        </p:txBody>
      </p:sp>
      <p:sp>
        <p:nvSpPr>
          <p:cNvPr id="11" name="Shape 9"/>
          <p:cNvSpPr/>
          <p:nvPr/>
        </p:nvSpPr>
        <p:spPr>
          <a:xfrm>
            <a:off x="502920" y="3982212"/>
            <a:ext cx="11155680" cy="2299716"/>
          </a:xfrm>
          <a:prstGeom prst="roundRect">
            <a:avLst>
              <a:gd name="adj" fmla="val 3181"/>
            </a:avLst>
          </a:prstGeom>
          <a:solidFill>
            <a:srgbClr val="FFFFFF"/>
          </a:solidFill>
          <a:ln w="12700">
            <a:solidFill>
              <a:srgbClr val="C9D6E2"/>
            </a:solidFill>
            <a:prstDash val="solid"/>
          </a:ln>
        </p:spPr>
      </p:sp>
      <p:sp>
        <p:nvSpPr>
          <p:cNvPr id="12" name="Text 10"/>
          <p:cNvSpPr/>
          <p:nvPr/>
        </p:nvSpPr>
        <p:spPr>
          <a:xfrm>
            <a:off x="667512" y="4091940"/>
            <a:ext cx="1920240" cy="237744"/>
          </a:xfrm>
          <a:prstGeom prst="rect">
            <a:avLst/>
          </a:prstGeom>
          <a:noFill/>
          <a:ln/>
        </p:spPr>
        <p:txBody>
          <a:bodyPr wrap="square" lIns="0" tIns="0" rIns="0" bIns="0" rtlCol="0" anchor="ctr"/>
          <a:lstStyle/>
          <a:p>
            <a:pPr indent="0" marL="0">
              <a:buNone/>
            </a:pPr>
            <a:r>
              <a:rPr lang="en-US" sz="1250" b="1" dirty="0">
                <a:solidFill>
                  <a:srgbClr val="0E5A7A"/>
                </a:solidFill>
              </a:rPr>
              <a:t>Clarification</a:t>
            </a:r>
            <a:endParaRPr lang="en-US" sz="1250" dirty="0"/>
          </a:p>
        </p:txBody>
      </p:sp>
      <p:sp>
        <p:nvSpPr>
          <p:cNvPr id="13" name="Text 11"/>
          <p:cNvSpPr/>
          <p:nvPr/>
        </p:nvSpPr>
        <p:spPr>
          <a:xfrm>
            <a:off x="667512" y="4384548"/>
            <a:ext cx="10826496" cy="1805940"/>
          </a:xfrm>
          <a:prstGeom prst="rect">
            <a:avLst/>
          </a:prstGeom>
          <a:noFill/>
          <a:ln/>
        </p:spPr>
        <p:txBody>
          <a:bodyPr wrap="square" lIns="0" tIns="0" rIns="0" bIns="0" rtlCol="0" anchor="ctr">
            <a:normAutofit/>
          </a:bodyPr>
          <a:lstStyle/>
          <a:p>
            <a:pPr indent="0" marL="0">
              <a:buNone/>
            </a:pPr>
            <a:r>
              <a:rPr lang="en-US" sz="1600" dirty="0">
                <a:solidFill>
                  <a:srgbClr val="17324D"/>
                </a:solidFill>
                <a:latin typeface="Aptos" pitchFamily="34" charset="0"/>
                <a:ea typeface="Aptos" pitchFamily="34" charset="-122"/>
                <a:cs typeface="Aptos" pitchFamily="34" charset="-120"/>
              </a:rPr>
              <a:t>To help providers estimate better, please send a clear photo/video of the problem, your preferred schedule, and your estimated budget range if you have not included them yet.</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Scripts</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Provider Request Forwarding Script</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Send to 3–5 matching providers for each request.</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Scripts</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44</a:t>
            </a:r>
            <a:endParaRPr lang="en-US" sz="850" dirty="0"/>
          </a:p>
        </p:txBody>
      </p:sp>
      <p:sp>
        <p:nvSpPr>
          <p:cNvPr id="8" name="Shape 6"/>
          <p:cNvSpPr/>
          <p:nvPr/>
        </p:nvSpPr>
        <p:spPr>
          <a:xfrm>
            <a:off x="502920" y="1481328"/>
            <a:ext cx="11155680" cy="2299716"/>
          </a:xfrm>
          <a:prstGeom prst="roundRect">
            <a:avLst>
              <a:gd name="adj" fmla="val 3181"/>
            </a:avLst>
          </a:prstGeom>
          <a:solidFill>
            <a:srgbClr val="F3F8FB"/>
          </a:solidFill>
          <a:ln w="12700">
            <a:solidFill>
              <a:srgbClr val="C9D6E2"/>
            </a:solidFill>
            <a:prstDash val="solid"/>
          </a:ln>
        </p:spPr>
      </p:sp>
      <p:sp>
        <p:nvSpPr>
          <p:cNvPr id="9" name="Text 7"/>
          <p:cNvSpPr/>
          <p:nvPr/>
        </p:nvSpPr>
        <p:spPr>
          <a:xfrm>
            <a:off x="667512" y="1591056"/>
            <a:ext cx="1920240" cy="237744"/>
          </a:xfrm>
          <a:prstGeom prst="rect">
            <a:avLst/>
          </a:prstGeom>
          <a:noFill/>
          <a:ln/>
        </p:spPr>
        <p:txBody>
          <a:bodyPr wrap="square" lIns="0" tIns="0" rIns="0" bIns="0" rtlCol="0" anchor="ctr"/>
          <a:lstStyle/>
          <a:p>
            <a:pPr indent="0" marL="0">
              <a:buNone/>
            </a:pPr>
            <a:r>
              <a:rPr lang="en-US" sz="1250" b="1" dirty="0">
                <a:solidFill>
                  <a:srgbClr val="0E5A7A"/>
                </a:solidFill>
              </a:rPr>
              <a:t>Request format</a:t>
            </a:r>
            <a:endParaRPr lang="en-US" sz="1250" dirty="0"/>
          </a:p>
        </p:txBody>
      </p:sp>
      <p:sp>
        <p:nvSpPr>
          <p:cNvPr id="10" name="Text 8"/>
          <p:cNvSpPr/>
          <p:nvPr/>
        </p:nvSpPr>
        <p:spPr>
          <a:xfrm>
            <a:off x="667512" y="1883664"/>
            <a:ext cx="10826496" cy="1805940"/>
          </a:xfrm>
          <a:prstGeom prst="rect">
            <a:avLst/>
          </a:prstGeom>
          <a:noFill/>
          <a:ln/>
        </p:spPr>
        <p:txBody>
          <a:bodyPr wrap="square" lIns="0" tIns="0" rIns="0" bIns="0" rtlCol="0" anchor="ctr">
            <a:normAutofit/>
          </a:bodyPr>
          <a:lstStyle/>
          <a:p>
            <a:pPr indent="0" marL="0">
              <a:buNone/>
            </a:pPr>
            <a:r>
              <a:rPr lang="en-US" sz="1800" dirty="0">
                <a:solidFill>
                  <a:srgbClr val="17324D"/>
                </a:solidFill>
                <a:latin typeface="Aptos" pitchFamily="34" charset="0"/>
                <a:ea typeface="Aptos" pitchFamily="34" charset="-122"/>
                <a:cs typeface="Aptos" pitchFamily="34" charset="-120"/>
              </a:rPr>
              <a:t>KAILA Request #001</a:t>
            </a:r>
            <a:endParaRPr lang="en-US" sz="1800" dirty="0"/>
          </a:p>
          <a:p>
            <a:pPr indent="0" marL="0">
              <a:buNone/>
            </a:pPr>
            <a:r>
              <a:rPr lang="en-US" sz="1800" dirty="0">
                <a:solidFill>
                  <a:srgbClr val="17324D"/>
                </a:solidFill>
                <a:latin typeface="Aptos" pitchFamily="34" charset="0"/>
                <a:ea typeface="Aptos" pitchFamily="34" charset="-122"/>
                <a:cs typeface="Aptos" pitchFamily="34" charset="-120"/>
              </a:rPr>
              <a:t>Category: Plumbing</a:t>
            </a:r>
            <a:endParaRPr lang="en-US" sz="1800" dirty="0"/>
          </a:p>
          <a:p>
            <a:pPr indent="0" marL="0">
              <a:buNone/>
            </a:pPr>
            <a:r>
              <a:rPr lang="en-US" sz="1800" dirty="0">
                <a:solidFill>
                  <a:srgbClr val="17324D"/>
                </a:solidFill>
                <a:latin typeface="Aptos" pitchFamily="34" charset="0"/>
                <a:ea typeface="Aptos" pitchFamily="34" charset="-122"/>
                <a:cs typeface="Aptos" pitchFamily="34" charset="-120"/>
              </a:rPr>
              <a:t>Area: Barangay 23, Gingoog City</a:t>
            </a:r>
            <a:endParaRPr lang="en-US" sz="1800" dirty="0"/>
          </a:p>
          <a:p>
            <a:pPr indent="0" marL="0">
              <a:buNone/>
            </a:pPr>
            <a:r>
              <a:rPr lang="en-US" sz="1800" dirty="0">
                <a:solidFill>
                  <a:srgbClr val="17324D"/>
                </a:solidFill>
                <a:latin typeface="Aptos" pitchFamily="34" charset="0"/>
                <a:ea typeface="Aptos" pitchFamily="34" charset="-122"/>
                <a:cs typeface="Aptos" pitchFamily="34" charset="-120"/>
              </a:rPr>
              <a:t>Problem: Clogged kitchen sink</a:t>
            </a:r>
            <a:endParaRPr lang="en-US" sz="1800" dirty="0"/>
          </a:p>
          <a:p>
            <a:pPr indent="0" marL="0">
              <a:buNone/>
            </a:pPr>
            <a:r>
              <a:rPr lang="en-US" sz="1800" dirty="0">
                <a:solidFill>
                  <a:srgbClr val="17324D"/>
                </a:solidFill>
                <a:latin typeface="Aptos" pitchFamily="34" charset="0"/>
                <a:ea typeface="Aptos" pitchFamily="34" charset="-122"/>
                <a:cs typeface="Aptos" pitchFamily="34" charset="-120"/>
              </a:rPr>
              <a:t>Urgency: Today</a:t>
            </a:r>
            <a:endParaRPr lang="en-US" sz="1800" dirty="0"/>
          </a:p>
          <a:p>
            <a:pPr indent="0" marL="0">
              <a:buNone/>
            </a:pPr>
            <a:r>
              <a:rPr lang="en-US" sz="1800" dirty="0">
                <a:solidFill>
                  <a:srgbClr val="17324D"/>
                </a:solidFill>
                <a:latin typeface="Aptos" pitchFamily="34" charset="0"/>
                <a:ea typeface="Aptos" pitchFamily="34" charset="-122"/>
                <a:cs typeface="Aptos" pitchFamily="34" charset="-120"/>
              </a:rPr>
              <a:t>Budget: PHP 500–PHP 800</a:t>
            </a:r>
            <a:endParaRPr lang="en-US" sz="1800" dirty="0"/>
          </a:p>
          <a:p>
            <a:pPr indent="0" marL="0">
              <a:buNone/>
            </a:pPr>
            <a:r>
              <a:rPr lang="en-US" sz="1800" dirty="0">
                <a:solidFill>
                  <a:srgbClr val="17324D"/>
                </a:solidFill>
                <a:latin typeface="Aptos" pitchFamily="34" charset="0"/>
                <a:ea typeface="Aptos" pitchFamily="34" charset="-122"/>
                <a:cs typeface="Aptos" pitchFamily="34" charset="-120"/>
              </a:rPr>
              <a:t>Can you take this job? If yes, please send your offer and available time.</a:t>
            </a:r>
            <a:endParaRPr lang="en-US" sz="1800" dirty="0"/>
          </a:p>
        </p:txBody>
      </p:sp>
      <p:sp>
        <p:nvSpPr>
          <p:cNvPr id="11" name="Shape 9"/>
          <p:cNvSpPr/>
          <p:nvPr/>
        </p:nvSpPr>
        <p:spPr>
          <a:xfrm>
            <a:off x="502920" y="3982212"/>
            <a:ext cx="11155680" cy="2299716"/>
          </a:xfrm>
          <a:prstGeom prst="roundRect">
            <a:avLst>
              <a:gd name="adj" fmla="val 3181"/>
            </a:avLst>
          </a:prstGeom>
          <a:solidFill>
            <a:srgbClr val="FFFFFF"/>
          </a:solidFill>
          <a:ln w="12700">
            <a:solidFill>
              <a:srgbClr val="C9D6E2"/>
            </a:solidFill>
            <a:prstDash val="solid"/>
          </a:ln>
        </p:spPr>
      </p:sp>
      <p:sp>
        <p:nvSpPr>
          <p:cNvPr id="12" name="Text 10"/>
          <p:cNvSpPr/>
          <p:nvPr/>
        </p:nvSpPr>
        <p:spPr>
          <a:xfrm>
            <a:off x="667512" y="4091940"/>
            <a:ext cx="1920240" cy="237744"/>
          </a:xfrm>
          <a:prstGeom prst="rect">
            <a:avLst/>
          </a:prstGeom>
          <a:noFill/>
          <a:ln/>
        </p:spPr>
        <p:txBody>
          <a:bodyPr wrap="square" lIns="0" tIns="0" rIns="0" bIns="0" rtlCol="0" anchor="ctr"/>
          <a:lstStyle/>
          <a:p>
            <a:pPr indent="0" marL="0">
              <a:buNone/>
            </a:pPr>
            <a:r>
              <a:rPr lang="en-US" sz="1250" b="1" dirty="0">
                <a:solidFill>
                  <a:srgbClr val="0E5A7A"/>
                </a:solidFill>
              </a:rPr>
              <a:t>Operating note</a:t>
            </a:r>
            <a:endParaRPr lang="en-US" sz="1250" dirty="0"/>
          </a:p>
        </p:txBody>
      </p:sp>
      <p:sp>
        <p:nvSpPr>
          <p:cNvPr id="13" name="Text 11"/>
          <p:cNvSpPr/>
          <p:nvPr/>
        </p:nvSpPr>
        <p:spPr>
          <a:xfrm>
            <a:off x="667512" y="4384548"/>
            <a:ext cx="10826496" cy="1805940"/>
          </a:xfrm>
          <a:prstGeom prst="rect">
            <a:avLst/>
          </a:prstGeom>
          <a:noFill/>
          <a:ln/>
        </p:spPr>
        <p:txBody>
          <a:bodyPr wrap="square" lIns="0" tIns="0" rIns="0" bIns="0" rtlCol="0" anchor="ctr">
            <a:normAutofit/>
          </a:bodyPr>
          <a:lstStyle/>
          <a:p>
            <a:pPr indent="0" marL="0">
              <a:buNone/>
            </a:pPr>
            <a:r>
              <a:rPr lang="en-US" sz="1550" dirty="0">
                <a:solidFill>
                  <a:srgbClr val="17324D"/>
                </a:solidFill>
                <a:latin typeface="Aptos" pitchFamily="34" charset="0"/>
                <a:ea typeface="Aptos" pitchFamily="34" charset="-122"/>
                <a:cs typeface="Aptos" pitchFamily="34" charset="-120"/>
              </a:rPr>
              <a:t>Do not share unnecessary private client details too early. Record who replies, how fast they reply, offer amount, available time, and any scope notes.</a:t>
            </a:r>
            <a:endParaRPr lang="en-US" sz="15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Templates</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Offer Comparison Template</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Use this when presenting options to the client.</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Templates</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45</a:t>
            </a:r>
            <a:endParaRPr lang="en-US" sz="850" dirty="0"/>
          </a:p>
        </p:txBody>
      </p:sp>
      <p:sp>
        <p:nvSpPr>
          <p:cNvPr id="8" name="Text 6"/>
          <p:cNvSpPr/>
          <p:nvPr/>
        </p:nvSpPr>
        <p:spPr>
          <a:xfrm>
            <a:off x="502920" y="1380744"/>
            <a:ext cx="256032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264408" y="1380744"/>
            <a:ext cx="839419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2560320" cy="640080"/>
          </a:xfrm>
          <a:prstGeom prst="rect">
            <a:avLst/>
          </a:prstGeom>
          <a:noFill/>
          <a:ln/>
        </p:spPr>
        <p:txBody>
          <a:bodyPr wrap="square" lIns="0" tIns="0" rIns="0" bIns="0" rtlCol="0" anchor="ctr">
            <a:normAutofit/>
          </a:bodyPr>
          <a:lstStyle/>
          <a:p>
            <a:pPr indent="0" marL="0">
              <a:buNone/>
            </a:pPr>
            <a:r>
              <a:rPr lang="en-US" sz="1520" b="1" dirty="0">
                <a:solidFill>
                  <a:srgbClr val="17324D"/>
                </a:solidFill>
                <a:latin typeface="Aptos" pitchFamily="34" charset="0"/>
                <a:ea typeface="Aptos" pitchFamily="34" charset="-122"/>
                <a:cs typeface="Aptos" pitchFamily="34" charset="-120"/>
              </a:rPr>
              <a:t>Provider A</a:t>
            </a:r>
            <a:endParaRPr lang="en-US" sz="1520" dirty="0"/>
          </a:p>
        </p:txBody>
      </p:sp>
      <p:sp>
        <p:nvSpPr>
          <p:cNvPr id="11" name="Text 9"/>
          <p:cNvSpPr/>
          <p:nvPr/>
        </p:nvSpPr>
        <p:spPr>
          <a:xfrm>
            <a:off x="3264408" y="1700784"/>
            <a:ext cx="8394192" cy="640080"/>
          </a:xfrm>
          <a:prstGeom prst="rect">
            <a:avLst/>
          </a:prstGeom>
          <a:noFill/>
          <a:ln/>
        </p:spPr>
        <p:txBody>
          <a:bodyPr wrap="square" lIns="0" tIns="0" rIns="0" bIns="0" rtlCol="0" anchor="ctr">
            <a:normAutofit/>
          </a:bodyPr>
          <a:lstStyle/>
          <a:p>
            <a:pPr indent="0" marL="0">
              <a:buNone/>
            </a:pPr>
            <a:r>
              <a:rPr lang="en-US" sz="1520" dirty="0">
                <a:solidFill>
                  <a:srgbClr val="17324D"/>
                </a:solidFill>
                <a:latin typeface="Aptos" pitchFamily="34" charset="0"/>
                <a:ea typeface="Aptos" pitchFamily="34" charset="-122"/>
                <a:cs typeface="Aptos" pitchFamily="34" charset="-120"/>
              </a:rPr>
              <a:t>Offer: PHP 600 | Available: 2 PM today | Trust: Listed | Notes: Has plumbing experience.</a:t>
            </a:r>
            <a:endParaRPr lang="en-US" sz="1520" dirty="0"/>
          </a:p>
        </p:txBody>
      </p:sp>
      <p:sp>
        <p:nvSpPr>
          <p:cNvPr id="12" name="Shape 10"/>
          <p:cNvSpPr/>
          <p:nvPr/>
        </p:nvSpPr>
        <p:spPr>
          <a:xfrm>
            <a:off x="502920" y="2359152"/>
            <a:ext cx="11155680" cy="0"/>
          </a:xfrm>
          <a:prstGeom prst="line">
            <a:avLst/>
          </a:prstGeom>
          <a:noFill/>
          <a:ln w="5080">
            <a:solidFill>
              <a:srgbClr val="C9D6E2">
                <a:alpha val="60000"/>
              </a:srgbClr>
            </a:solidFill>
            <a:prstDash val="solid"/>
          </a:ln>
        </p:spPr>
      </p:sp>
      <p:sp>
        <p:nvSpPr>
          <p:cNvPr id="13" name="Text 11"/>
          <p:cNvSpPr/>
          <p:nvPr/>
        </p:nvSpPr>
        <p:spPr>
          <a:xfrm>
            <a:off x="502920" y="2414016"/>
            <a:ext cx="2560320" cy="640080"/>
          </a:xfrm>
          <a:prstGeom prst="rect">
            <a:avLst/>
          </a:prstGeom>
          <a:noFill/>
          <a:ln/>
        </p:spPr>
        <p:txBody>
          <a:bodyPr wrap="square" lIns="0" tIns="0" rIns="0" bIns="0" rtlCol="0" anchor="ctr">
            <a:normAutofit/>
          </a:bodyPr>
          <a:lstStyle/>
          <a:p>
            <a:pPr indent="0" marL="0">
              <a:buNone/>
            </a:pPr>
            <a:r>
              <a:rPr lang="en-US" sz="1520" b="1" dirty="0">
                <a:solidFill>
                  <a:srgbClr val="17324D"/>
                </a:solidFill>
                <a:latin typeface="Aptos" pitchFamily="34" charset="0"/>
                <a:ea typeface="Aptos" pitchFamily="34" charset="-122"/>
                <a:cs typeface="Aptos" pitchFamily="34" charset="-120"/>
              </a:rPr>
              <a:t>Provider B</a:t>
            </a:r>
            <a:endParaRPr lang="en-US" sz="1520" dirty="0"/>
          </a:p>
        </p:txBody>
      </p:sp>
      <p:sp>
        <p:nvSpPr>
          <p:cNvPr id="14" name="Text 12"/>
          <p:cNvSpPr/>
          <p:nvPr/>
        </p:nvSpPr>
        <p:spPr>
          <a:xfrm>
            <a:off x="3264408" y="2414016"/>
            <a:ext cx="8394192" cy="640080"/>
          </a:xfrm>
          <a:prstGeom prst="rect">
            <a:avLst/>
          </a:prstGeom>
          <a:noFill/>
          <a:ln/>
        </p:spPr>
        <p:txBody>
          <a:bodyPr wrap="square" lIns="0" tIns="0" rIns="0" bIns="0" rtlCol="0" anchor="ctr">
            <a:normAutofit/>
          </a:bodyPr>
          <a:lstStyle/>
          <a:p>
            <a:pPr indent="0" marL="0">
              <a:buNone/>
            </a:pPr>
            <a:r>
              <a:rPr lang="en-US" sz="1520" dirty="0">
                <a:solidFill>
                  <a:srgbClr val="17324D"/>
                </a:solidFill>
                <a:latin typeface="Aptos" pitchFamily="34" charset="0"/>
                <a:ea typeface="Aptos" pitchFamily="34" charset="-122"/>
                <a:cs typeface="Aptos" pitchFamily="34" charset="-120"/>
              </a:rPr>
              <a:t>Offer: PHP 750 | Available: 5 PM today | Trust: Work Verified | Notes: Has previous job photos.</a:t>
            </a:r>
            <a:endParaRPr lang="en-US" sz="1520" dirty="0"/>
          </a:p>
        </p:txBody>
      </p:sp>
      <p:sp>
        <p:nvSpPr>
          <p:cNvPr id="15" name="Shape 13"/>
          <p:cNvSpPr/>
          <p:nvPr/>
        </p:nvSpPr>
        <p:spPr>
          <a:xfrm>
            <a:off x="502920" y="3072384"/>
            <a:ext cx="11155680" cy="0"/>
          </a:xfrm>
          <a:prstGeom prst="line">
            <a:avLst/>
          </a:prstGeom>
          <a:noFill/>
          <a:ln w="5080">
            <a:solidFill>
              <a:srgbClr val="C9D6E2">
                <a:alpha val="60000"/>
              </a:srgbClr>
            </a:solidFill>
            <a:prstDash val="solid"/>
          </a:ln>
        </p:spPr>
      </p:sp>
      <p:sp>
        <p:nvSpPr>
          <p:cNvPr id="16" name="Text 14"/>
          <p:cNvSpPr/>
          <p:nvPr/>
        </p:nvSpPr>
        <p:spPr>
          <a:xfrm>
            <a:off x="502920" y="3127248"/>
            <a:ext cx="2560320" cy="640080"/>
          </a:xfrm>
          <a:prstGeom prst="rect">
            <a:avLst/>
          </a:prstGeom>
          <a:noFill/>
          <a:ln/>
        </p:spPr>
        <p:txBody>
          <a:bodyPr wrap="square" lIns="0" tIns="0" rIns="0" bIns="0" rtlCol="0" anchor="ctr">
            <a:normAutofit/>
          </a:bodyPr>
          <a:lstStyle/>
          <a:p>
            <a:pPr indent="0" marL="0">
              <a:buNone/>
            </a:pPr>
            <a:r>
              <a:rPr lang="en-US" sz="1520" b="1" dirty="0">
                <a:solidFill>
                  <a:srgbClr val="17324D"/>
                </a:solidFill>
                <a:latin typeface="Aptos" pitchFamily="34" charset="0"/>
                <a:ea typeface="Aptos" pitchFamily="34" charset="-122"/>
                <a:cs typeface="Aptos" pitchFamily="34" charset="-120"/>
              </a:rPr>
              <a:t>Provider C</a:t>
            </a:r>
            <a:endParaRPr lang="en-US" sz="1520" dirty="0"/>
          </a:p>
        </p:txBody>
      </p:sp>
      <p:sp>
        <p:nvSpPr>
          <p:cNvPr id="17" name="Text 15"/>
          <p:cNvSpPr/>
          <p:nvPr/>
        </p:nvSpPr>
        <p:spPr>
          <a:xfrm>
            <a:off x="3264408" y="3127248"/>
            <a:ext cx="8394192" cy="640080"/>
          </a:xfrm>
          <a:prstGeom prst="rect">
            <a:avLst/>
          </a:prstGeom>
          <a:noFill/>
          <a:ln/>
        </p:spPr>
        <p:txBody>
          <a:bodyPr wrap="square" lIns="0" tIns="0" rIns="0" bIns="0" rtlCol="0" anchor="ctr">
            <a:normAutofit/>
          </a:bodyPr>
          <a:lstStyle/>
          <a:p>
            <a:pPr indent="0" marL="0">
              <a:buNone/>
            </a:pPr>
            <a:r>
              <a:rPr lang="en-US" sz="1520" dirty="0">
                <a:solidFill>
                  <a:srgbClr val="17324D"/>
                </a:solidFill>
                <a:latin typeface="Aptos" pitchFamily="34" charset="0"/>
                <a:ea typeface="Aptos" pitchFamily="34" charset="-122"/>
                <a:cs typeface="Aptos" pitchFamily="34" charset="-120"/>
              </a:rPr>
              <a:t>Offer: PHP 500 | Available: Tomorrow | Trust: Identity Verified | Notes: Lower price but not available today.</a:t>
            </a:r>
            <a:endParaRPr lang="en-US" sz="1520" dirty="0"/>
          </a:p>
        </p:txBody>
      </p:sp>
      <p:sp>
        <p:nvSpPr>
          <p:cNvPr id="18" name="Shape 16"/>
          <p:cNvSpPr/>
          <p:nvPr/>
        </p:nvSpPr>
        <p:spPr>
          <a:xfrm>
            <a:off x="502920" y="3785616"/>
            <a:ext cx="11155680" cy="0"/>
          </a:xfrm>
          <a:prstGeom prst="line">
            <a:avLst/>
          </a:prstGeom>
          <a:noFill/>
          <a:ln w="5080">
            <a:solidFill>
              <a:srgbClr val="C9D6E2">
                <a:alpha val="60000"/>
              </a:srgbClr>
            </a:solidFill>
            <a:prstDash val="solid"/>
          </a:ln>
        </p:spPr>
      </p:sp>
      <p:sp>
        <p:nvSpPr>
          <p:cNvPr id="19" name="Text 17"/>
          <p:cNvSpPr/>
          <p:nvPr/>
        </p:nvSpPr>
        <p:spPr>
          <a:xfrm>
            <a:off x="502920" y="3840480"/>
            <a:ext cx="2560320" cy="640080"/>
          </a:xfrm>
          <a:prstGeom prst="rect">
            <a:avLst/>
          </a:prstGeom>
          <a:noFill/>
          <a:ln/>
        </p:spPr>
        <p:txBody>
          <a:bodyPr wrap="square" lIns="0" tIns="0" rIns="0" bIns="0" rtlCol="0" anchor="ctr">
            <a:normAutofit/>
          </a:bodyPr>
          <a:lstStyle/>
          <a:p>
            <a:pPr indent="0" marL="0">
              <a:buNone/>
            </a:pPr>
            <a:r>
              <a:rPr lang="en-US" sz="1520" b="1" dirty="0">
                <a:solidFill>
                  <a:srgbClr val="17324D"/>
                </a:solidFill>
                <a:latin typeface="Aptos" pitchFamily="34" charset="0"/>
                <a:ea typeface="Aptos" pitchFamily="34" charset="-122"/>
                <a:cs typeface="Aptos" pitchFamily="34" charset="-120"/>
              </a:rPr>
              <a:t>Client instruction</a:t>
            </a:r>
            <a:endParaRPr lang="en-US" sz="1520" dirty="0"/>
          </a:p>
        </p:txBody>
      </p:sp>
      <p:sp>
        <p:nvSpPr>
          <p:cNvPr id="20" name="Text 18"/>
          <p:cNvSpPr/>
          <p:nvPr/>
        </p:nvSpPr>
        <p:spPr>
          <a:xfrm>
            <a:off x="3264408" y="3840480"/>
            <a:ext cx="8394192" cy="640080"/>
          </a:xfrm>
          <a:prstGeom prst="rect">
            <a:avLst/>
          </a:prstGeom>
          <a:noFill/>
          <a:ln/>
        </p:spPr>
        <p:txBody>
          <a:bodyPr wrap="square" lIns="0" tIns="0" rIns="0" bIns="0" rtlCol="0" anchor="ctr">
            <a:normAutofit/>
          </a:bodyPr>
          <a:lstStyle/>
          <a:p>
            <a:pPr indent="0" marL="0">
              <a:buNone/>
            </a:pPr>
            <a:r>
              <a:rPr lang="en-US" sz="1520" dirty="0">
                <a:solidFill>
                  <a:srgbClr val="17324D"/>
                </a:solidFill>
                <a:latin typeface="Aptos" pitchFamily="34" charset="0"/>
                <a:ea typeface="Aptos" pitchFamily="34" charset="-122"/>
                <a:cs typeface="Aptos" pitchFamily="34" charset="-120"/>
              </a:rPr>
              <a:t>Please choose the provider you prefer. Final scope and price should be clear before work starts.</a:t>
            </a:r>
            <a:endParaRPr lang="en-US" sz="1520" dirty="0"/>
          </a:p>
        </p:txBody>
      </p:sp>
      <p:sp>
        <p:nvSpPr>
          <p:cNvPr id="21" name="Shape 19"/>
          <p:cNvSpPr/>
          <p:nvPr/>
        </p:nvSpPr>
        <p:spPr>
          <a:xfrm>
            <a:off x="502920" y="4498848"/>
            <a:ext cx="11155680" cy="0"/>
          </a:xfrm>
          <a:prstGeom prst="line">
            <a:avLst/>
          </a:prstGeom>
          <a:noFill/>
          <a:ln w="5080">
            <a:solidFill>
              <a:srgbClr val="C9D6E2">
                <a:alpha val="60000"/>
              </a:srgbClr>
            </a:solidFill>
            <a:prstDash val="solid"/>
          </a:ln>
        </p:spPr>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Scripts</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Completion and Rating Templates</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Collect two-way ratings after the job.</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Scripts</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46</a:t>
            </a:r>
            <a:endParaRPr lang="en-US" sz="850" dirty="0"/>
          </a:p>
        </p:txBody>
      </p:sp>
      <p:sp>
        <p:nvSpPr>
          <p:cNvPr id="8" name="Shape 6"/>
          <p:cNvSpPr/>
          <p:nvPr/>
        </p:nvSpPr>
        <p:spPr>
          <a:xfrm>
            <a:off x="502920" y="1481328"/>
            <a:ext cx="11155680" cy="2299716"/>
          </a:xfrm>
          <a:prstGeom prst="roundRect">
            <a:avLst>
              <a:gd name="adj" fmla="val 3181"/>
            </a:avLst>
          </a:prstGeom>
          <a:solidFill>
            <a:srgbClr val="F3F8FB"/>
          </a:solidFill>
          <a:ln w="12700">
            <a:solidFill>
              <a:srgbClr val="C9D6E2"/>
            </a:solidFill>
            <a:prstDash val="solid"/>
          </a:ln>
        </p:spPr>
      </p:sp>
      <p:sp>
        <p:nvSpPr>
          <p:cNvPr id="9" name="Text 7"/>
          <p:cNvSpPr/>
          <p:nvPr/>
        </p:nvSpPr>
        <p:spPr>
          <a:xfrm>
            <a:off x="667512" y="1591056"/>
            <a:ext cx="1920240" cy="237744"/>
          </a:xfrm>
          <a:prstGeom prst="rect">
            <a:avLst/>
          </a:prstGeom>
          <a:noFill/>
          <a:ln/>
        </p:spPr>
        <p:txBody>
          <a:bodyPr wrap="square" lIns="0" tIns="0" rIns="0" bIns="0" rtlCol="0" anchor="ctr"/>
          <a:lstStyle/>
          <a:p>
            <a:pPr indent="0" marL="0">
              <a:buNone/>
            </a:pPr>
            <a:r>
              <a:rPr lang="en-US" sz="1250" b="1" dirty="0">
                <a:solidFill>
                  <a:srgbClr val="0E5A7A"/>
                </a:solidFill>
              </a:rPr>
              <a:t>Client rating message</a:t>
            </a:r>
            <a:endParaRPr lang="en-US" sz="1250" dirty="0"/>
          </a:p>
        </p:txBody>
      </p:sp>
      <p:sp>
        <p:nvSpPr>
          <p:cNvPr id="10" name="Text 8"/>
          <p:cNvSpPr/>
          <p:nvPr/>
        </p:nvSpPr>
        <p:spPr>
          <a:xfrm>
            <a:off x="667512" y="1883664"/>
            <a:ext cx="10826496" cy="1805940"/>
          </a:xfrm>
          <a:prstGeom prst="rect">
            <a:avLst/>
          </a:prstGeom>
          <a:noFill/>
          <a:ln/>
        </p:spPr>
        <p:txBody>
          <a:bodyPr wrap="square" lIns="0" tIns="0" rIns="0" bIns="0" rtlCol="0" anchor="ctr">
            <a:normAutofit/>
          </a:bodyPr>
          <a:lstStyle/>
          <a:p>
            <a:pPr indent="0" marL="0">
              <a:buNone/>
            </a:pPr>
            <a:r>
              <a:rPr lang="en-US" sz="1650" dirty="0">
                <a:solidFill>
                  <a:srgbClr val="17324D"/>
                </a:solidFill>
                <a:latin typeface="Aptos" pitchFamily="34" charset="0"/>
                <a:ea typeface="Aptos" pitchFamily="34" charset="-122"/>
                <a:cs typeface="Aptos" pitchFamily="34" charset="-120"/>
              </a:rPr>
              <a:t>Hello! Was the job completed? Please rate the provider from 1 to 5 and share any comments about the service. Was the agreed price followed? Would you use KAILA again?</a:t>
            </a:r>
            <a:endParaRPr lang="en-US" sz="1650" dirty="0"/>
          </a:p>
        </p:txBody>
      </p:sp>
      <p:sp>
        <p:nvSpPr>
          <p:cNvPr id="11" name="Shape 9"/>
          <p:cNvSpPr/>
          <p:nvPr/>
        </p:nvSpPr>
        <p:spPr>
          <a:xfrm>
            <a:off x="502920" y="3982212"/>
            <a:ext cx="11155680" cy="2299716"/>
          </a:xfrm>
          <a:prstGeom prst="roundRect">
            <a:avLst>
              <a:gd name="adj" fmla="val 3181"/>
            </a:avLst>
          </a:prstGeom>
          <a:solidFill>
            <a:srgbClr val="FFFFFF"/>
          </a:solidFill>
          <a:ln w="12700">
            <a:solidFill>
              <a:srgbClr val="C9D6E2"/>
            </a:solidFill>
            <a:prstDash val="solid"/>
          </a:ln>
        </p:spPr>
      </p:sp>
      <p:sp>
        <p:nvSpPr>
          <p:cNvPr id="12" name="Text 10"/>
          <p:cNvSpPr/>
          <p:nvPr/>
        </p:nvSpPr>
        <p:spPr>
          <a:xfrm>
            <a:off x="667512" y="4091940"/>
            <a:ext cx="1920240" cy="237744"/>
          </a:xfrm>
          <a:prstGeom prst="rect">
            <a:avLst/>
          </a:prstGeom>
          <a:noFill/>
          <a:ln/>
        </p:spPr>
        <p:txBody>
          <a:bodyPr wrap="square" lIns="0" tIns="0" rIns="0" bIns="0" rtlCol="0" anchor="ctr"/>
          <a:lstStyle/>
          <a:p>
            <a:pPr indent="0" marL="0">
              <a:buNone/>
            </a:pPr>
            <a:r>
              <a:rPr lang="en-US" sz="1250" b="1" dirty="0">
                <a:solidFill>
                  <a:srgbClr val="0E5A7A"/>
                </a:solidFill>
              </a:rPr>
              <a:t>Provider rating message</a:t>
            </a:r>
            <a:endParaRPr lang="en-US" sz="1250" dirty="0"/>
          </a:p>
        </p:txBody>
      </p:sp>
      <p:sp>
        <p:nvSpPr>
          <p:cNvPr id="13" name="Text 11"/>
          <p:cNvSpPr/>
          <p:nvPr/>
        </p:nvSpPr>
        <p:spPr>
          <a:xfrm>
            <a:off x="667512" y="4384548"/>
            <a:ext cx="10826496" cy="1805940"/>
          </a:xfrm>
          <a:prstGeom prst="rect">
            <a:avLst/>
          </a:prstGeom>
          <a:noFill/>
          <a:ln/>
        </p:spPr>
        <p:txBody>
          <a:bodyPr wrap="square" lIns="0" tIns="0" rIns="0" bIns="0" rtlCol="0" anchor="ctr">
            <a:normAutofit/>
          </a:bodyPr>
          <a:lstStyle/>
          <a:p>
            <a:pPr indent="0" marL="0">
              <a:buNone/>
            </a:pPr>
            <a:r>
              <a:rPr lang="en-US" sz="1650" dirty="0">
                <a:solidFill>
                  <a:srgbClr val="17324D"/>
                </a:solidFill>
                <a:latin typeface="Aptos" pitchFamily="34" charset="0"/>
                <a:ea typeface="Aptos" pitchFamily="34" charset="-122"/>
                <a:cs typeface="Aptos" pitchFamily="34" charset="-120"/>
              </a:rPr>
              <a:t>Hello! Was the job completed? Please rate the client from 1 to 5 and share if there were any issues. Would you accept KAILA requests again?</a:t>
            </a:r>
            <a:endParaRPr lang="en-US" sz="16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Rules</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Provider Rules Agreement</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Each provider should agree before receiving pilot requests.</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Rules</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47</a:t>
            </a:r>
            <a:endParaRPr lang="en-US" sz="850" dirty="0"/>
          </a:p>
        </p:txBody>
      </p:sp>
      <p:sp>
        <p:nvSpPr>
          <p:cNvPr id="8" name="Text 6"/>
          <p:cNvSpPr/>
          <p:nvPr/>
        </p:nvSpPr>
        <p:spPr>
          <a:xfrm>
            <a:off x="502920" y="1508760"/>
            <a:ext cx="5417820" cy="4754880"/>
          </a:xfrm>
          <a:prstGeom prst="rect">
            <a:avLst/>
          </a:prstGeom>
          <a:noFill/>
          <a:ln/>
        </p:spPr>
        <p:txBody>
          <a:bodyPr wrap="square" lIns="1270" tIns="1270" rIns="1270" bIns="1270" rtlCol="0" anchor="ctr">
            <a:normAutofit/>
          </a:bodyPr>
          <a:lstStyle/>
          <a:p>
            <a:pPr indent="0" marL="0">
              <a:buNone/>
            </a:pPr>
            <a:r>
              <a:rPr lang="en-US" sz="1720" dirty="0">
                <a:solidFill>
                  <a:srgbClr val="17324D"/>
                </a:solidFill>
                <a:latin typeface="Aptos" pitchFamily="34" charset="0"/>
                <a:ea typeface="Aptos" pitchFamily="34" charset="-122"/>
                <a:cs typeface="Aptos" pitchFamily="34" charset="-120"/>
              </a:rPr>
              <a:t>☐ Respond honestly and only accept jobs you can perform.</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Give clear price or estimate before the job starts.</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Do not unfairly change price after arrival unless scope changes.</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Communicate delays early.</a:t>
            </a:r>
            <a:endParaRPr lang="en-US" sz="1720" dirty="0"/>
          </a:p>
        </p:txBody>
      </p:sp>
      <p:sp>
        <p:nvSpPr>
          <p:cNvPr id="9" name="Text 7"/>
          <p:cNvSpPr/>
          <p:nvPr/>
        </p:nvSpPr>
        <p:spPr>
          <a:xfrm>
            <a:off x="6240780" y="1508760"/>
            <a:ext cx="5417820" cy="4754880"/>
          </a:xfrm>
          <a:prstGeom prst="rect">
            <a:avLst/>
          </a:prstGeom>
          <a:noFill/>
          <a:ln/>
        </p:spPr>
        <p:txBody>
          <a:bodyPr wrap="square" lIns="1270" tIns="1270" rIns="1270" bIns="1270" rtlCol="0" anchor="ctr">
            <a:normAutofit/>
          </a:bodyPr>
          <a:lstStyle/>
          <a:p>
            <a:pPr indent="0" marL="0">
              <a:buNone/>
            </a:pPr>
            <a:r>
              <a:rPr lang="en-US" sz="1720" dirty="0">
                <a:solidFill>
                  <a:srgbClr val="17324D"/>
                </a:solidFill>
                <a:latin typeface="Aptos" pitchFamily="34" charset="0"/>
                <a:ea typeface="Aptos" pitchFamily="34" charset="-122"/>
                <a:cs typeface="Aptos" pitchFamily="34" charset="-120"/>
              </a:rPr>
              <a:t>☐ Respect client property and privacy.</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Do not harass, threaten, pressure, or abuse clients.</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Allow KAILA to track job outcome during the pilot.</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Accept that ratings and reviews are part of the trust system.</a:t>
            </a:r>
            <a:endParaRPr lang="en-US" sz="172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Rules</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Client Reminders Template</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Explain these before matching the client with a provider.</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Rules</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48</a:t>
            </a:r>
            <a:endParaRPr lang="en-US" sz="850" dirty="0"/>
          </a:p>
        </p:txBody>
      </p:sp>
      <p:sp>
        <p:nvSpPr>
          <p:cNvPr id="8" name="Text 6"/>
          <p:cNvSpPr/>
          <p:nvPr/>
        </p:nvSpPr>
        <p:spPr>
          <a:xfrm>
            <a:off x="502920" y="1508760"/>
            <a:ext cx="5417820" cy="4754880"/>
          </a:xfrm>
          <a:prstGeom prst="rect">
            <a:avLst/>
          </a:prstGeom>
          <a:noFill/>
          <a:ln/>
        </p:spPr>
        <p:txBody>
          <a:bodyPr wrap="square" lIns="1270" tIns="1270" rIns="1270" bIns="1270" rtlCol="0" anchor="ctr">
            <a:normAutofit/>
          </a:bodyPr>
          <a:lstStyle/>
          <a:p>
            <a:pPr indent="0" marL="0">
              <a:buNone/>
            </a:pPr>
            <a:r>
              <a:rPr lang="en-US" sz="1720" dirty="0">
                <a:solidFill>
                  <a:srgbClr val="17324D"/>
                </a:solidFill>
                <a:latin typeface="Aptos" pitchFamily="34" charset="0"/>
                <a:ea typeface="Aptos" pitchFamily="34" charset="-122"/>
                <a:cs typeface="Aptos" pitchFamily="34" charset="-120"/>
              </a:rPr>
              <a:t>☐ KAILA is a pilot matching system.</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Providers are independent service providers, not KAILA employees.</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Clear descriptions and photos help providers estimate better.</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Final price and scope should be agreed before work starts.</a:t>
            </a:r>
            <a:endParaRPr lang="en-US" sz="1720" dirty="0"/>
          </a:p>
        </p:txBody>
      </p:sp>
      <p:sp>
        <p:nvSpPr>
          <p:cNvPr id="9" name="Text 7"/>
          <p:cNvSpPr/>
          <p:nvPr/>
        </p:nvSpPr>
        <p:spPr>
          <a:xfrm>
            <a:off x="6240780" y="1508760"/>
            <a:ext cx="5417820" cy="4754880"/>
          </a:xfrm>
          <a:prstGeom prst="rect">
            <a:avLst/>
          </a:prstGeom>
          <a:noFill/>
          <a:ln/>
        </p:spPr>
        <p:txBody>
          <a:bodyPr wrap="square" lIns="1270" tIns="1270" rIns="1270" bIns="1270" rtlCol="0" anchor="ctr">
            <a:normAutofit/>
          </a:bodyPr>
          <a:lstStyle/>
          <a:p>
            <a:pPr indent="0" marL="0">
              <a:buNone/>
            </a:pPr>
            <a:r>
              <a:rPr lang="en-US" sz="1720" dirty="0">
                <a:solidFill>
                  <a:srgbClr val="17324D"/>
                </a:solidFill>
                <a:latin typeface="Aptos" pitchFamily="34" charset="0"/>
                <a:ea typeface="Aptos" pitchFamily="34" charset="-122"/>
                <a:cs typeface="Aptos" pitchFamily="34" charset="-120"/>
              </a:rPr>
              <a:t>☐ Scope changes may affect price.</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Client should confirm completion after the job.</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Client should give a fair rating after completion.</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Issues should be reported honestly with details and evidence.</a:t>
            </a:r>
            <a:endParaRPr lang="en-US" sz="172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Weekly Report</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Weekly Metrics Summary Template</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Use this after every weekly review.</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Weekly Report</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49</a:t>
            </a:r>
            <a:endParaRPr lang="en-US" sz="850" dirty="0"/>
          </a:p>
        </p:txBody>
      </p:sp>
      <p:sp>
        <p:nvSpPr>
          <p:cNvPr id="8" name="Text 6"/>
          <p:cNvSpPr/>
          <p:nvPr/>
        </p:nvSpPr>
        <p:spPr>
          <a:xfrm>
            <a:off x="502920" y="1380744"/>
            <a:ext cx="292608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630168" y="1380744"/>
            <a:ext cx="802843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292608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Week covered</a:t>
            </a:r>
            <a:endParaRPr lang="en-US" sz="1460" dirty="0"/>
          </a:p>
        </p:txBody>
      </p:sp>
      <p:sp>
        <p:nvSpPr>
          <p:cNvPr id="11" name="Text 9"/>
          <p:cNvSpPr/>
          <p:nvPr/>
        </p:nvSpPr>
        <p:spPr>
          <a:xfrm>
            <a:off x="3630168" y="1700784"/>
            <a:ext cx="802843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Start date to end date.</a:t>
            </a:r>
            <a:endParaRPr lang="en-US" sz="146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292608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Providers joined / active</a:t>
            </a:r>
            <a:endParaRPr lang="en-US" sz="1460" dirty="0"/>
          </a:p>
        </p:txBody>
      </p:sp>
      <p:sp>
        <p:nvSpPr>
          <p:cNvPr id="14" name="Text 12"/>
          <p:cNvSpPr/>
          <p:nvPr/>
        </p:nvSpPr>
        <p:spPr>
          <a:xfrm>
            <a:off x="3630168" y="2274570"/>
            <a:ext cx="802843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Total listed, active, inactive, category coverage.</a:t>
            </a:r>
            <a:endParaRPr lang="en-US" sz="146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292608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Client requests</a:t>
            </a:r>
            <a:endParaRPr lang="en-US" sz="1460" dirty="0"/>
          </a:p>
        </p:txBody>
      </p:sp>
      <p:sp>
        <p:nvSpPr>
          <p:cNvPr id="17" name="Text 15"/>
          <p:cNvSpPr/>
          <p:nvPr/>
        </p:nvSpPr>
        <p:spPr>
          <a:xfrm>
            <a:off x="3630168" y="2848356"/>
            <a:ext cx="802843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Total requests, top categories, top barangays, urgency mix.</a:t>
            </a:r>
            <a:endParaRPr lang="en-US" sz="146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292608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Matching performance</a:t>
            </a:r>
            <a:endParaRPr lang="en-US" sz="1460" dirty="0"/>
          </a:p>
        </p:txBody>
      </p:sp>
      <p:sp>
        <p:nvSpPr>
          <p:cNvPr id="20" name="Text 18"/>
          <p:cNvSpPr/>
          <p:nvPr/>
        </p:nvSpPr>
        <p:spPr>
          <a:xfrm>
            <a:off x="3630168" y="3422142"/>
            <a:ext cx="802843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Providers contacted, offers per request, average response time, accepted jobs.</a:t>
            </a:r>
            <a:endParaRPr lang="en-US" sz="146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292608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Job outcomes</a:t>
            </a:r>
            <a:endParaRPr lang="en-US" sz="1460" dirty="0"/>
          </a:p>
        </p:txBody>
      </p:sp>
      <p:sp>
        <p:nvSpPr>
          <p:cNvPr id="23" name="Text 21"/>
          <p:cNvSpPr/>
          <p:nvPr/>
        </p:nvSpPr>
        <p:spPr>
          <a:xfrm>
            <a:off x="3630168" y="3995928"/>
            <a:ext cx="802843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Completed jobs, strongly matched jobs, cancelled requests, no-response requests.</a:t>
            </a:r>
            <a:endParaRPr lang="en-US" sz="146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292608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Trust and quality</a:t>
            </a:r>
            <a:endParaRPr lang="en-US" sz="1460" dirty="0"/>
          </a:p>
        </p:txBody>
      </p:sp>
      <p:sp>
        <p:nvSpPr>
          <p:cNvPr id="26" name="Text 24"/>
          <p:cNvSpPr/>
          <p:nvPr/>
        </p:nvSpPr>
        <p:spPr>
          <a:xfrm>
            <a:off x="3630168" y="4569714"/>
            <a:ext cx="802843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Average ratings, disputes, complaints, top provider issues.</a:t>
            </a:r>
            <a:endParaRPr lang="en-US" sz="146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292608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GMV</a:t>
            </a:r>
            <a:endParaRPr lang="en-US" sz="1460" dirty="0"/>
          </a:p>
        </p:txBody>
      </p:sp>
      <p:sp>
        <p:nvSpPr>
          <p:cNvPr id="29" name="Text 27"/>
          <p:cNvSpPr/>
          <p:nvPr/>
        </p:nvSpPr>
        <p:spPr>
          <a:xfrm>
            <a:off x="3630168" y="5143500"/>
            <a:ext cx="802843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Total peso value of completed jobs.</a:t>
            </a:r>
            <a:endParaRPr lang="en-US" sz="146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2926080" cy="500634"/>
          </a:xfrm>
          <a:prstGeom prst="rect">
            <a:avLst/>
          </a:prstGeom>
          <a:noFill/>
          <a:ln/>
        </p:spPr>
        <p:txBody>
          <a:bodyPr wrap="square" lIns="0" tIns="0" rIns="0" bIns="0" rtlCol="0" anchor="ctr">
            <a:normAutofit/>
          </a:bodyPr>
          <a:lstStyle/>
          <a:p>
            <a:pPr indent="0" marL="0">
              <a:buNone/>
            </a:pPr>
            <a:r>
              <a:rPr lang="en-US" sz="1460" b="1" dirty="0">
                <a:solidFill>
                  <a:srgbClr val="17324D"/>
                </a:solidFill>
                <a:latin typeface="Aptos" pitchFamily="34" charset="0"/>
                <a:ea typeface="Aptos" pitchFamily="34" charset="-122"/>
                <a:cs typeface="Aptos" pitchFamily="34" charset="-120"/>
              </a:rPr>
              <a:t>Next actions</a:t>
            </a:r>
            <a:endParaRPr lang="en-US" sz="1460" dirty="0"/>
          </a:p>
        </p:txBody>
      </p:sp>
      <p:sp>
        <p:nvSpPr>
          <p:cNvPr id="32" name="Text 30"/>
          <p:cNvSpPr/>
          <p:nvPr/>
        </p:nvSpPr>
        <p:spPr>
          <a:xfrm>
            <a:off x="3630168" y="5717286"/>
            <a:ext cx="8028432" cy="500634"/>
          </a:xfrm>
          <a:prstGeom prst="rect">
            <a:avLst/>
          </a:prstGeom>
          <a:noFill/>
          <a:ln/>
        </p:spPr>
        <p:txBody>
          <a:bodyPr wrap="square" lIns="0" tIns="0" rIns="0" bIns="0" rtlCol="0" anchor="ctr">
            <a:normAutofit/>
          </a:bodyPr>
          <a:lstStyle/>
          <a:p>
            <a:pPr indent="0" marL="0">
              <a:buNone/>
            </a:pPr>
            <a:r>
              <a:rPr lang="en-US" sz="1460" dirty="0">
                <a:solidFill>
                  <a:srgbClr val="17324D"/>
                </a:solidFill>
                <a:latin typeface="Aptos" pitchFamily="34" charset="0"/>
                <a:ea typeface="Aptos" pitchFamily="34" charset="-122"/>
                <a:cs typeface="Aptos" pitchFamily="34" charset="-120"/>
              </a:rPr>
              <a:t>Owner, task, deadline.</a:t>
            </a:r>
            <a:endParaRPr lang="en-US" sz="146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Weekly Report</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Weekly Meeting Notes Template</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Use this for founder/team meetings.</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Weekly Report</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50</a:t>
            </a:r>
            <a:endParaRPr lang="en-US" sz="850" dirty="0"/>
          </a:p>
        </p:txBody>
      </p:sp>
      <p:sp>
        <p:nvSpPr>
          <p:cNvPr id="8" name="Text 6"/>
          <p:cNvSpPr/>
          <p:nvPr/>
        </p:nvSpPr>
        <p:spPr>
          <a:xfrm>
            <a:off x="502920" y="1380744"/>
            <a:ext cx="292608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630168" y="1380744"/>
            <a:ext cx="802843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292608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Date and attendees</a:t>
            </a:r>
            <a:endParaRPr lang="en-US" sz="1470" dirty="0"/>
          </a:p>
        </p:txBody>
      </p:sp>
      <p:sp>
        <p:nvSpPr>
          <p:cNvPr id="11" name="Text 9"/>
          <p:cNvSpPr/>
          <p:nvPr/>
        </p:nvSpPr>
        <p:spPr>
          <a:xfrm>
            <a:off x="3630168" y="1700784"/>
            <a:ext cx="802843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Who joined the meeting.</a:t>
            </a:r>
            <a:endParaRPr lang="en-US" sz="147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292608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Decisions made</a:t>
            </a:r>
            <a:endParaRPr lang="en-US" sz="1470" dirty="0"/>
          </a:p>
        </p:txBody>
      </p:sp>
      <p:sp>
        <p:nvSpPr>
          <p:cNvPr id="14" name="Text 12"/>
          <p:cNvSpPr/>
          <p:nvPr/>
        </p:nvSpPr>
        <p:spPr>
          <a:xfrm>
            <a:off x="3630168" y="2274570"/>
            <a:ext cx="802843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List each decision clearly.</a:t>
            </a:r>
            <a:endParaRPr lang="en-US" sz="147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292608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Assumptions tested</a:t>
            </a:r>
            <a:endParaRPr lang="en-US" sz="1470" dirty="0"/>
          </a:p>
        </p:txBody>
      </p:sp>
      <p:sp>
        <p:nvSpPr>
          <p:cNvPr id="17" name="Text 15"/>
          <p:cNvSpPr/>
          <p:nvPr/>
        </p:nvSpPr>
        <p:spPr>
          <a:xfrm>
            <a:off x="3630168" y="2848356"/>
            <a:ext cx="802843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What was proven or disproven this week?</a:t>
            </a:r>
            <a:endParaRPr lang="en-US" sz="147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292608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Metrics reviewed</a:t>
            </a:r>
            <a:endParaRPr lang="en-US" sz="1470" dirty="0"/>
          </a:p>
        </p:txBody>
      </p:sp>
      <p:sp>
        <p:nvSpPr>
          <p:cNvPr id="20" name="Text 18"/>
          <p:cNvSpPr/>
          <p:nvPr/>
        </p:nvSpPr>
        <p:spPr>
          <a:xfrm>
            <a:off x="3630168" y="3422142"/>
            <a:ext cx="802843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Providers, requests, offers, jobs, ratings, disputes, GMV.</a:t>
            </a:r>
            <a:endParaRPr lang="en-US" sz="147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292608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Problems found</a:t>
            </a:r>
            <a:endParaRPr lang="en-US" sz="1470" dirty="0"/>
          </a:p>
        </p:txBody>
      </p:sp>
      <p:sp>
        <p:nvSpPr>
          <p:cNvPr id="23" name="Text 21"/>
          <p:cNvSpPr/>
          <p:nvPr/>
        </p:nvSpPr>
        <p:spPr>
          <a:xfrm>
            <a:off x="3630168" y="3995928"/>
            <a:ext cx="802843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Top 3 operational or trust issues.</a:t>
            </a:r>
            <a:endParaRPr lang="en-US" sz="147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292608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Lessons learned</a:t>
            </a:r>
            <a:endParaRPr lang="en-US" sz="1470" dirty="0"/>
          </a:p>
        </p:txBody>
      </p:sp>
      <p:sp>
        <p:nvSpPr>
          <p:cNvPr id="26" name="Text 24"/>
          <p:cNvSpPr/>
          <p:nvPr/>
        </p:nvSpPr>
        <p:spPr>
          <a:xfrm>
            <a:off x="3630168" y="4569714"/>
            <a:ext cx="802843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What changed because of this week’s evidence?</a:t>
            </a:r>
            <a:endParaRPr lang="en-US" sz="147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292608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Next actions</a:t>
            </a:r>
            <a:endParaRPr lang="en-US" sz="1470" dirty="0"/>
          </a:p>
        </p:txBody>
      </p:sp>
      <p:sp>
        <p:nvSpPr>
          <p:cNvPr id="29" name="Text 27"/>
          <p:cNvSpPr/>
          <p:nvPr/>
        </p:nvSpPr>
        <p:spPr>
          <a:xfrm>
            <a:off x="3630168" y="5143500"/>
            <a:ext cx="802843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Task, owner, deadline, status.</a:t>
            </a:r>
            <a:endParaRPr lang="en-US" sz="147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292608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Open questions</a:t>
            </a:r>
            <a:endParaRPr lang="en-US" sz="1470" dirty="0"/>
          </a:p>
        </p:txBody>
      </p:sp>
      <p:sp>
        <p:nvSpPr>
          <p:cNvPr id="32" name="Text 30"/>
          <p:cNvSpPr/>
          <p:nvPr/>
        </p:nvSpPr>
        <p:spPr>
          <a:xfrm>
            <a:off x="3630168" y="5717286"/>
            <a:ext cx="802843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Items to test next week.</a:t>
            </a:r>
            <a:endParaRPr lang="en-US" sz="147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Scorecard</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Go / No-Go Scorecard — Part 1</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Use after the 30–45 day active matching pilot.</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Scorecard</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51</a:t>
            </a:r>
            <a:endParaRPr lang="en-US" sz="850" dirty="0"/>
          </a:p>
        </p:txBody>
      </p:sp>
      <p:sp>
        <p:nvSpPr>
          <p:cNvPr id="8" name="Text 6"/>
          <p:cNvSpPr/>
          <p:nvPr/>
        </p:nvSpPr>
        <p:spPr>
          <a:xfrm>
            <a:off x="502920" y="1380744"/>
            <a:ext cx="365760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4361688" y="1380744"/>
            <a:ext cx="729691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657600" cy="640080"/>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Providers recruited</a:t>
            </a:r>
            <a:endParaRPr lang="en-US" sz="1490" dirty="0"/>
          </a:p>
        </p:txBody>
      </p:sp>
      <p:sp>
        <p:nvSpPr>
          <p:cNvPr id="11" name="Text 9"/>
          <p:cNvSpPr/>
          <p:nvPr/>
        </p:nvSpPr>
        <p:spPr>
          <a:xfrm>
            <a:off x="4361688" y="1700784"/>
            <a:ext cx="7296912" cy="640080"/>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Target: 50 listed providers. Score 0–5.</a:t>
            </a:r>
            <a:endParaRPr lang="en-US" sz="1490" dirty="0"/>
          </a:p>
        </p:txBody>
      </p:sp>
      <p:sp>
        <p:nvSpPr>
          <p:cNvPr id="12" name="Shape 10"/>
          <p:cNvSpPr/>
          <p:nvPr/>
        </p:nvSpPr>
        <p:spPr>
          <a:xfrm>
            <a:off x="502920" y="2359152"/>
            <a:ext cx="11155680" cy="0"/>
          </a:xfrm>
          <a:prstGeom prst="line">
            <a:avLst/>
          </a:prstGeom>
          <a:noFill/>
          <a:ln w="5080">
            <a:solidFill>
              <a:srgbClr val="C9D6E2">
                <a:alpha val="60000"/>
              </a:srgbClr>
            </a:solidFill>
            <a:prstDash val="solid"/>
          </a:ln>
        </p:spPr>
      </p:sp>
      <p:sp>
        <p:nvSpPr>
          <p:cNvPr id="13" name="Text 11"/>
          <p:cNvSpPr/>
          <p:nvPr/>
        </p:nvSpPr>
        <p:spPr>
          <a:xfrm>
            <a:off x="502920" y="2414016"/>
            <a:ext cx="3657600" cy="640080"/>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Active provider rate</a:t>
            </a:r>
            <a:endParaRPr lang="en-US" sz="1490" dirty="0"/>
          </a:p>
        </p:txBody>
      </p:sp>
      <p:sp>
        <p:nvSpPr>
          <p:cNvPr id="14" name="Text 12"/>
          <p:cNvSpPr/>
          <p:nvPr/>
        </p:nvSpPr>
        <p:spPr>
          <a:xfrm>
            <a:off x="4361688" y="2414016"/>
            <a:ext cx="7296912" cy="640080"/>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How many providers actually reply? Score 0–5.</a:t>
            </a:r>
            <a:endParaRPr lang="en-US" sz="1490" dirty="0"/>
          </a:p>
        </p:txBody>
      </p:sp>
      <p:sp>
        <p:nvSpPr>
          <p:cNvPr id="15" name="Shape 13"/>
          <p:cNvSpPr/>
          <p:nvPr/>
        </p:nvSpPr>
        <p:spPr>
          <a:xfrm>
            <a:off x="502920" y="3072384"/>
            <a:ext cx="11155680" cy="0"/>
          </a:xfrm>
          <a:prstGeom prst="line">
            <a:avLst/>
          </a:prstGeom>
          <a:noFill/>
          <a:ln w="5080">
            <a:solidFill>
              <a:srgbClr val="C9D6E2">
                <a:alpha val="60000"/>
              </a:srgbClr>
            </a:solidFill>
            <a:prstDash val="solid"/>
          </a:ln>
        </p:spPr>
      </p:sp>
      <p:sp>
        <p:nvSpPr>
          <p:cNvPr id="16" name="Text 14"/>
          <p:cNvSpPr/>
          <p:nvPr/>
        </p:nvSpPr>
        <p:spPr>
          <a:xfrm>
            <a:off x="502920" y="3127248"/>
            <a:ext cx="3657600" cy="640080"/>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Client responses</a:t>
            </a:r>
            <a:endParaRPr lang="en-US" sz="1490" dirty="0"/>
          </a:p>
        </p:txBody>
      </p:sp>
      <p:sp>
        <p:nvSpPr>
          <p:cNvPr id="17" name="Text 15"/>
          <p:cNvSpPr/>
          <p:nvPr/>
        </p:nvSpPr>
        <p:spPr>
          <a:xfrm>
            <a:off x="4361688" y="3127248"/>
            <a:ext cx="7296912" cy="640080"/>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Target: 100 survey responses or strong early evidence. Score 0–5.</a:t>
            </a:r>
            <a:endParaRPr lang="en-US" sz="1490" dirty="0"/>
          </a:p>
        </p:txBody>
      </p:sp>
      <p:sp>
        <p:nvSpPr>
          <p:cNvPr id="18" name="Shape 16"/>
          <p:cNvSpPr/>
          <p:nvPr/>
        </p:nvSpPr>
        <p:spPr>
          <a:xfrm>
            <a:off x="502920" y="3785616"/>
            <a:ext cx="11155680" cy="0"/>
          </a:xfrm>
          <a:prstGeom prst="line">
            <a:avLst/>
          </a:prstGeom>
          <a:noFill/>
          <a:ln w="5080">
            <a:solidFill>
              <a:srgbClr val="C9D6E2">
                <a:alpha val="60000"/>
              </a:srgbClr>
            </a:solidFill>
            <a:prstDash val="solid"/>
          </a:ln>
        </p:spPr>
      </p:sp>
      <p:sp>
        <p:nvSpPr>
          <p:cNvPr id="19" name="Text 17"/>
          <p:cNvSpPr/>
          <p:nvPr/>
        </p:nvSpPr>
        <p:spPr>
          <a:xfrm>
            <a:off x="502920" y="3840480"/>
            <a:ext cx="3657600" cy="640080"/>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Real requests</a:t>
            </a:r>
            <a:endParaRPr lang="en-US" sz="1490" dirty="0"/>
          </a:p>
        </p:txBody>
      </p:sp>
      <p:sp>
        <p:nvSpPr>
          <p:cNvPr id="20" name="Text 18"/>
          <p:cNvSpPr/>
          <p:nvPr/>
        </p:nvSpPr>
        <p:spPr>
          <a:xfrm>
            <a:off x="4361688" y="3840480"/>
            <a:ext cx="7296912" cy="640080"/>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Target: 30 real requests. Score 0–5.</a:t>
            </a:r>
            <a:endParaRPr lang="en-US" sz="1490" dirty="0"/>
          </a:p>
        </p:txBody>
      </p:sp>
      <p:sp>
        <p:nvSpPr>
          <p:cNvPr id="21" name="Shape 19"/>
          <p:cNvSpPr/>
          <p:nvPr/>
        </p:nvSpPr>
        <p:spPr>
          <a:xfrm>
            <a:off x="502920" y="4498848"/>
            <a:ext cx="11155680" cy="0"/>
          </a:xfrm>
          <a:prstGeom prst="line">
            <a:avLst/>
          </a:prstGeom>
          <a:noFill/>
          <a:ln w="5080">
            <a:solidFill>
              <a:srgbClr val="C9D6E2">
                <a:alpha val="60000"/>
              </a:srgbClr>
            </a:solidFill>
            <a:prstDash val="solid"/>
          </a:ln>
        </p:spPr>
      </p:sp>
      <p:sp>
        <p:nvSpPr>
          <p:cNvPr id="22" name="Text 20"/>
          <p:cNvSpPr/>
          <p:nvPr/>
        </p:nvSpPr>
        <p:spPr>
          <a:xfrm>
            <a:off x="502920" y="4553712"/>
            <a:ext cx="3657600" cy="640080"/>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Offers per request</a:t>
            </a:r>
            <a:endParaRPr lang="en-US" sz="1490" dirty="0"/>
          </a:p>
        </p:txBody>
      </p:sp>
      <p:sp>
        <p:nvSpPr>
          <p:cNvPr id="23" name="Text 21"/>
          <p:cNvSpPr/>
          <p:nvPr/>
        </p:nvSpPr>
        <p:spPr>
          <a:xfrm>
            <a:off x="4361688" y="4553712"/>
            <a:ext cx="7296912" cy="640080"/>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Target: ideally 2–5 offers per good request. Score 0–5.</a:t>
            </a:r>
            <a:endParaRPr lang="en-US" sz="1490" dirty="0"/>
          </a:p>
        </p:txBody>
      </p:sp>
      <p:sp>
        <p:nvSpPr>
          <p:cNvPr id="24" name="Shape 22"/>
          <p:cNvSpPr/>
          <p:nvPr/>
        </p:nvSpPr>
        <p:spPr>
          <a:xfrm>
            <a:off x="502920" y="5212080"/>
            <a:ext cx="11155680" cy="0"/>
          </a:xfrm>
          <a:prstGeom prst="line">
            <a:avLst/>
          </a:prstGeom>
          <a:noFill/>
          <a:ln w="5080">
            <a:solidFill>
              <a:srgbClr val="C9D6E2">
                <a:alpha val="60000"/>
              </a:srgbClr>
            </a:solidFill>
            <a:prstDash val="solid"/>
          </a:ln>
        </p:spPr>
      </p:sp>
      <p:sp>
        <p:nvSpPr>
          <p:cNvPr id="25" name="Text 23"/>
          <p:cNvSpPr/>
          <p:nvPr/>
        </p:nvSpPr>
        <p:spPr>
          <a:xfrm>
            <a:off x="502920" y="5266944"/>
            <a:ext cx="3657600" cy="640080"/>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Completed / strongly matched jobs</a:t>
            </a:r>
            <a:endParaRPr lang="en-US" sz="1490" dirty="0"/>
          </a:p>
        </p:txBody>
      </p:sp>
      <p:sp>
        <p:nvSpPr>
          <p:cNvPr id="26" name="Text 24"/>
          <p:cNvSpPr/>
          <p:nvPr/>
        </p:nvSpPr>
        <p:spPr>
          <a:xfrm>
            <a:off x="4361688" y="5266944"/>
            <a:ext cx="7296912" cy="640080"/>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Target: 15+. Score 0–5.</a:t>
            </a:r>
            <a:endParaRPr lang="en-US" sz="1490" dirty="0"/>
          </a:p>
        </p:txBody>
      </p:sp>
      <p:sp>
        <p:nvSpPr>
          <p:cNvPr id="27" name="Shape 25"/>
          <p:cNvSpPr/>
          <p:nvPr/>
        </p:nvSpPr>
        <p:spPr>
          <a:xfrm>
            <a:off x="502920" y="5925312"/>
            <a:ext cx="11155680" cy="0"/>
          </a:xfrm>
          <a:prstGeom prst="line">
            <a:avLst/>
          </a:prstGeom>
          <a:noFill/>
          <a:ln w="5080">
            <a:solidFill>
              <a:srgbClr val="C9D6E2">
                <a:alpha val="60000"/>
              </a:srgbClr>
            </a:solidFill>
            <a:prstDash val="solid"/>
          </a:ln>
        </p:spPr>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Scorecard</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Go / No-Go Scorecard — Part 2</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Rate trust, quality, and operational feasibility.</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Scorecard</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52</a:t>
            </a:r>
            <a:endParaRPr lang="en-US" sz="850" dirty="0"/>
          </a:p>
        </p:txBody>
      </p:sp>
      <p:sp>
        <p:nvSpPr>
          <p:cNvPr id="8" name="Text 6"/>
          <p:cNvSpPr/>
          <p:nvPr/>
        </p:nvSpPr>
        <p:spPr>
          <a:xfrm>
            <a:off x="502920" y="1380744"/>
            <a:ext cx="365760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4361688" y="1380744"/>
            <a:ext cx="729691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657600" cy="640080"/>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Ratings behavior</a:t>
            </a:r>
            <a:endParaRPr lang="en-US" sz="1470" dirty="0"/>
          </a:p>
        </p:txBody>
      </p:sp>
      <p:sp>
        <p:nvSpPr>
          <p:cNvPr id="11" name="Text 9"/>
          <p:cNvSpPr/>
          <p:nvPr/>
        </p:nvSpPr>
        <p:spPr>
          <a:xfrm>
            <a:off x="4361688" y="1700784"/>
            <a:ext cx="7296912" cy="640080"/>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Clients and providers accept two-way ratings. Score 0–5.</a:t>
            </a:r>
            <a:endParaRPr lang="en-US" sz="1470" dirty="0"/>
          </a:p>
        </p:txBody>
      </p:sp>
      <p:sp>
        <p:nvSpPr>
          <p:cNvPr id="12" name="Shape 10"/>
          <p:cNvSpPr/>
          <p:nvPr/>
        </p:nvSpPr>
        <p:spPr>
          <a:xfrm>
            <a:off x="502920" y="2359152"/>
            <a:ext cx="11155680" cy="0"/>
          </a:xfrm>
          <a:prstGeom prst="line">
            <a:avLst/>
          </a:prstGeom>
          <a:noFill/>
          <a:ln w="5080">
            <a:solidFill>
              <a:srgbClr val="C9D6E2">
                <a:alpha val="60000"/>
              </a:srgbClr>
            </a:solidFill>
            <a:prstDash val="solid"/>
          </a:ln>
        </p:spPr>
      </p:sp>
      <p:sp>
        <p:nvSpPr>
          <p:cNvPr id="13" name="Text 11"/>
          <p:cNvSpPr/>
          <p:nvPr/>
        </p:nvSpPr>
        <p:spPr>
          <a:xfrm>
            <a:off x="502920" y="2414016"/>
            <a:ext cx="3657600" cy="640080"/>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Disputes manageable</a:t>
            </a:r>
            <a:endParaRPr lang="en-US" sz="1470" dirty="0"/>
          </a:p>
        </p:txBody>
      </p:sp>
      <p:sp>
        <p:nvSpPr>
          <p:cNvPr id="14" name="Text 12"/>
          <p:cNvSpPr/>
          <p:nvPr/>
        </p:nvSpPr>
        <p:spPr>
          <a:xfrm>
            <a:off x="4361688" y="2414016"/>
            <a:ext cx="7296912" cy="640080"/>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Disputes are low or manageable with clear records. Score 0–5.</a:t>
            </a:r>
            <a:endParaRPr lang="en-US" sz="1470" dirty="0"/>
          </a:p>
        </p:txBody>
      </p:sp>
      <p:sp>
        <p:nvSpPr>
          <p:cNvPr id="15" name="Shape 13"/>
          <p:cNvSpPr/>
          <p:nvPr/>
        </p:nvSpPr>
        <p:spPr>
          <a:xfrm>
            <a:off x="502920" y="3072384"/>
            <a:ext cx="11155680" cy="0"/>
          </a:xfrm>
          <a:prstGeom prst="line">
            <a:avLst/>
          </a:prstGeom>
          <a:noFill/>
          <a:ln w="5080">
            <a:solidFill>
              <a:srgbClr val="C9D6E2">
                <a:alpha val="60000"/>
              </a:srgbClr>
            </a:solidFill>
            <a:prstDash val="solid"/>
          </a:ln>
        </p:spPr>
      </p:sp>
      <p:sp>
        <p:nvSpPr>
          <p:cNvPr id="16" name="Text 14"/>
          <p:cNvSpPr/>
          <p:nvPr/>
        </p:nvSpPr>
        <p:spPr>
          <a:xfrm>
            <a:off x="502920" y="3127248"/>
            <a:ext cx="3657600" cy="640080"/>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Category strength</a:t>
            </a:r>
            <a:endParaRPr lang="en-US" sz="1470" dirty="0"/>
          </a:p>
        </p:txBody>
      </p:sp>
      <p:sp>
        <p:nvSpPr>
          <p:cNvPr id="17" name="Text 15"/>
          <p:cNvSpPr/>
          <p:nvPr/>
        </p:nvSpPr>
        <p:spPr>
          <a:xfrm>
            <a:off x="4361688" y="3127248"/>
            <a:ext cx="7296912" cy="640080"/>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At least 2–3 categories show real activity. Score 0–5.</a:t>
            </a:r>
            <a:endParaRPr lang="en-US" sz="1470" dirty="0"/>
          </a:p>
        </p:txBody>
      </p:sp>
      <p:sp>
        <p:nvSpPr>
          <p:cNvPr id="18" name="Shape 16"/>
          <p:cNvSpPr/>
          <p:nvPr/>
        </p:nvSpPr>
        <p:spPr>
          <a:xfrm>
            <a:off x="502920" y="3785616"/>
            <a:ext cx="11155680" cy="0"/>
          </a:xfrm>
          <a:prstGeom prst="line">
            <a:avLst/>
          </a:prstGeom>
          <a:noFill/>
          <a:ln w="5080">
            <a:solidFill>
              <a:srgbClr val="C9D6E2">
                <a:alpha val="60000"/>
              </a:srgbClr>
            </a:solidFill>
            <a:prstDash val="solid"/>
          </a:ln>
        </p:spPr>
      </p:sp>
      <p:sp>
        <p:nvSpPr>
          <p:cNvPr id="19" name="Text 17"/>
          <p:cNvSpPr/>
          <p:nvPr/>
        </p:nvSpPr>
        <p:spPr>
          <a:xfrm>
            <a:off x="502920" y="3840480"/>
            <a:ext cx="3657600" cy="640080"/>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Operations workload</a:t>
            </a:r>
            <a:endParaRPr lang="en-US" sz="1470" dirty="0"/>
          </a:p>
        </p:txBody>
      </p:sp>
      <p:sp>
        <p:nvSpPr>
          <p:cNvPr id="20" name="Text 18"/>
          <p:cNvSpPr/>
          <p:nvPr/>
        </p:nvSpPr>
        <p:spPr>
          <a:xfrm>
            <a:off x="4361688" y="3840480"/>
            <a:ext cx="7296912" cy="640080"/>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Team can support manual matching. Score 0–5.</a:t>
            </a:r>
            <a:endParaRPr lang="en-US" sz="1470" dirty="0"/>
          </a:p>
        </p:txBody>
      </p:sp>
      <p:sp>
        <p:nvSpPr>
          <p:cNvPr id="21" name="Shape 19"/>
          <p:cNvSpPr/>
          <p:nvPr/>
        </p:nvSpPr>
        <p:spPr>
          <a:xfrm>
            <a:off x="502920" y="4498848"/>
            <a:ext cx="11155680" cy="0"/>
          </a:xfrm>
          <a:prstGeom prst="line">
            <a:avLst/>
          </a:prstGeom>
          <a:noFill/>
          <a:ln w="5080">
            <a:solidFill>
              <a:srgbClr val="C9D6E2">
                <a:alpha val="60000"/>
              </a:srgbClr>
            </a:solidFill>
            <a:prstDash val="solid"/>
          </a:ln>
        </p:spPr>
      </p:sp>
      <p:sp>
        <p:nvSpPr>
          <p:cNvPr id="22" name="Text 20"/>
          <p:cNvSpPr/>
          <p:nvPr/>
        </p:nvSpPr>
        <p:spPr>
          <a:xfrm>
            <a:off x="502920" y="4553712"/>
            <a:ext cx="3657600" cy="640080"/>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Repeat potential</a:t>
            </a:r>
            <a:endParaRPr lang="en-US" sz="1470" dirty="0"/>
          </a:p>
        </p:txBody>
      </p:sp>
      <p:sp>
        <p:nvSpPr>
          <p:cNvPr id="23" name="Text 21"/>
          <p:cNvSpPr/>
          <p:nvPr/>
        </p:nvSpPr>
        <p:spPr>
          <a:xfrm>
            <a:off x="4361688" y="4553712"/>
            <a:ext cx="7296912" cy="640080"/>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Clients/providers would use KAILA again. Score 0–5.</a:t>
            </a:r>
            <a:endParaRPr lang="en-US" sz="1470" dirty="0"/>
          </a:p>
        </p:txBody>
      </p:sp>
      <p:sp>
        <p:nvSpPr>
          <p:cNvPr id="24" name="Shape 22"/>
          <p:cNvSpPr/>
          <p:nvPr/>
        </p:nvSpPr>
        <p:spPr>
          <a:xfrm>
            <a:off x="502920" y="5212080"/>
            <a:ext cx="11155680" cy="0"/>
          </a:xfrm>
          <a:prstGeom prst="line">
            <a:avLst/>
          </a:prstGeom>
          <a:noFill/>
          <a:ln w="5080">
            <a:solidFill>
              <a:srgbClr val="C9D6E2">
                <a:alpha val="60000"/>
              </a:srgbClr>
            </a:solidFill>
            <a:prstDash val="solid"/>
          </a:ln>
        </p:spPr>
      </p:sp>
      <p:sp>
        <p:nvSpPr>
          <p:cNvPr id="25" name="Text 23"/>
          <p:cNvSpPr/>
          <p:nvPr/>
        </p:nvSpPr>
        <p:spPr>
          <a:xfrm>
            <a:off x="502920" y="5266944"/>
            <a:ext cx="3657600" cy="640080"/>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Decision rule</a:t>
            </a:r>
            <a:endParaRPr lang="en-US" sz="1470" dirty="0"/>
          </a:p>
        </p:txBody>
      </p:sp>
      <p:sp>
        <p:nvSpPr>
          <p:cNvPr id="26" name="Text 24"/>
          <p:cNvSpPr/>
          <p:nvPr/>
        </p:nvSpPr>
        <p:spPr>
          <a:xfrm>
            <a:off x="4361688" y="5266944"/>
            <a:ext cx="7296912" cy="640080"/>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Proceed if evidence is strong; narrow if only few categories work; redesign/pause if trust or participation is weak.</a:t>
            </a:r>
            <a:endParaRPr lang="en-US" sz="1470" dirty="0"/>
          </a:p>
        </p:txBody>
      </p:sp>
      <p:sp>
        <p:nvSpPr>
          <p:cNvPr id="27" name="Shape 25"/>
          <p:cNvSpPr/>
          <p:nvPr/>
        </p:nvSpPr>
        <p:spPr>
          <a:xfrm>
            <a:off x="502920" y="5925312"/>
            <a:ext cx="11155680" cy="0"/>
          </a:xfrm>
          <a:prstGeom prst="line">
            <a:avLst/>
          </a:prstGeom>
          <a:noFill/>
          <a:ln w="5080">
            <a:solidFill>
              <a:srgbClr val="C9D6E2">
                <a:alpha val="60000"/>
              </a:srgbClr>
            </a:solidFill>
            <a:prstDash val="solid"/>
          </a:ln>
        </p:spPr>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Pilot Report</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Final Pilot Report Template — Part 1</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Prepare this before deciding whether to build the MVP.</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Pilot Report</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53</a:t>
            </a:r>
            <a:endParaRPr lang="en-US" sz="850" dirty="0"/>
          </a:p>
        </p:txBody>
      </p:sp>
      <p:sp>
        <p:nvSpPr>
          <p:cNvPr id="8" name="Text 6"/>
          <p:cNvSpPr/>
          <p:nvPr/>
        </p:nvSpPr>
        <p:spPr>
          <a:xfrm>
            <a:off x="502920" y="1380744"/>
            <a:ext cx="329184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995928" y="1380744"/>
            <a:ext cx="766267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291840" cy="640080"/>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Executive summary</a:t>
            </a:r>
            <a:endParaRPr lang="en-US" sz="1480" dirty="0"/>
          </a:p>
        </p:txBody>
      </p:sp>
      <p:sp>
        <p:nvSpPr>
          <p:cNvPr id="11" name="Text 9"/>
          <p:cNvSpPr/>
          <p:nvPr/>
        </p:nvSpPr>
        <p:spPr>
          <a:xfrm>
            <a:off x="3995928" y="1700784"/>
            <a:ext cx="7662672" cy="640080"/>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Brief result: proceed, narrow, redesign, or pause.</a:t>
            </a:r>
            <a:endParaRPr lang="en-US" sz="1480" dirty="0"/>
          </a:p>
        </p:txBody>
      </p:sp>
      <p:sp>
        <p:nvSpPr>
          <p:cNvPr id="12" name="Shape 10"/>
          <p:cNvSpPr/>
          <p:nvPr/>
        </p:nvSpPr>
        <p:spPr>
          <a:xfrm>
            <a:off x="502920" y="2359152"/>
            <a:ext cx="11155680" cy="0"/>
          </a:xfrm>
          <a:prstGeom prst="line">
            <a:avLst/>
          </a:prstGeom>
          <a:noFill/>
          <a:ln w="5080">
            <a:solidFill>
              <a:srgbClr val="C9D6E2">
                <a:alpha val="60000"/>
              </a:srgbClr>
            </a:solidFill>
            <a:prstDash val="solid"/>
          </a:ln>
        </p:spPr>
      </p:sp>
      <p:sp>
        <p:nvSpPr>
          <p:cNvPr id="13" name="Text 11"/>
          <p:cNvSpPr/>
          <p:nvPr/>
        </p:nvSpPr>
        <p:spPr>
          <a:xfrm>
            <a:off x="502920" y="2414016"/>
            <a:ext cx="3291840" cy="640080"/>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Pilot area and dates</a:t>
            </a:r>
            <a:endParaRPr lang="en-US" sz="1480" dirty="0"/>
          </a:p>
        </p:txBody>
      </p:sp>
      <p:sp>
        <p:nvSpPr>
          <p:cNvPr id="14" name="Text 12"/>
          <p:cNvSpPr/>
          <p:nvPr/>
        </p:nvSpPr>
        <p:spPr>
          <a:xfrm>
            <a:off x="3995928" y="2414016"/>
            <a:ext cx="7662672" cy="640080"/>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Barangays covered and active matching period.</a:t>
            </a:r>
            <a:endParaRPr lang="en-US" sz="1480" dirty="0"/>
          </a:p>
        </p:txBody>
      </p:sp>
      <p:sp>
        <p:nvSpPr>
          <p:cNvPr id="15" name="Shape 13"/>
          <p:cNvSpPr/>
          <p:nvPr/>
        </p:nvSpPr>
        <p:spPr>
          <a:xfrm>
            <a:off x="502920" y="3072384"/>
            <a:ext cx="11155680" cy="0"/>
          </a:xfrm>
          <a:prstGeom prst="line">
            <a:avLst/>
          </a:prstGeom>
          <a:noFill/>
          <a:ln w="5080">
            <a:solidFill>
              <a:srgbClr val="C9D6E2">
                <a:alpha val="60000"/>
              </a:srgbClr>
            </a:solidFill>
            <a:prstDash val="solid"/>
          </a:ln>
        </p:spPr>
      </p:sp>
      <p:sp>
        <p:nvSpPr>
          <p:cNvPr id="16" name="Text 14"/>
          <p:cNvSpPr/>
          <p:nvPr/>
        </p:nvSpPr>
        <p:spPr>
          <a:xfrm>
            <a:off x="502920" y="3127248"/>
            <a:ext cx="3291840" cy="640080"/>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Provider results</a:t>
            </a:r>
            <a:endParaRPr lang="en-US" sz="1480" dirty="0"/>
          </a:p>
        </p:txBody>
      </p:sp>
      <p:sp>
        <p:nvSpPr>
          <p:cNvPr id="17" name="Text 15"/>
          <p:cNvSpPr/>
          <p:nvPr/>
        </p:nvSpPr>
        <p:spPr>
          <a:xfrm>
            <a:off x="3995928" y="3127248"/>
            <a:ext cx="7662672" cy="640080"/>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Total providers, active providers, categories covered, top providers.</a:t>
            </a:r>
            <a:endParaRPr lang="en-US" sz="1480" dirty="0"/>
          </a:p>
        </p:txBody>
      </p:sp>
      <p:sp>
        <p:nvSpPr>
          <p:cNvPr id="18" name="Shape 16"/>
          <p:cNvSpPr/>
          <p:nvPr/>
        </p:nvSpPr>
        <p:spPr>
          <a:xfrm>
            <a:off x="502920" y="3785616"/>
            <a:ext cx="11155680" cy="0"/>
          </a:xfrm>
          <a:prstGeom prst="line">
            <a:avLst/>
          </a:prstGeom>
          <a:noFill/>
          <a:ln w="5080">
            <a:solidFill>
              <a:srgbClr val="C9D6E2">
                <a:alpha val="60000"/>
              </a:srgbClr>
            </a:solidFill>
            <a:prstDash val="solid"/>
          </a:ln>
        </p:spPr>
      </p:sp>
      <p:sp>
        <p:nvSpPr>
          <p:cNvPr id="19" name="Text 17"/>
          <p:cNvSpPr/>
          <p:nvPr/>
        </p:nvSpPr>
        <p:spPr>
          <a:xfrm>
            <a:off x="502920" y="3840480"/>
            <a:ext cx="3291840" cy="640080"/>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Client validation results</a:t>
            </a:r>
            <a:endParaRPr lang="en-US" sz="1480" dirty="0"/>
          </a:p>
        </p:txBody>
      </p:sp>
      <p:sp>
        <p:nvSpPr>
          <p:cNvPr id="20" name="Text 18"/>
          <p:cNvSpPr/>
          <p:nvPr/>
        </p:nvSpPr>
        <p:spPr>
          <a:xfrm>
            <a:off x="3995928" y="3840480"/>
            <a:ext cx="7662672" cy="640080"/>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Survey count, strongest pain points, willingness to use KAILA.</a:t>
            </a:r>
            <a:endParaRPr lang="en-US" sz="1480" dirty="0"/>
          </a:p>
        </p:txBody>
      </p:sp>
      <p:sp>
        <p:nvSpPr>
          <p:cNvPr id="21" name="Shape 19"/>
          <p:cNvSpPr/>
          <p:nvPr/>
        </p:nvSpPr>
        <p:spPr>
          <a:xfrm>
            <a:off x="502920" y="4498848"/>
            <a:ext cx="11155680" cy="0"/>
          </a:xfrm>
          <a:prstGeom prst="line">
            <a:avLst/>
          </a:prstGeom>
          <a:noFill/>
          <a:ln w="5080">
            <a:solidFill>
              <a:srgbClr val="C9D6E2">
                <a:alpha val="60000"/>
              </a:srgbClr>
            </a:solidFill>
            <a:prstDash val="solid"/>
          </a:ln>
        </p:spPr>
      </p:sp>
      <p:sp>
        <p:nvSpPr>
          <p:cNvPr id="22" name="Text 20"/>
          <p:cNvSpPr/>
          <p:nvPr/>
        </p:nvSpPr>
        <p:spPr>
          <a:xfrm>
            <a:off x="502920" y="4553712"/>
            <a:ext cx="3291840" cy="640080"/>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Request results</a:t>
            </a:r>
            <a:endParaRPr lang="en-US" sz="1480" dirty="0"/>
          </a:p>
        </p:txBody>
      </p:sp>
      <p:sp>
        <p:nvSpPr>
          <p:cNvPr id="23" name="Text 21"/>
          <p:cNvSpPr/>
          <p:nvPr/>
        </p:nvSpPr>
        <p:spPr>
          <a:xfrm>
            <a:off x="3995928" y="4553712"/>
            <a:ext cx="7662672" cy="640080"/>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Total requests, category distribution, barangay distribution, urgency mix.</a:t>
            </a:r>
            <a:endParaRPr lang="en-US" sz="1480" dirty="0"/>
          </a:p>
        </p:txBody>
      </p:sp>
      <p:sp>
        <p:nvSpPr>
          <p:cNvPr id="24" name="Shape 22"/>
          <p:cNvSpPr/>
          <p:nvPr/>
        </p:nvSpPr>
        <p:spPr>
          <a:xfrm>
            <a:off x="502920" y="5212080"/>
            <a:ext cx="11155680" cy="0"/>
          </a:xfrm>
          <a:prstGeom prst="line">
            <a:avLst/>
          </a:prstGeom>
          <a:noFill/>
          <a:ln w="5080">
            <a:solidFill>
              <a:srgbClr val="C9D6E2">
                <a:alpha val="60000"/>
              </a:srgbClr>
            </a:solidFill>
            <a:prstDash val="solid"/>
          </a:ln>
        </p:spPr>
      </p:sp>
      <p:sp>
        <p:nvSpPr>
          <p:cNvPr id="25" name="Text 23"/>
          <p:cNvSpPr/>
          <p:nvPr/>
        </p:nvSpPr>
        <p:spPr>
          <a:xfrm>
            <a:off x="502920" y="5266944"/>
            <a:ext cx="3291840" cy="640080"/>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Matching results</a:t>
            </a:r>
            <a:endParaRPr lang="en-US" sz="1480" dirty="0"/>
          </a:p>
        </p:txBody>
      </p:sp>
      <p:sp>
        <p:nvSpPr>
          <p:cNvPr id="26" name="Text 24"/>
          <p:cNvSpPr/>
          <p:nvPr/>
        </p:nvSpPr>
        <p:spPr>
          <a:xfrm>
            <a:off x="3995928" y="5266944"/>
            <a:ext cx="7662672" cy="640080"/>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Providers contacted, response rate, offers per request, time to first response.</a:t>
            </a:r>
            <a:endParaRPr lang="en-US" sz="1480" dirty="0"/>
          </a:p>
        </p:txBody>
      </p:sp>
      <p:sp>
        <p:nvSpPr>
          <p:cNvPr id="27" name="Shape 25"/>
          <p:cNvSpPr/>
          <p:nvPr/>
        </p:nvSpPr>
        <p:spPr>
          <a:xfrm>
            <a:off x="502920" y="5925312"/>
            <a:ext cx="11155680" cy="0"/>
          </a:xfrm>
          <a:prstGeom prst="line">
            <a:avLst/>
          </a:prstGeom>
          <a:noFill/>
          <a:ln w="5080">
            <a:solidFill>
              <a:srgbClr val="C9D6E2">
                <a:alpha val="60000"/>
              </a:srgbClr>
            </a:solidFill>
            <a:prstDash val="solid"/>
          </a:ln>
        </p:spPr>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Pilot Report</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Final Pilot Report Template — Part 2</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Include financial, trust, and recommendation details.</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Pilot Report</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54</a:t>
            </a:r>
            <a:endParaRPr lang="en-US" sz="850" dirty="0"/>
          </a:p>
        </p:txBody>
      </p:sp>
      <p:sp>
        <p:nvSpPr>
          <p:cNvPr id="8" name="Text 6"/>
          <p:cNvSpPr/>
          <p:nvPr/>
        </p:nvSpPr>
        <p:spPr>
          <a:xfrm>
            <a:off x="502920" y="1380744"/>
            <a:ext cx="329184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995928" y="1380744"/>
            <a:ext cx="766267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291840" cy="640080"/>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Job outcomes</a:t>
            </a:r>
            <a:endParaRPr lang="en-US" sz="1490" dirty="0"/>
          </a:p>
        </p:txBody>
      </p:sp>
      <p:sp>
        <p:nvSpPr>
          <p:cNvPr id="11" name="Text 9"/>
          <p:cNvSpPr/>
          <p:nvPr/>
        </p:nvSpPr>
        <p:spPr>
          <a:xfrm>
            <a:off x="3995928" y="1700784"/>
            <a:ext cx="7662672" cy="640080"/>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Completed jobs, strongly matched jobs, cancelled requests, no-response requests.</a:t>
            </a:r>
            <a:endParaRPr lang="en-US" sz="1490" dirty="0"/>
          </a:p>
        </p:txBody>
      </p:sp>
      <p:sp>
        <p:nvSpPr>
          <p:cNvPr id="12" name="Shape 10"/>
          <p:cNvSpPr/>
          <p:nvPr/>
        </p:nvSpPr>
        <p:spPr>
          <a:xfrm>
            <a:off x="502920" y="2359152"/>
            <a:ext cx="11155680" cy="0"/>
          </a:xfrm>
          <a:prstGeom prst="line">
            <a:avLst/>
          </a:prstGeom>
          <a:noFill/>
          <a:ln w="5080">
            <a:solidFill>
              <a:srgbClr val="C9D6E2">
                <a:alpha val="60000"/>
              </a:srgbClr>
            </a:solidFill>
            <a:prstDash val="solid"/>
          </a:ln>
        </p:spPr>
      </p:sp>
      <p:sp>
        <p:nvSpPr>
          <p:cNvPr id="13" name="Text 11"/>
          <p:cNvSpPr/>
          <p:nvPr/>
        </p:nvSpPr>
        <p:spPr>
          <a:xfrm>
            <a:off x="502920" y="2414016"/>
            <a:ext cx="3291840" cy="640080"/>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GMV</a:t>
            </a:r>
            <a:endParaRPr lang="en-US" sz="1490" dirty="0"/>
          </a:p>
        </p:txBody>
      </p:sp>
      <p:sp>
        <p:nvSpPr>
          <p:cNvPr id="14" name="Text 12"/>
          <p:cNvSpPr/>
          <p:nvPr/>
        </p:nvSpPr>
        <p:spPr>
          <a:xfrm>
            <a:off x="3995928" y="2414016"/>
            <a:ext cx="7662672" cy="640080"/>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Total value of completed jobs.</a:t>
            </a:r>
            <a:endParaRPr lang="en-US" sz="1490" dirty="0"/>
          </a:p>
        </p:txBody>
      </p:sp>
      <p:sp>
        <p:nvSpPr>
          <p:cNvPr id="15" name="Shape 13"/>
          <p:cNvSpPr/>
          <p:nvPr/>
        </p:nvSpPr>
        <p:spPr>
          <a:xfrm>
            <a:off x="502920" y="3072384"/>
            <a:ext cx="11155680" cy="0"/>
          </a:xfrm>
          <a:prstGeom prst="line">
            <a:avLst/>
          </a:prstGeom>
          <a:noFill/>
          <a:ln w="5080">
            <a:solidFill>
              <a:srgbClr val="C9D6E2">
                <a:alpha val="60000"/>
              </a:srgbClr>
            </a:solidFill>
            <a:prstDash val="solid"/>
          </a:ln>
        </p:spPr>
      </p:sp>
      <p:sp>
        <p:nvSpPr>
          <p:cNvPr id="16" name="Text 14"/>
          <p:cNvSpPr/>
          <p:nvPr/>
        </p:nvSpPr>
        <p:spPr>
          <a:xfrm>
            <a:off x="502920" y="3127248"/>
            <a:ext cx="3291840" cy="640080"/>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Ratings and trust</a:t>
            </a:r>
            <a:endParaRPr lang="en-US" sz="1490" dirty="0"/>
          </a:p>
        </p:txBody>
      </p:sp>
      <p:sp>
        <p:nvSpPr>
          <p:cNvPr id="17" name="Text 15"/>
          <p:cNvSpPr/>
          <p:nvPr/>
        </p:nvSpPr>
        <p:spPr>
          <a:xfrm>
            <a:off x="3995928" y="3127248"/>
            <a:ext cx="7662672" cy="640080"/>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Average client rating, provider rating, comments, trust issues.</a:t>
            </a:r>
            <a:endParaRPr lang="en-US" sz="1490" dirty="0"/>
          </a:p>
        </p:txBody>
      </p:sp>
      <p:sp>
        <p:nvSpPr>
          <p:cNvPr id="18" name="Shape 16"/>
          <p:cNvSpPr/>
          <p:nvPr/>
        </p:nvSpPr>
        <p:spPr>
          <a:xfrm>
            <a:off x="502920" y="3785616"/>
            <a:ext cx="11155680" cy="0"/>
          </a:xfrm>
          <a:prstGeom prst="line">
            <a:avLst/>
          </a:prstGeom>
          <a:noFill/>
          <a:ln w="5080">
            <a:solidFill>
              <a:srgbClr val="C9D6E2">
                <a:alpha val="60000"/>
              </a:srgbClr>
            </a:solidFill>
            <a:prstDash val="solid"/>
          </a:ln>
        </p:spPr>
      </p:sp>
      <p:sp>
        <p:nvSpPr>
          <p:cNvPr id="19" name="Text 17"/>
          <p:cNvSpPr/>
          <p:nvPr/>
        </p:nvSpPr>
        <p:spPr>
          <a:xfrm>
            <a:off x="502920" y="3840480"/>
            <a:ext cx="3291840" cy="640080"/>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Disputes</a:t>
            </a:r>
            <a:endParaRPr lang="en-US" sz="1490" dirty="0"/>
          </a:p>
        </p:txBody>
      </p:sp>
      <p:sp>
        <p:nvSpPr>
          <p:cNvPr id="20" name="Text 18"/>
          <p:cNvSpPr/>
          <p:nvPr/>
        </p:nvSpPr>
        <p:spPr>
          <a:xfrm>
            <a:off x="3995928" y="3840480"/>
            <a:ext cx="7662672" cy="640080"/>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Number, types, actions taken, unresolved issues.</a:t>
            </a:r>
            <a:endParaRPr lang="en-US" sz="1490" dirty="0"/>
          </a:p>
        </p:txBody>
      </p:sp>
      <p:sp>
        <p:nvSpPr>
          <p:cNvPr id="21" name="Shape 19"/>
          <p:cNvSpPr/>
          <p:nvPr/>
        </p:nvSpPr>
        <p:spPr>
          <a:xfrm>
            <a:off x="502920" y="4498848"/>
            <a:ext cx="11155680" cy="0"/>
          </a:xfrm>
          <a:prstGeom prst="line">
            <a:avLst/>
          </a:prstGeom>
          <a:noFill/>
          <a:ln w="5080">
            <a:solidFill>
              <a:srgbClr val="C9D6E2">
                <a:alpha val="60000"/>
              </a:srgbClr>
            </a:solidFill>
            <a:prstDash val="solid"/>
          </a:ln>
        </p:spPr>
      </p:sp>
      <p:sp>
        <p:nvSpPr>
          <p:cNvPr id="22" name="Text 20"/>
          <p:cNvSpPr/>
          <p:nvPr/>
        </p:nvSpPr>
        <p:spPr>
          <a:xfrm>
            <a:off x="502920" y="4553712"/>
            <a:ext cx="3291840" cy="640080"/>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Best categories</a:t>
            </a:r>
            <a:endParaRPr lang="en-US" sz="1490" dirty="0"/>
          </a:p>
        </p:txBody>
      </p:sp>
      <p:sp>
        <p:nvSpPr>
          <p:cNvPr id="23" name="Text 21"/>
          <p:cNvSpPr/>
          <p:nvPr/>
        </p:nvSpPr>
        <p:spPr>
          <a:xfrm>
            <a:off x="3995928" y="4553712"/>
            <a:ext cx="7662672" cy="640080"/>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Categories with strongest demand and provider response.</a:t>
            </a:r>
            <a:endParaRPr lang="en-US" sz="1490" dirty="0"/>
          </a:p>
        </p:txBody>
      </p:sp>
      <p:sp>
        <p:nvSpPr>
          <p:cNvPr id="24" name="Shape 22"/>
          <p:cNvSpPr/>
          <p:nvPr/>
        </p:nvSpPr>
        <p:spPr>
          <a:xfrm>
            <a:off x="502920" y="5212080"/>
            <a:ext cx="11155680" cy="0"/>
          </a:xfrm>
          <a:prstGeom prst="line">
            <a:avLst/>
          </a:prstGeom>
          <a:noFill/>
          <a:ln w="5080">
            <a:solidFill>
              <a:srgbClr val="C9D6E2">
                <a:alpha val="60000"/>
              </a:srgbClr>
            </a:solidFill>
            <a:prstDash val="solid"/>
          </a:ln>
        </p:spPr>
      </p:sp>
      <p:sp>
        <p:nvSpPr>
          <p:cNvPr id="25" name="Text 23"/>
          <p:cNvSpPr/>
          <p:nvPr/>
        </p:nvSpPr>
        <p:spPr>
          <a:xfrm>
            <a:off x="502920" y="5266944"/>
            <a:ext cx="3291840" cy="640080"/>
          </a:xfrm>
          <a:prstGeom prst="rect">
            <a:avLst/>
          </a:prstGeom>
          <a:noFill/>
          <a:ln/>
        </p:spPr>
        <p:txBody>
          <a:bodyPr wrap="square" lIns="0" tIns="0" rIns="0" bIns="0" rtlCol="0" anchor="ctr">
            <a:normAutofit/>
          </a:bodyPr>
          <a:lstStyle/>
          <a:p>
            <a:pPr indent="0" marL="0">
              <a:buNone/>
            </a:pPr>
            <a:r>
              <a:rPr lang="en-US" sz="1490" b="1" dirty="0">
                <a:solidFill>
                  <a:srgbClr val="17324D"/>
                </a:solidFill>
                <a:latin typeface="Aptos" pitchFamily="34" charset="0"/>
                <a:ea typeface="Aptos" pitchFamily="34" charset="-122"/>
                <a:cs typeface="Aptos" pitchFamily="34" charset="-120"/>
              </a:rPr>
              <a:t>Recommended next move</a:t>
            </a:r>
            <a:endParaRPr lang="en-US" sz="1490" dirty="0"/>
          </a:p>
        </p:txBody>
      </p:sp>
      <p:sp>
        <p:nvSpPr>
          <p:cNvPr id="26" name="Text 24"/>
          <p:cNvSpPr/>
          <p:nvPr/>
        </p:nvSpPr>
        <p:spPr>
          <a:xfrm>
            <a:off x="3995928" y="5266944"/>
            <a:ext cx="7662672" cy="640080"/>
          </a:xfrm>
          <a:prstGeom prst="rect">
            <a:avLst/>
          </a:prstGeom>
          <a:noFill/>
          <a:ln/>
        </p:spPr>
        <p:txBody>
          <a:bodyPr wrap="square" lIns="0" tIns="0" rIns="0" bIns="0" rtlCol="0" anchor="ctr">
            <a:normAutofit/>
          </a:bodyPr>
          <a:lstStyle/>
          <a:p>
            <a:pPr indent="0" marL="0">
              <a:buNone/>
            </a:pPr>
            <a:r>
              <a:rPr lang="en-US" sz="1490" dirty="0">
                <a:solidFill>
                  <a:srgbClr val="17324D"/>
                </a:solidFill>
                <a:latin typeface="Aptos" pitchFamily="34" charset="0"/>
                <a:ea typeface="Aptos" pitchFamily="34" charset="-122"/>
                <a:cs typeface="Aptos" pitchFamily="34" charset="-120"/>
              </a:rPr>
              <a:t>Proceed to MVP, narrow categories, extend pilot, redesign, or pause.</a:t>
            </a:r>
            <a:endParaRPr lang="en-US" sz="1490" dirty="0"/>
          </a:p>
        </p:txBody>
      </p:sp>
      <p:sp>
        <p:nvSpPr>
          <p:cNvPr id="27" name="Shape 25"/>
          <p:cNvSpPr/>
          <p:nvPr/>
        </p:nvSpPr>
        <p:spPr>
          <a:xfrm>
            <a:off x="502920" y="5925312"/>
            <a:ext cx="11155680" cy="0"/>
          </a:xfrm>
          <a:prstGeom prst="line">
            <a:avLst/>
          </a:prstGeom>
          <a:noFill/>
          <a:ln w="5080">
            <a:solidFill>
              <a:srgbClr val="C9D6E2">
                <a:alpha val="60000"/>
              </a:srgbClr>
            </a:solidFill>
            <a:prstDash val="solid"/>
          </a:ln>
        </p:spPr>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MVP Template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MVP Feature Backlog Template</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Use only after strong validation signals.</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MVP Template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55</a:t>
            </a:r>
            <a:endParaRPr lang="en-US" sz="850" dirty="0"/>
          </a:p>
        </p:txBody>
      </p:sp>
      <p:sp>
        <p:nvSpPr>
          <p:cNvPr id="8" name="Text 6"/>
          <p:cNvSpPr/>
          <p:nvPr/>
        </p:nvSpPr>
        <p:spPr>
          <a:xfrm>
            <a:off x="502920" y="1380744"/>
            <a:ext cx="301752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721608" y="1380744"/>
            <a:ext cx="793699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017520" cy="582603"/>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Feature</a:t>
            </a:r>
            <a:endParaRPr lang="en-US" sz="1510" dirty="0"/>
          </a:p>
        </p:txBody>
      </p:sp>
      <p:sp>
        <p:nvSpPr>
          <p:cNvPr id="11" name="Text 9"/>
          <p:cNvSpPr/>
          <p:nvPr/>
        </p:nvSpPr>
        <p:spPr>
          <a:xfrm>
            <a:off x="3721608" y="1700784"/>
            <a:ext cx="7936992" cy="582603"/>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Short name of feature. Example: Client request posting.</a:t>
            </a:r>
            <a:endParaRPr lang="en-US" sz="1510" dirty="0"/>
          </a:p>
        </p:txBody>
      </p:sp>
      <p:sp>
        <p:nvSpPr>
          <p:cNvPr id="12" name="Shape 10"/>
          <p:cNvSpPr/>
          <p:nvPr/>
        </p:nvSpPr>
        <p:spPr>
          <a:xfrm>
            <a:off x="502920" y="2301675"/>
            <a:ext cx="11155680" cy="0"/>
          </a:xfrm>
          <a:prstGeom prst="line">
            <a:avLst/>
          </a:prstGeom>
          <a:noFill/>
          <a:ln w="5080">
            <a:solidFill>
              <a:srgbClr val="C9D6E2">
                <a:alpha val="60000"/>
              </a:srgbClr>
            </a:solidFill>
            <a:prstDash val="solid"/>
          </a:ln>
        </p:spPr>
      </p:sp>
      <p:sp>
        <p:nvSpPr>
          <p:cNvPr id="13" name="Text 11"/>
          <p:cNvSpPr/>
          <p:nvPr/>
        </p:nvSpPr>
        <p:spPr>
          <a:xfrm>
            <a:off x="502920" y="2356539"/>
            <a:ext cx="3017520" cy="582603"/>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User role</a:t>
            </a:r>
            <a:endParaRPr lang="en-US" sz="1510" dirty="0"/>
          </a:p>
        </p:txBody>
      </p:sp>
      <p:sp>
        <p:nvSpPr>
          <p:cNvPr id="14" name="Text 12"/>
          <p:cNvSpPr/>
          <p:nvPr/>
        </p:nvSpPr>
        <p:spPr>
          <a:xfrm>
            <a:off x="3721608" y="2356539"/>
            <a:ext cx="7936992" cy="582603"/>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Client, provider, admin, operations.</a:t>
            </a:r>
            <a:endParaRPr lang="en-US" sz="1510" dirty="0"/>
          </a:p>
        </p:txBody>
      </p:sp>
      <p:sp>
        <p:nvSpPr>
          <p:cNvPr id="15" name="Shape 13"/>
          <p:cNvSpPr/>
          <p:nvPr/>
        </p:nvSpPr>
        <p:spPr>
          <a:xfrm>
            <a:off x="502920" y="2957431"/>
            <a:ext cx="11155680" cy="0"/>
          </a:xfrm>
          <a:prstGeom prst="line">
            <a:avLst/>
          </a:prstGeom>
          <a:noFill/>
          <a:ln w="5080">
            <a:solidFill>
              <a:srgbClr val="C9D6E2">
                <a:alpha val="60000"/>
              </a:srgbClr>
            </a:solidFill>
            <a:prstDash val="solid"/>
          </a:ln>
        </p:spPr>
      </p:sp>
      <p:sp>
        <p:nvSpPr>
          <p:cNvPr id="16" name="Text 14"/>
          <p:cNvSpPr/>
          <p:nvPr/>
        </p:nvSpPr>
        <p:spPr>
          <a:xfrm>
            <a:off x="502920" y="3012295"/>
            <a:ext cx="3017520" cy="582603"/>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Pilot evidence</a:t>
            </a:r>
            <a:endParaRPr lang="en-US" sz="1510" dirty="0"/>
          </a:p>
        </p:txBody>
      </p:sp>
      <p:sp>
        <p:nvSpPr>
          <p:cNvPr id="17" name="Text 15"/>
          <p:cNvSpPr/>
          <p:nvPr/>
        </p:nvSpPr>
        <p:spPr>
          <a:xfrm>
            <a:off x="3721608" y="3012295"/>
            <a:ext cx="7936992" cy="582603"/>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Which manual workflow proved this feature is needed?</a:t>
            </a:r>
            <a:endParaRPr lang="en-US" sz="1510" dirty="0"/>
          </a:p>
        </p:txBody>
      </p:sp>
      <p:sp>
        <p:nvSpPr>
          <p:cNvPr id="18" name="Shape 16"/>
          <p:cNvSpPr/>
          <p:nvPr/>
        </p:nvSpPr>
        <p:spPr>
          <a:xfrm>
            <a:off x="502920" y="3613186"/>
            <a:ext cx="11155680" cy="0"/>
          </a:xfrm>
          <a:prstGeom prst="line">
            <a:avLst/>
          </a:prstGeom>
          <a:noFill/>
          <a:ln w="5080">
            <a:solidFill>
              <a:srgbClr val="C9D6E2">
                <a:alpha val="60000"/>
              </a:srgbClr>
            </a:solidFill>
            <a:prstDash val="solid"/>
          </a:ln>
        </p:spPr>
      </p:sp>
      <p:sp>
        <p:nvSpPr>
          <p:cNvPr id="19" name="Text 17"/>
          <p:cNvSpPr/>
          <p:nvPr/>
        </p:nvSpPr>
        <p:spPr>
          <a:xfrm>
            <a:off x="502920" y="3668050"/>
            <a:ext cx="3017520" cy="582603"/>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Priority</a:t>
            </a:r>
            <a:endParaRPr lang="en-US" sz="1510" dirty="0"/>
          </a:p>
        </p:txBody>
      </p:sp>
      <p:sp>
        <p:nvSpPr>
          <p:cNvPr id="20" name="Text 18"/>
          <p:cNvSpPr/>
          <p:nvPr/>
        </p:nvSpPr>
        <p:spPr>
          <a:xfrm>
            <a:off x="3721608" y="3668050"/>
            <a:ext cx="7936992" cy="582603"/>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Must have, should have, later.</a:t>
            </a:r>
            <a:endParaRPr lang="en-US" sz="1510" dirty="0"/>
          </a:p>
        </p:txBody>
      </p:sp>
      <p:sp>
        <p:nvSpPr>
          <p:cNvPr id="21" name="Shape 19"/>
          <p:cNvSpPr/>
          <p:nvPr/>
        </p:nvSpPr>
        <p:spPr>
          <a:xfrm>
            <a:off x="502920" y="4268942"/>
            <a:ext cx="11155680" cy="0"/>
          </a:xfrm>
          <a:prstGeom prst="line">
            <a:avLst/>
          </a:prstGeom>
          <a:noFill/>
          <a:ln w="5080">
            <a:solidFill>
              <a:srgbClr val="C9D6E2">
                <a:alpha val="60000"/>
              </a:srgbClr>
            </a:solidFill>
            <a:prstDash val="solid"/>
          </a:ln>
        </p:spPr>
      </p:sp>
      <p:sp>
        <p:nvSpPr>
          <p:cNvPr id="22" name="Text 20"/>
          <p:cNvSpPr/>
          <p:nvPr/>
        </p:nvSpPr>
        <p:spPr>
          <a:xfrm>
            <a:off x="502920" y="4323806"/>
            <a:ext cx="3017520" cy="582603"/>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Acceptance criteria</a:t>
            </a:r>
            <a:endParaRPr lang="en-US" sz="1510" dirty="0"/>
          </a:p>
        </p:txBody>
      </p:sp>
      <p:sp>
        <p:nvSpPr>
          <p:cNvPr id="23" name="Text 21"/>
          <p:cNvSpPr/>
          <p:nvPr/>
        </p:nvSpPr>
        <p:spPr>
          <a:xfrm>
            <a:off x="3721608" y="4323806"/>
            <a:ext cx="7936992" cy="582603"/>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How to know the feature works.</a:t>
            </a:r>
            <a:endParaRPr lang="en-US" sz="1510" dirty="0"/>
          </a:p>
        </p:txBody>
      </p:sp>
      <p:sp>
        <p:nvSpPr>
          <p:cNvPr id="24" name="Shape 22"/>
          <p:cNvSpPr/>
          <p:nvPr/>
        </p:nvSpPr>
        <p:spPr>
          <a:xfrm>
            <a:off x="502920" y="4924697"/>
            <a:ext cx="11155680" cy="0"/>
          </a:xfrm>
          <a:prstGeom prst="line">
            <a:avLst/>
          </a:prstGeom>
          <a:noFill/>
          <a:ln w="5080">
            <a:solidFill>
              <a:srgbClr val="C9D6E2">
                <a:alpha val="60000"/>
              </a:srgbClr>
            </a:solidFill>
            <a:prstDash val="solid"/>
          </a:ln>
        </p:spPr>
      </p:sp>
      <p:sp>
        <p:nvSpPr>
          <p:cNvPr id="25" name="Text 23"/>
          <p:cNvSpPr/>
          <p:nvPr/>
        </p:nvSpPr>
        <p:spPr>
          <a:xfrm>
            <a:off x="502920" y="4979561"/>
            <a:ext cx="3017520" cy="582603"/>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Risks</a:t>
            </a:r>
            <a:endParaRPr lang="en-US" sz="1510" dirty="0"/>
          </a:p>
        </p:txBody>
      </p:sp>
      <p:sp>
        <p:nvSpPr>
          <p:cNvPr id="26" name="Text 24"/>
          <p:cNvSpPr/>
          <p:nvPr/>
        </p:nvSpPr>
        <p:spPr>
          <a:xfrm>
            <a:off x="3721608" y="4979561"/>
            <a:ext cx="7936992" cy="582603"/>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Privacy, safety, complexity, cost, or adoption risks.</a:t>
            </a:r>
            <a:endParaRPr lang="en-US" sz="1510" dirty="0"/>
          </a:p>
        </p:txBody>
      </p:sp>
      <p:sp>
        <p:nvSpPr>
          <p:cNvPr id="27" name="Shape 25"/>
          <p:cNvSpPr/>
          <p:nvPr/>
        </p:nvSpPr>
        <p:spPr>
          <a:xfrm>
            <a:off x="502920" y="5580453"/>
            <a:ext cx="11155680" cy="0"/>
          </a:xfrm>
          <a:prstGeom prst="line">
            <a:avLst/>
          </a:prstGeom>
          <a:noFill/>
          <a:ln w="5080">
            <a:solidFill>
              <a:srgbClr val="C9D6E2">
                <a:alpha val="60000"/>
              </a:srgbClr>
            </a:solidFill>
            <a:prstDash val="solid"/>
          </a:ln>
        </p:spPr>
      </p:sp>
      <p:sp>
        <p:nvSpPr>
          <p:cNvPr id="28" name="Text 26"/>
          <p:cNvSpPr/>
          <p:nvPr/>
        </p:nvSpPr>
        <p:spPr>
          <a:xfrm>
            <a:off x="502920" y="5635317"/>
            <a:ext cx="3017520" cy="582603"/>
          </a:xfrm>
          <a:prstGeom prst="rect">
            <a:avLst/>
          </a:prstGeom>
          <a:noFill/>
          <a:ln/>
        </p:spPr>
        <p:txBody>
          <a:bodyPr wrap="square" lIns="0" tIns="0" rIns="0" bIns="0" rtlCol="0" anchor="ctr">
            <a:normAutofit/>
          </a:bodyPr>
          <a:lstStyle/>
          <a:p>
            <a:pPr indent="0" marL="0">
              <a:buNone/>
            </a:pPr>
            <a:r>
              <a:rPr lang="en-US" sz="1510" b="1" dirty="0">
                <a:solidFill>
                  <a:srgbClr val="17324D"/>
                </a:solidFill>
                <a:latin typeface="Aptos" pitchFamily="34" charset="0"/>
                <a:ea typeface="Aptos" pitchFamily="34" charset="-122"/>
                <a:cs typeface="Aptos" pitchFamily="34" charset="-120"/>
              </a:rPr>
              <a:t>Do not build yet</a:t>
            </a:r>
            <a:endParaRPr lang="en-US" sz="1510" dirty="0"/>
          </a:p>
        </p:txBody>
      </p:sp>
      <p:sp>
        <p:nvSpPr>
          <p:cNvPr id="29" name="Text 27"/>
          <p:cNvSpPr/>
          <p:nvPr/>
        </p:nvSpPr>
        <p:spPr>
          <a:xfrm>
            <a:off x="3721608" y="5635317"/>
            <a:ext cx="7936992" cy="582603"/>
          </a:xfrm>
          <a:prstGeom prst="rect">
            <a:avLst/>
          </a:prstGeom>
          <a:noFill/>
          <a:ln/>
        </p:spPr>
        <p:txBody>
          <a:bodyPr wrap="square" lIns="0" tIns="0" rIns="0" bIns="0" rtlCol="0" anchor="ctr">
            <a:normAutofit/>
          </a:bodyPr>
          <a:lstStyle/>
          <a:p>
            <a:pPr indent="0" marL="0">
              <a:buNone/>
            </a:pPr>
            <a:r>
              <a:rPr lang="en-US" sz="1510" dirty="0">
                <a:solidFill>
                  <a:srgbClr val="17324D"/>
                </a:solidFill>
                <a:latin typeface="Aptos" pitchFamily="34" charset="0"/>
                <a:ea typeface="Aptos" pitchFamily="34" charset="-122"/>
                <a:cs typeface="Aptos" pitchFamily="34" charset="-120"/>
              </a:rPr>
              <a:t>Payments, GPS tracking, native apps, complex AI matching, large automation.</a:t>
            </a:r>
            <a:endParaRPr lang="en-US" sz="1510" dirty="0"/>
          </a:p>
        </p:txBody>
      </p:sp>
      <p:sp>
        <p:nvSpPr>
          <p:cNvPr id="30" name="Shape 28"/>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Monetization Template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Provider Visibility Offer Template</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Draft only after providers feel real value from KAILA.</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Monetization Template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56</a:t>
            </a:r>
            <a:endParaRPr lang="en-US" sz="850" dirty="0"/>
          </a:p>
        </p:txBody>
      </p:sp>
      <p:sp>
        <p:nvSpPr>
          <p:cNvPr id="8" name="Text 6"/>
          <p:cNvSpPr/>
          <p:nvPr/>
        </p:nvSpPr>
        <p:spPr>
          <a:xfrm>
            <a:off x="502920" y="1380744"/>
            <a:ext cx="320040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904488" y="1380744"/>
            <a:ext cx="775411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200400" cy="640080"/>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Free provider profile</a:t>
            </a:r>
            <a:endParaRPr lang="en-US" sz="1480" dirty="0"/>
          </a:p>
        </p:txBody>
      </p:sp>
      <p:sp>
        <p:nvSpPr>
          <p:cNvPr id="11" name="Text 9"/>
          <p:cNvSpPr/>
          <p:nvPr/>
        </p:nvSpPr>
        <p:spPr>
          <a:xfrm>
            <a:off x="3904488" y="1700784"/>
            <a:ext cx="7754112" cy="640080"/>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Basic listing, can receive requests, basic category inclusion.</a:t>
            </a:r>
            <a:endParaRPr lang="en-US" sz="1480" dirty="0"/>
          </a:p>
        </p:txBody>
      </p:sp>
      <p:sp>
        <p:nvSpPr>
          <p:cNvPr id="12" name="Shape 10"/>
          <p:cNvSpPr/>
          <p:nvPr/>
        </p:nvSpPr>
        <p:spPr>
          <a:xfrm>
            <a:off x="502920" y="2359152"/>
            <a:ext cx="11155680" cy="0"/>
          </a:xfrm>
          <a:prstGeom prst="line">
            <a:avLst/>
          </a:prstGeom>
          <a:noFill/>
          <a:ln w="5080">
            <a:solidFill>
              <a:srgbClr val="C9D6E2">
                <a:alpha val="60000"/>
              </a:srgbClr>
            </a:solidFill>
            <a:prstDash val="solid"/>
          </a:ln>
        </p:spPr>
      </p:sp>
      <p:sp>
        <p:nvSpPr>
          <p:cNvPr id="13" name="Text 11"/>
          <p:cNvSpPr/>
          <p:nvPr/>
        </p:nvSpPr>
        <p:spPr>
          <a:xfrm>
            <a:off x="502920" y="2414016"/>
            <a:ext cx="3200400" cy="640080"/>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Premium provider profile</a:t>
            </a:r>
            <a:endParaRPr lang="en-US" sz="1480" dirty="0"/>
          </a:p>
        </p:txBody>
      </p:sp>
      <p:sp>
        <p:nvSpPr>
          <p:cNvPr id="14" name="Text 12"/>
          <p:cNvSpPr/>
          <p:nvPr/>
        </p:nvSpPr>
        <p:spPr>
          <a:xfrm>
            <a:off x="3904488" y="2414016"/>
            <a:ext cx="7754112" cy="640080"/>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Featured placement, better profile layout, more work photos, trust badge display.</a:t>
            </a:r>
            <a:endParaRPr lang="en-US" sz="1480" dirty="0"/>
          </a:p>
        </p:txBody>
      </p:sp>
      <p:sp>
        <p:nvSpPr>
          <p:cNvPr id="15" name="Shape 13"/>
          <p:cNvSpPr/>
          <p:nvPr/>
        </p:nvSpPr>
        <p:spPr>
          <a:xfrm>
            <a:off x="502920" y="3072384"/>
            <a:ext cx="11155680" cy="0"/>
          </a:xfrm>
          <a:prstGeom prst="line">
            <a:avLst/>
          </a:prstGeom>
          <a:noFill/>
          <a:ln w="5080">
            <a:solidFill>
              <a:srgbClr val="C9D6E2">
                <a:alpha val="60000"/>
              </a:srgbClr>
            </a:solidFill>
            <a:prstDash val="solid"/>
          </a:ln>
        </p:spPr>
      </p:sp>
      <p:sp>
        <p:nvSpPr>
          <p:cNvPr id="16" name="Text 14"/>
          <p:cNvSpPr/>
          <p:nvPr/>
        </p:nvSpPr>
        <p:spPr>
          <a:xfrm>
            <a:off x="502920" y="3127248"/>
            <a:ext cx="3200400" cy="640080"/>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Monthly performance summary</a:t>
            </a:r>
            <a:endParaRPr lang="en-US" sz="1480" dirty="0"/>
          </a:p>
        </p:txBody>
      </p:sp>
      <p:sp>
        <p:nvSpPr>
          <p:cNvPr id="17" name="Text 15"/>
          <p:cNvSpPr/>
          <p:nvPr/>
        </p:nvSpPr>
        <p:spPr>
          <a:xfrm>
            <a:off x="3904488" y="3127248"/>
            <a:ext cx="7754112" cy="640080"/>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Requests received, replies, jobs completed, ratings, response speed.</a:t>
            </a:r>
            <a:endParaRPr lang="en-US" sz="1480" dirty="0"/>
          </a:p>
        </p:txBody>
      </p:sp>
      <p:sp>
        <p:nvSpPr>
          <p:cNvPr id="18" name="Shape 16"/>
          <p:cNvSpPr/>
          <p:nvPr/>
        </p:nvSpPr>
        <p:spPr>
          <a:xfrm>
            <a:off x="502920" y="3785616"/>
            <a:ext cx="11155680" cy="0"/>
          </a:xfrm>
          <a:prstGeom prst="line">
            <a:avLst/>
          </a:prstGeom>
          <a:noFill/>
          <a:ln w="5080">
            <a:solidFill>
              <a:srgbClr val="C9D6E2">
                <a:alpha val="60000"/>
              </a:srgbClr>
            </a:solidFill>
            <a:prstDash val="solid"/>
          </a:ln>
        </p:spPr>
      </p:sp>
      <p:sp>
        <p:nvSpPr>
          <p:cNvPr id="19" name="Text 17"/>
          <p:cNvSpPr/>
          <p:nvPr/>
        </p:nvSpPr>
        <p:spPr>
          <a:xfrm>
            <a:off x="502920" y="3840480"/>
            <a:ext cx="3200400" cy="640080"/>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Facebook feature</a:t>
            </a:r>
            <a:endParaRPr lang="en-US" sz="1480" dirty="0"/>
          </a:p>
        </p:txBody>
      </p:sp>
      <p:sp>
        <p:nvSpPr>
          <p:cNvPr id="20" name="Text 18"/>
          <p:cNvSpPr/>
          <p:nvPr/>
        </p:nvSpPr>
        <p:spPr>
          <a:xfrm>
            <a:off x="3904488" y="3840480"/>
            <a:ext cx="7754112" cy="640080"/>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Optional featured post for trusted active providers.</a:t>
            </a:r>
            <a:endParaRPr lang="en-US" sz="1480" dirty="0"/>
          </a:p>
        </p:txBody>
      </p:sp>
      <p:sp>
        <p:nvSpPr>
          <p:cNvPr id="21" name="Shape 19"/>
          <p:cNvSpPr/>
          <p:nvPr/>
        </p:nvSpPr>
        <p:spPr>
          <a:xfrm>
            <a:off x="502920" y="4498848"/>
            <a:ext cx="11155680" cy="0"/>
          </a:xfrm>
          <a:prstGeom prst="line">
            <a:avLst/>
          </a:prstGeom>
          <a:noFill/>
          <a:ln w="5080">
            <a:solidFill>
              <a:srgbClr val="C9D6E2">
                <a:alpha val="60000"/>
              </a:srgbClr>
            </a:solidFill>
            <a:prstDash val="solid"/>
          </a:ln>
        </p:spPr>
      </p:sp>
      <p:sp>
        <p:nvSpPr>
          <p:cNvPr id="22" name="Text 20"/>
          <p:cNvSpPr/>
          <p:nvPr/>
        </p:nvSpPr>
        <p:spPr>
          <a:xfrm>
            <a:off x="502920" y="4553712"/>
            <a:ext cx="3200400" cy="640080"/>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Badge display</a:t>
            </a:r>
            <a:endParaRPr lang="en-US" sz="1480" dirty="0"/>
          </a:p>
        </p:txBody>
      </p:sp>
      <p:sp>
        <p:nvSpPr>
          <p:cNvPr id="23" name="Text 21"/>
          <p:cNvSpPr/>
          <p:nvPr/>
        </p:nvSpPr>
        <p:spPr>
          <a:xfrm>
            <a:off x="3904488" y="4553712"/>
            <a:ext cx="7754112" cy="640080"/>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Identity Verified, Work Verified, Top Rated, Certified/Business Verified.</a:t>
            </a:r>
            <a:endParaRPr lang="en-US" sz="1480" dirty="0"/>
          </a:p>
        </p:txBody>
      </p:sp>
      <p:sp>
        <p:nvSpPr>
          <p:cNvPr id="24" name="Shape 22"/>
          <p:cNvSpPr/>
          <p:nvPr/>
        </p:nvSpPr>
        <p:spPr>
          <a:xfrm>
            <a:off x="502920" y="5212080"/>
            <a:ext cx="11155680" cy="0"/>
          </a:xfrm>
          <a:prstGeom prst="line">
            <a:avLst/>
          </a:prstGeom>
          <a:noFill/>
          <a:ln w="5080">
            <a:solidFill>
              <a:srgbClr val="C9D6E2">
                <a:alpha val="60000"/>
              </a:srgbClr>
            </a:solidFill>
            <a:prstDash val="solid"/>
          </a:ln>
        </p:spPr>
      </p:sp>
      <p:sp>
        <p:nvSpPr>
          <p:cNvPr id="25" name="Text 23"/>
          <p:cNvSpPr/>
          <p:nvPr/>
        </p:nvSpPr>
        <p:spPr>
          <a:xfrm>
            <a:off x="502920" y="5266944"/>
            <a:ext cx="3200400" cy="640080"/>
          </a:xfrm>
          <a:prstGeom prst="rect">
            <a:avLst/>
          </a:prstGeom>
          <a:noFill/>
          <a:ln/>
        </p:spPr>
        <p:txBody>
          <a:bodyPr wrap="square" lIns="0" tIns="0" rIns="0" bIns="0" rtlCol="0" anchor="ctr">
            <a:normAutofit/>
          </a:bodyPr>
          <a:lstStyle/>
          <a:p>
            <a:pPr indent="0" marL="0">
              <a:buNone/>
            </a:pPr>
            <a:r>
              <a:rPr lang="en-US" sz="1480" b="1" dirty="0">
                <a:solidFill>
                  <a:srgbClr val="17324D"/>
                </a:solidFill>
                <a:latin typeface="Aptos" pitchFamily="34" charset="0"/>
                <a:ea typeface="Aptos" pitchFamily="34" charset="-122"/>
                <a:cs typeface="Aptos" pitchFamily="34" charset="-120"/>
              </a:rPr>
              <a:t>Important rule</a:t>
            </a:r>
            <a:endParaRPr lang="en-US" sz="1480" dirty="0"/>
          </a:p>
        </p:txBody>
      </p:sp>
      <p:sp>
        <p:nvSpPr>
          <p:cNvPr id="26" name="Text 24"/>
          <p:cNvSpPr/>
          <p:nvPr/>
        </p:nvSpPr>
        <p:spPr>
          <a:xfrm>
            <a:off x="3904488" y="5266944"/>
            <a:ext cx="7754112" cy="640080"/>
          </a:xfrm>
          <a:prstGeom prst="rect">
            <a:avLst/>
          </a:prstGeom>
          <a:noFill/>
          <a:ln/>
        </p:spPr>
        <p:txBody>
          <a:bodyPr wrap="square" lIns="0" tIns="0" rIns="0" bIns="0" rtlCol="0" anchor="ctr">
            <a:normAutofit/>
          </a:bodyPr>
          <a:lstStyle/>
          <a:p>
            <a:pPr indent="0" marL="0">
              <a:buNone/>
            </a:pPr>
            <a:r>
              <a:rPr lang="en-US" sz="1480" dirty="0">
                <a:solidFill>
                  <a:srgbClr val="17324D"/>
                </a:solidFill>
                <a:latin typeface="Aptos" pitchFamily="34" charset="0"/>
                <a:ea typeface="Aptos" pitchFamily="34" charset="-122"/>
                <a:cs typeface="Aptos" pitchFamily="34" charset="-120"/>
              </a:rPr>
              <a:t>Do not charge until usage and trust are proven. Avoid commission as the first paid product.</a:t>
            </a:r>
            <a:endParaRPr lang="en-US" sz="1480" dirty="0"/>
          </a:p>
        </p:txBody>
      </p:sp>
      <p:sp>
        <p:nvSpPr>
          <p:cNvPr id="27" name="Shape 25"/>
          <p:cNvSpPr/>
          <p:nvPr/>
        </p:nvSpPr>
        <p:spPr>
          <a:xfrm>
            <a:off x="502920" y="5925312"/>
            <a:ext cx="11155680" cy="0"/>
          </a:xfrm>
          <a:prstGeom prst="line">
            <a:avLst/>
          </a:prstGeom>
          <a:noFill/>
          <a:ln w="5080">
            <a:solidFill>
              <a:srgbClr val="C9D6E2">
                <a:alpha val="60000"/>
              </a:srgbClr>
            </a:solidFill>
            <a:prstDash val="solid"/>
          </a:ln>
        </p:spPr>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Operations Template</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Folder and File Structure Template</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Keep files organized from Day 1.</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Operations Template</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57</a:t>
            </a:r>
            <a:endParaRPr lang="en-US" sz="850" dirty="0"/>
          </a:p>
        </p:txBody>
      </p:sp>
      <p:sp>
        <p:nvSpPr>
          <p:cNvPr id="8" name="Text 6"/>
          <p:cNvSpPr/>
          <p:nvPr/>
        </p:nvSpPr>
        <p:spPr>
          <a:xfrm>
            <a:off x="502920" y="1380744"/>
            <a:ext cx="3291840"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Field</a:t>
            </a:r>
            <a:endParaRPr lang="en-US" sz="1250" dirty="0"/>
          </a:p>
        </p:txBody>
      </p:sp>
      <p:sp>
        <p:nvSpPr>
          <p:cNvPr id="9" name="Text 7"/>
          <p:cNvSpPr/>
          <p:nvPr/>
        </p:nvSpPr>
        <p:spPr>
          <a:xfrm>
            <a:off x="3995928" y="1380744"/>
            <a:ext cx="7662672" cy="228600"/>
          </a:xfrm>
          <a:prstGeom prst="rect">
            <a:avLst/>
          </a:prstGeom>
          <a:noFill/>
          <a:ln/>
        </p:spPr>
        <p:txBody>
          <a:bodyPr wrap="square" lIns="0" tIns="0" rIns="0" bIns="0" rtlCol="0" anchor="ctr">
            <a:normAutofit/>
          </a:bodyPr>
          <a:lstStyle/>
          <a:p>
            <a:pPr indent="0" marL="0">
              <a:buNone/>
            </a:pPr>
            <a:r>
              <a:rPr lang="en-US" sz="1250" b="1" dirty="0">
                <a:solidFill>
                  <a:srgbClr val="0E5A7A"/>
                </a:solidFill>
              </a:rPr>
              <a:t>Input / Notes</a:t>
            </a:r>
            <a:endParaRPr lang="en-US" sz="1250" dirty="0"/>
          </a:p>
        </p:txBody>
      </p:sp>
      <p:sp>
        <p:nvSpPr>
          <p:cNvPr id="10" name="Text 8"/>
          <p:cNvSpPr/>
          <p:nvPr/>
        </p:nvSpPr>
        <p:spPr>
          <a:xfrm>
            <a:off x="502920" y="1700784"/>
            <a:ext cx="329184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01_Admin</a:t>
            </a:r>
            <a:endParaRPr lang="en-US" sz="1470" dirty="0"/>
          </a:p>
        </p:txBody>
      </p:sp>
      <p:sp>
        <p:nvSpPr>
          <p:cNvPr id="11" name="Text 9"/>
          <p:cNvSpPr/>
          <p:nvPr/>
        </p:nvSpPr>
        <p:spPr>
          <a:xfrm>
            <a:off x="3995928" y="1700784"/>
            <a:ext cx="766267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Founder notes, decision log, budget, meeting notes.</a:t>
            </a:r>
            <a:endParaRPr lang="en-US" sz="1470" dirty="0"/>
          </a:p>
        </p:txBody>
      </p:sp>
      <p:sp>
        <p:nvSpPr>
          <p:cNvPr id="12" name="Shape 10"/>
          <p:cNvSpPr/>
          <p:nvPr/>
        </p:nvSpPr>
        <p:spPr>
          <a:xfrm>
            <a:off x="502920" y="2219706"/>
            <a:ext cx="11155680" cy="0"/>
          </a:xfrm>
          <a:prstGeom prst="line">
            <a:avLst/>
          </a:prstGeom>
          <a:noFill/>
          <a:ln w="5080">
            <a:solidFill>
              <a:srgbClr val="C9D6E2">
                <a:alpha val="60000"/>
              </a:srgbClr>
            </a:solidFill>
            <a:prstDash val="solid"/>
          </a:ln>
        </p:spPr>
      </p:sp>
      <p:sp>
        <p:nvSpPr>
          <p:cNvPr id="13" name="Text 11"/>
          <p:cNvSpPr/>
          <p:nvPr/>
        </p:nvSpPr>
        <p:spPr>
          <a:xfrm>
            <a:off x="502920" y="2274570"/>
            <a:ext cx="329184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02_Provider_Database</a:t>
            </a:r>
            <a:endParaRPr lang="en-US" sz="1470" dirty="0"/>
          </a:p>
        </p:txBody>
      </p:sp>
      <p:sp>
        <p:nvSpPr>
          <p:cNvPr id="14" name="Text 12"/>
          <p:cNvSpPr/>
          <p:nvPr/>
        </p:nvSpPr>
        <p:spPr>
          <a:xfrm>
            <a:off x="3995928" y="2274570"/>
            <a:ext cx="766267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Provider sheet, provider forms, work samples, verification tracker.</a:t>
            </a:r>
            <a:endParaRPr lang="en-US" sz="1470" dirty="0"/>
          </a:p>
        </p:txBody>
      </p:sp>
      <p:sp>
        <p:nvSpPr>
          <p:cNvPr id="15" name="Shape 13"/>
          <p:cNvSpPr/>
          <p:nvPr/>
        </p:nvSpPr>
        <p:spPr>
          <a:xfrm>
            <a:off x="502920" y="2793492"/>
            <a:ext cx="11155680" cy="0"/>
          </a:xfrm>
          <a:prstGeom prst="line">
            <a:avLst/>
          </a:prstGeom>
          <a:noFill/>
          <a:ln w="5080">
            <a:solidFill>
              <a:srgbClr val="C9D6E2">
                <a:alpha val="60000"/>
              </a:srgbClr>
            </a:solidFill>
            <a:prstDash val="solid"/>
          </a:ln>
        </p:spPr>
      </p:sp>
      <p:sp>
        <p:nvSpPr>
          <p:cNvPr id="16" name="Text 14"/>
          <p:cNvSpPr/>
          <p:nvPr/>
        </p:nvSpPr>
        <p:spPr>
          <a:xfrm>
            <a:off x="502920" y="2848356"/>
            <a:ext cx="329184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03_Client_Requests</a:t>
            </a:r>
            <a:endParaRPr lang="en-US" sz="1470" dirty="0"/>
          </a:p>
        </p:txBody>
      </p:sp>
      <p:sp>
        <p:nvSpPr>
          <p:cNvPr id="17" name="Text 15"/>
          <p:cNvSpPr/>
          <p:nvPr/>
        </p:nvSpPr>
        <p:spPr>
          <a:xfrm>
            <a:off x="3995928" y="2848356"/>
            <a:ext cx="766267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Request tracker, request photos/videos, request summaries.</a:t>
            </a:r>
            <a:endParaRPr lang="en-US" sz="1470" dirty="0"/>
          </a:p>
        </p:txBody>
      </p:sp>
      <p:sp>
        <p:nvSpPr>
          <p:cNvPr id="18" name="Shape 16"/>
          <p:cNvSpPr/>
          <p:nvPr/>
        </p:nvSpPr>
        <p:spPr>
          <a:xfrm>
            <a:off x="502920" y="3367278"/>
            <a:ext cx="11155680" cy="0"/>
          </a:xfrm>
          <a:prstGeom prst="line">
            <a:avLst/>
          </a:prstGeom>
          <a:noFill/>
          <a:ln w="5080">
            <a:solidFill>
              <a:srgbClr val="C9D6E2">
                <a:alpha val="60000"/>
              </a:srgbClr>
            </a:solidFill>
            <a:prstDash val="solid"/>
          </a:ln>
        </p:spPr>
      </p:sp>
      <p:sp>
        <p:nvSpPr>
          <p:cNvPr id="19" name="Text 17"/>
          <p:cNvSpPr/>
          <p:nvPr/>
        </p:nvSpPr>
        <p:spPr>
          <a:xfrm>
            <a:off x="502920" y="3422142"/>
            <a:ext cx="329184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04_Job_Logs</a:t>
            </a:r>
            <a:endParaRPr lang="en-US" sz="1470" dirty="0"/>
          </a:p>
        </p:txBody>
      </p:sp>
      <p:sp>
        <p:nvSpPr>
          <p:cNvPr id="20" name="Text 18"/>
          <p:cNvSpPr/>
          <p:nvPr/>
        </p:nvSpPr>
        <p:spPr>
          <a:xfrm>
            <a:off x="3995928" y="3422142"/>
            <a:ext cx="766267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Completed job log, ratings, GMV tracker.</a:t>
            </a:r>
            <a:endParaRPr lang="en-US" sz="1470" dirty="0"/>
          </a:p>
        </p:txBody>
      </p:sp>
      <p:sp>
        <p:nvSpPr>
          <p:cNvPr id="21" name="Shape 19"/>
          <p:cNvSpPr/>
          <p:nvPr/>
        </p:nvSpPr>
        <p:spPr>
          <a:xfrm>
            <a:off x="502920" y="3941064"/>
            <a:ext cx="11155680" cy="0"/>
          </a:xfrm>
          <a:prstGeom prst="line">
            <a:avLst/>
          </a:prstGeom>
          <a:noFill/>
          <a:ln w="5080">
            <a:solidFill>
              <a:srgbClr val="C9D6E2">
                <a:alpha val="60000"/>
              </a:srgbClr>
            </a:solidFill>
            <a:prstDash val="solid"/>
          </a:ln>
        </p:spPr>
      </p:sp>
      <p:sp>
        <p:nvSpPr>
          <p:cNvPr id="22" name="Text 20"/>
          <p:cNvSpPr/>
          <p:nvPr/>
        </p:nvSpPr>
        <p:spPr>
          <a:xfrm>
            <a:off x="502920" y="3995928"/>
            <a:ext cx="329184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05_Disputes</a:t>
            </a:r>
            <a:endParaRPr lang="en-US" sz="1470" dirty="0"/>
          </a:p>
        </p:txBody>
      </p:sp>
      <p:sp>
        <p:nvSpPr>
          <p:cNvPr id="23" name="Text 21"/>
          <p:cNvSpPr/>
          <p:nvPr/>
        </p:nvSpPr>
        <p:spPr>
          <a:xfrm>
            <a:off x="3995928" y="3995928"/>
            <a:ext cx="766267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Dispute log, evidence, actions taken.</a:t>
            </a:r>
            <a:endParaRPr lang="en-US" sz="1470" dirty="0"/>
          </a:p>
        </p:txBody>
      </p:sp>
      <p:sp>
        <p:nvSpPr>
          <p:cNvPr id="24" name="Shape 22"/>
          <p:cNvSpPr/>
          <p:nvPr/>
        </p:nvSpPr>
        <p:spPr>
          <a:xfrm>
            <a:off x="502920" y="4514850"/>
            <a:ext cx="11155680" cy="0"/>
          </a:xfrm>
          <a:prstGeom prst="line">
            <a:avLst/>
          </a:prstGeom>
          <a:noFill/>
          <a:ln w="5080">
            <a:solidFill>
              <a:srgbClr val="C9D6E2">
                <a:alpha val="60000"/>
              </a:srgbClr>
            </a:solidFill>
            <a:prstDash val="solid"/>
          </a:ln>
        </p:spPr>
      </p:sp>
      <p:sp>
        <p:nvSpPr>
          <p:cNvPr id="25" name="Text 23"/>
          <p:cNvSpPr/>
          <p:nvPr/>
        </p:nvSpPr>
        <p:spPr>
          <a:xfrm>
            <a:off x="502920" y="4569714"/>
            <a:ext cx="329184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06_Marketing</a:t>
            </a:r>
            <a:endParaRPr lang="en-US" sz="1470" dirty="0"/>
          </a:p>
        </p:txBody>
      </p:sp>
      <p:sp>
        <p:nvSpPr>
          <p:cNvPr id="26" name="Text 24"/>
          <p:cNvSpPr/>
          <p:nvPr/>
        </p:nvSpPr>
        <p:spPr>
          <a:xfrm>
            <a:off x="3995928" y="4569714"/>
            <a:ext cx="766267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Facebook posts, logo, graphics, provider features.</a:t>
            </a:r>
            <a:endParaRPr lang="en-US" sz="1470" dirty="0"/>
          </a:p>
        </p:txBody>
      </p:sp>
      <p:sp>
        <p:nvSpPr>
          <p:cNvPr id="27" name="Shape 25"/>
          <p:cNvSpPr/>
          <p:nvPr/>
        </p:nvSpPr>
        <p:spPr>
          <a:xfrm>
            <a:off x="502920" y="5088636"/>
            <a:ext cx="11155680" cy="0"/>
          </a:xfrm>
          <a:prstGeom prst="line">
            <a:avLst/>
          </a:prstGeom>
          <a:noFill/>
          <a:ln w="5080">
            <a:solidFill>
              <a:srgbClr val="C9D6E2">
                <a:alpha val="60000"/>
              </a:srgbClr>
            </a:solidFill>
            <a:prstDash val="solid"/>
          </a:ln>
        </p:spPr>
      </p:sp>
      <p:sp>
        <p:nvSpPr>
          <p:cNvPr id="28" name="Text 26"/>
          <p:cNvSpPr/>
          <p:nvPr/>
        </p:nvSpPr>
        <p:spPr>
          <a:xfrm>
            <a:off x="502920" y="5143500"/>
            <a:ext cx="329184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07_Reports</a:t>
            </a:r>
            <a:endParaRPr lang="en-US" sz="1470" dirty="0"/>
          </a:p>
        </p:txBody>
      </p:sp>
      <p:sp>
        <p:nvSpPr>
          <p:cNvPr id="29" name="Text 27"/>
          <p:cNvSpPr/>
          <p:nvPr/>
        </p:nvSpPr>
        <p:spPr>
          <a:xfrm>
            <a:off x="3995928" y="5143500"/>
            <a:ext cx="766267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Weekly summaries, pilot report, scorecards.</a:t>
            </a:r>
            <a:endParaRPr lang="en-US" sz="1470" dirty="0"/>
          </a:p>
        </p:txBody>
      </p:sp>
      <p:sp>
        <p:nvSpPr>
          <p:cNvPr id="30" name="Shape 28"/>
          <p:cNvSpPr/>
          <p:nvPr/>
        </p:nvSpPr>
        <p:spPr>
          <a:xfrm>
            <a:off x="502920" y="5662422"/>
            <a:ext cx="11155680" cy="0"/>
          </a:xfrm>
          <a:prstGeom prst="line">
            <a:avLst/>
          </a:prstGeom>
          <a:noFill/>
          <a:ln w="5080">
            <a:solidFill>
              <a:srgbClr val="C9D6E2">
                <a:alpha val="60000"/>
              </a:srgbClr>
            </a:solidFill>
            <a:prstDash val="solid"/>
          </a:ln>
        </p:spPr>
      </p:sp>
      <p:sp>
        <p:nvSpPr>
          <p:cNvPr id="31" name="Text 29"/>
          <p:cNvSpPr/>
          <p:nvPr/>
        </p:nvSpPr>
        <p:spPr>
          <a:xfrm>
            <a:off x="502920" y="5717286"/>
            <a:ext cx="3291840" cy="500634"/>
          </a:xfrm>
          <a:prstGeom prst="rect">
            <a:avLst/>
          </a:prstGeom>
          <a:noFill/>
          <a:ln/>
        </p:spPr>
        <p:txBody>
          <a:bodyPr wrap="square" lIns="0" tIns="0" rIns="0" bIns="0" rtlCol="0" anchor="ctr">
            <a:normAutofit/>
          </a:bodyPr>
          <a:lstStyle/>
          <a:p>
            <a:pPr indent="0" marL="0">
              <a:buNone/>
            </a:pPr>
            <a:r>
              <a:rPr lang="en-US" sz="1470" b="1" dirty="0">
                <a:solidFill>
                  <a:srgbClr val="17324D"/>
                </a:solidFill>
                <a:latin typeface="Aptos" pitchFamily="34" charset="0"/>
                <a:ea typeface="Aptos" pitchFamily="34" charset="-122"/>
                <a:cs typeface="Aptos" pitchFamily="34" charset="-120"/>
              </a:rPr>
              <a:t>08_MVP_Planning</a:t>
            </a:r>
            <a:endParaRPr lang="en-US" sz="1470" dirty="0"/>
          </a:p>
        </p:txBody>
      </p:sp>
      <p:sp>
        <p:nvSpPr>
          <p:cNvPr id="32" name="Text 30"/>
          <p:cNvSpPr/>
          <p:nvPr/>
        </p:nvSpPr>
        <p:spPr>
          <a:xfrm>
            <a:off x="3995928" y="5717286"/>
            <a:ext cx="7662672" cy="500634"/>
          </a:xfrm>
          <a:prstGeom prst="rect">
            <a:avLst/>
          </a:prstGeom>
          <a:noFill/>
          <a:ln/>
        </p:spPr>
        <p:txBody>
          <a:bodyPr wrap="square" lIns="0" tIns="0" rIns="0" bIns="0" rtlCol="0" anchor="ctr">
            <a:normAutofit/>
          </a:bodyPr>
          <a:lstStyle/>
          <a:p>
            <a:pPr indent="0" marL="0">
              <a:buNone/>
            </a:pPr>
            <a:r>
              <a:rPr lang="en-US" sz="1470" dirty="0">
                <a:solidFill>
                  <a:srgbClr val="17324D"/>
                </a:solidFill>
                <a:latin typeface="Aptos" pitchFamily="34" charset="0"/>
                <a:ea typeface="Aptos" pitchFamily="34" charset="-122"/>
                <a:cs typeface="Aptos" pitchFamily="34" charset="-120"/>
              </a:rPr>
              <a:t>Feature backlog, database notes, wireframes, build plan.</a:t>
            </a:r>
            <a:endParaRPr lang="en-US" sz="1470" dirty="0"/>
          </a:p>
        </p:txBody>
      </p:sp>
      <p:sp>
        <p:nvSpPr>
          <p:cNvPr id="33" name="Shape 31"/>
          <p:cNvSpPr/>
          <p:nvPr/>
        </p:nvSpPr>
        <p:spPr>
          <a:xfrm>
            <a:off x="502920" y="6236208"/>
            <a:ext cx="11155680" cy="0"/>
          </a:xfrm>
          <a:prstGeom prst="line">
            <a:avLst/>
          </a:prstGeom>
          <a:noFill/>
          <a:ln w="5080">
            <a:solidFill>
              <a:srgbClr val="C9D6E2">
                <a:alpha val="60000"/>
              </a:srgbClr>
            </a:solidFill>
            <a:prstDash val="solid"/>
          </a:ln>
        </p:spPr>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Checklist</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Quality Check Before Launch</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Use this before accepting public requests.</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Checklist</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58</a:t>
            </a:r>
            <a:endParaRPr lang="en-US" sz="850" dirty="0"/>
          </a:p>
        </p:txBody>
      </p:sp>
      <p:sp>
        <p:nvSpPr>
          <p:cNvPr id="8" name="Text 6"/>
          <p:cNvSpPr/>
          <p:nvPr/>
        </p:nvSpPr>
        <p:spPr>
          <a:xfrm>
            <a:off x="502920" y="1508760"/>
            <a:ext cx="5417820" cy="4754880"/>
          </a:xfrm>
          <a:prstGeom prst="rect">
            <a:avLst/>
          </a:prstGeom>
          <a:noFill/>
          <a:ln/>
        </p:spPr>
        <p:txBody>
          <a:bodyPr wrap="square" lIns="1270" tIns="1270" rIns="1270" bIns="1270" rtlCol="0" anchor="ctr">
            <a:normAutofit/>
          </a:bodyPr>
          <a:lstStyle/>
          <a:p>
            <a:pPr indent="0" marL="0">
              <a:buNone/>
            </a:pPr>
            <a:r>
              <a:rPr lang="en-US" sz="1720" dirty="0">
                <a:solidFill>
                  <a:srgbClr val="17324D"/>
                </a:solidFill>
                <a:latin typeface="Aptos" pitchFamily="34" charset="0"/>
                <a:ea typeface="Aptos" pitchFamily="34" charset="-122"/>
                <a:cs typeface="Aptos" pitchFamily="34" charset="-120"/>
              </a:rPr>
              <a:t>☐ Facebook page is ready and understandable.</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Provider form and provider sheet are tested.</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Client request form and request tracker are tested.</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Provider rules and client reminders are written.</a:t>
            </a:r>
            <a:endParaRPr lang="en-US" sz="1720" dirty="0"/>
          </a:p>
        </p:txBody>
      </p:sp>
      <p:sp>
        <p:nvSpPr>
          <p:cNvPr id="9" name="Text 7"/>
          <p:cNvSpPr/>
          <p:nvPr/>
        </p:nvSpPr>
        <p:spPr>
          <a:xfrm>
            <a:off x="6240780" y="1508760"/>
            <a:ext cx="5417820" cy="4754880"/>
          </a:xfrm>
          <a:prstGeom prst="rect">
            <a:avLst/>
          </a:prstGeom>
          <a:noFill/>
          <a:ln/>
        </p:spPr>
        <p:txBody>
          <a:bodyPr wrap="square" lIns="1270" tIns="1270" rIns="1270" bIns="1270" rtlCol="0" anchor="ctr">
            <a:normAutofit/>
          </a:bodyPr>
          <a:lstStyle/>
          <a:p>
            <a:pPr indent="0" marL="0">
              <a:buNone/>
            </a:pPr>
            <a:r>
              <a:rPr lang="en-US" sz="1720" dirty="0">
                <a:solidFill>
                  <a:srgbClr val="17324D"/>
                </a:solidFill>
                <a:latin typeface="Aptos" pitchFamily="34" charset="0"/>
                <a:ea typeface="Aptos" pitchFamily="34" charset="-122"/>
                <a:cs typeface="Aptos" pitchFamily="34" charset="-120"/>
              </a:rPr>
              <a:t>☐ At least 20 providers have been contacted.</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First provider profiles are grouped by category.</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Request forwarding script is ready.</a:t>
            </a:r>
            <a:endParaRPr lang="en-US" sz="1720" dirty="0"/>
          </a:p>
          <a:p>
            <a:pPr indent="0" marL="0">
              <a:buNone/>
            </a:pPr>
            <a:r>
              <a:rPr lang="en-US" sz="1720" dirty="0">
                <a:solidFill>
                  <a:srgbClr val="17324D"/>
                </a:solidFill>
                <a:latin typeface="Aptos" pitchFamily="34" charset="0"/>
                <a:ea typeface="Aptos" pitchFamily="34" charset="-122"/>
                <a:cs typeface="Aptos" pitchFamily="34" charset="-120"/>
              </a:rPr>
              <a:t>☐ Offer comparison, completion, and rating templates are ready.</a:t>
            </a:r>
            <a:endParaRPr lang="en-US" sz="172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5A7A"/>
          </a:solidFill>
          <a:ln w="12700">
            <a:solidFill>
              <a:srgbClr val="0E5A7A"/>
            </a:solidFill>
            <a:prstDash val="solid"/>
          </a:ln>
        </p:spPr>
      </p:sp>
      <p:sp>
        <p:nvSpPr>
          <p:cNvPr id="3" name="Text 1"/>
          <p:cNvSpPr/>
          <p:nvPr/>
        </p:nvSpPr>
        <p:spPr>
          <a:xfrm>
            <a:off x="502920" y="256032"/>
            <a:ext cx="2286000" cy="201168"/>
          </a:xfrm>
          <a:prstGeom prst="rect">
            <a:avLst/>
          </a:prstGeom>
          <a:noFill/>
          <a:ln/>
        </p:spPr>
        <p:txBody>
          <a:bodyPr wrap="square" lIns="0" tIns="0" rIns="0" bIns="0" rtlCol="0" anchor="ctr"/>
          <a:lstStyle/>
          <a:p>
            <a:pPr indent="0" marL="0">
              <a:buNone/>
            </a:pPr>
            <a:r>
              <a:rPr lang="en-US" sz="1000" b="1" dirty="0">
                <a:solidFill>
                  <a:srgbClr val="0E5A7A"/>
                </a:solidFill>
                <a:latin typeface="Aptos" pitchFamily="34" charset="0"/>
                <a:ea typeface="Aptos" pitchFamily="34" charset="-122"/>
                <a:cs typeface="Aptos" pitchFamily="34" charset="-120"/>
              </a:rPr>
              <a:t>Targets</a:t>
            </a:r>
            <a:endParaRPr lang="en-US" sz="1000" dirty="0"/>
          </a:p>
        </p:txBody>
      </p:sp>
      <p:sp>
        <p:nvSpPr>
          <p:cNvPr id="4" name="Text 2"/>
          <p:cNvSpPr/>
          <p:nvPr/>
        </p:nvSpPr>
        <p:spPr>
          <a:xfrm>
            <a:off x="502920" y="502920"/>
            <a:ext cx="10789920" cy="457200"/>
          </a:xfrm>
          <a:prstGeom prst="rect">
            <a:avLst/>
          </a:prstGeom>
          <a:noFill/>
          <a:ln/>
        </p:spPr>
        <p:txBody>
          <a:bodyPr wrap="square" lIns="254" tIns="254" rIns="254" bIns="254" rtlCol="0" anchor="ctr">
            <a:normAutofit/>
          </a:bodyPr>
          <a:lstStyle/>
          <a:p>
            <a:pPr indent="0" marL="0">
              <a:buNone/>
            </a:pPr>
            <a:r>
              <a:rPr lang="en-US" sz="3000" b="1" dirty="0">
                <a:solidFill>
                  <a:srgbClr val="17324D"/>
                </a:solidFill>
                <a:latin typeface="Aptos Display" pitchFamily="34" charset="0"/>
                <a:ea typeface="Aptos Display" pitchFamily="34" charset="-122"/>
                <a:cs typeface="Aptos Display" pitchFamily="34" charset="-120"/>
              </a:rPr>
              <a:t>Final Success Targets</a:t>
            </a:r>
            <a:endParaRPr lang="en-US" sz="3000" dirty="0"/>
          </a:p>
        </p:txBody>
      </p:sp>
      <p:sp>
        <p:nvSpPr>
          <p:cNvPr id="5" name="Text 3"/>
          <p:cNvSpPr/>
          <p:nvPr/>
        </p:nvSpPr>
        <p:spPr>
          <a:xfrm>
            <a:off x="502920" y="987552"/>
            <a:ext cx="10789920" cy="347472"/>
          </a:xfrm>
          <a:prstGeom prst="rect">
            <a:avLst/>
          </a:prstGeom>
          <a:noFill/>
          <a:ln/>
        </p:spPr>
        <p:txBody>
          <a:bodyPr wrap="square" lIns="254" tIns="254" rIns="254" bIns="254" rtlCol="0" anchor="ctr">
            <a:normAutofit/>
          </a:bodyPr>
          <a:lstStyle/>
          <a:p>
            <a:pPr indent="0" marL="0">
              <a:buNone/>
            </a:pPr>
            <a:r>
              <a:rPr lang="en-US" sz="1550" dirty="0">
                <a:solidFill>
                  <a:srgbClr val="5A6B7A"/>
                </a:solidFill>
                <a:latin typeface="Aptos" pitchFamily="34" charset="0"/>
                <a:ea typeface="Aptos" pitchFamily="34" charset="-122"/>
                <a:cs typeface="Aptos" pitchFamily="34" charset="-120"/>
              </a:rPr>
              <a:t>Use these as the first-pilot evidence targets.</a:t>
            </a:r>
            <a:endParaRPr lang="en-US" sz="1550" dirty="0"/>
          </a:p>
        </p:txBody>
      </p:sp>
      <p:sp>
        <p:nvSpPr>
          <p:cNvPr id="6" name="Text 4"/>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Targets</a:t>
            </a:r>
            <a:endParaRPr lang="en-US" sz="850" dirty="0"/>
          </a:p>
        </p:txBody>
      </p:sp>
      <p:sp>
        <p:nvSpPr>
          <p:cNvPr id="7" name="Text 5"/>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59</a:t>
            </a:r>
            <a:endParaRPr lang="en-US" sz="850" dirty="0"/>
          </a:p>
        </p:txBody>
      </p:sp>
      <p:sp>
        <p:nvSpPr>
          <p:cNvPr id="8" name="Shape 6"/>
          <p:cNvSpPr/>
          <p:nvPr/>
        </p:nvSpPr>
        <p:spPr>
          <a:xfrm>
            <a:off x="502920" y="1508760"/>
            <a:ext cx="3566160" cy="1234440"/>
          </a:xfrm>
          <a:prstGeom prst="roundRect">
            <a:avLst>
              <a:gd name="adj" fmla="val 5926"/>
            </a:avLst>
          </a:prstGeom>
          <a:solidFill>
            <a:srgbClr val="FFFFFF"/>
          </a:solidFill>
          <a:ln w="12700">
            <a:solidFill>
              <a:srgbClr val="C9D6E2"/>
            </a:solidFill>
            <a:prstDash val="solid"/>
          </a:ln>
        </p:spPr>
      </p:sp>
      <p:sp>
        <p:nvSpPr>
          <p:cNvPr id="9" name="Text 7"/>
          <p:cNvSpPr/>
          <p:nvPr/>
        </p:nvSpPr>
        <p:spPr>
          <a:xfrm>
            <a:off x="66751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50 providers</a:t>
            </a:r>
            <a:endParaRPr lang="en-US" sz="1600" dirty="0"/>
          </a:p>
        </p:txBody>
      </p:sp>
      <p:sp>
        <p:nvSpPr>
          <p:cNvPr id="10" name="Text 8"/>
          <p:cNvSpPr/>
          <p:nvPr/>
        </p:nvSpPr>
        <p:spPr>
          <a:xfrm>
            <a:off x="66751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Target supply base</a:t>
            </a:r>
            <a:endParaRPr lang="en-US" sz="1450" dirty="0"/>
          </a:p>
        </p:txBody>
      </p:sp>
      <p:sp>
        <p:nvSpPr>
          <p:cNvPr id="11" name="Shape 9"/>
          <p:cNvSpPr/>
          <p:nvPr/>
        </p:nvSpPr>
        <p:spPr>
          <a:xfrm>
            <a:off x="4297680" y="1508760"/>
            <a:ext cx="3566160" cy="1234440"/>
          </a:xfrm>
          <a:prstGeom prst="roundRect">
            <a:avLst>
              <a:gd name="adj" fmla="val 5926"/>
            </a:avLst>
          </a:prstGeom>
          <a:solidFill>
            <a:srgbClr val="FFFFFF"/>
          </a:solidFill>
          <a:ln w="12700">
            <a:solidFill>
              <a:srgbClr val="C9D6E2"/>
            </a:solidFill>
            <a:prstDash val="solid"/>
          </a:ln>
        </p:spPr>
      </p:sp>
      <p:sp>
        <p:nvSpPr>
          <p:cNvPr id="12" name="Text 10"/>
          <p:cNvSpPr/>
          <p:nvPr/>
        </p:nvSpPr>
        <p:spPr>
          <a:xfrm>
            <a:off x="446227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100 client responses</a:t>
            </a:r>
            <a:endParaRPr lang="en-US" sz="1600" dirty="0"/>
          </a:p>
        </p:txBody>
      </p:sp>
      <p:sp>
        <p:nvSpPr>
          <p:cNvPr id="13" name="Text 11"/>
          <p:cNvSpPr/>
          <p:nvPr/>
        </p:nvSpPr>
        <p:spPr>
          <a:xfrm>
            <a:off x="446227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Demand validation</a:t>
            </a:r>
            <a:endParaRPr lang="en-US" sz="1450" dirty="0"/>
          </a:p>
        </p:txBody>
      </p:sp>
      <p:sp>
        <p:nvSpPr>
          <p:cNvPr id="14" name="Shape 12"/>
          <p:cNvSpPr/>
          <p:nvPr/>
        </p:nvSpPr>
        <p:spPr>
          <a:xfrm>
            <a:off x="8092440" y="1508760"/>
            <a:ext cx="3566160" cy="1234440"/>
          </a:xfrm>
          <a:prstGeom prst="roundRect">
            <a:avLst>
              <a:gd name="adj" fmla="val 5926"/>
            </a:avLst>
          </a:prstGeom>
          <a:solidFill>
            <a:srgbClr val="FFFFFF"/>
          </a:solidFill>
          <a:ln w="12700">
            <a:solidFill>
              <a:srgbClr val="C9D6E2"/>
            </a:solidFill>
            <a:prstDash val="solid"/>
          </a:ln>
        </p:spPr>
      </p:sp>
      <p:sp>
        <p:nvSpPr>
          <p:cNvPr id="15" name="Text 13"/>
          <p:cNvSpPr/>
          <p:nvPr/>
        </p:nvSpPr>
        <p:spPr>
          <a:xfrm>
            <a:off x="8257032" y="1636776"/>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30 real requests</a:t>
            </a:r>
            <a:endParaRPr lang="en-US" sz="1600" dirty="0"/>
          </a:p>
        </p:txBody>
      </p:sp>
      <p:sp>
        <p:nvSpPr>
          <p:cNvPr id="16" name="Text 14"/>
          <p:cNvSpPr/>
          <p:nvPr/>
        </p:nvSpPr>
        <p:spPr>
          <a:xfrm>
            <a:off x="8257032" y="1984248"/>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Live pilot demand</a:t>
            </a:r>
            <a:endParaRPr lang="en-US" sz="1450" dirty="0"/>
          </a:p>
        </p:txBody>
      </p:sp>
      <p:sp>
        <p:nvSpPr>
          <p:cNvPr id="17" name="Shape 15"/>
          <p:cNvSpPr/>
          <p:nvPr/>
        </p:nvSpPr>
        <p:spPr>
          <a:xfrm>
            <a:off x="502920" y="2999232"/>
            <a:ext cx="3566160" cy="1234440"/>
          </a:xfrm>
          <a:prstGeom prst="roundRect">
            <a:avLst>
              <a:gd name="adj" fmla="val 5926"/>
            </a:avLst>
          </a:prstGeom>
          <a:solidFill>
            <a:srgbClr val="FFFFFF"/>
          </a:solidFill>
          <a:ln w="12700">
            <a:solidFill>
              <a:srgbClr val="C9D6E2"/>
            </a:solidFill>
            <a:prstDash val="solid"/>
          </a:ln>
        </p:spPr>
      </p:sp>
      <p:sp>
        <p:nvSpPr>
          <p:cNvPr id="18" name="Text 16"/>
          <p:cNvSpPr/>
          <p:nvPr/>
        </p:nvSpPr>
        <p:spPr>
          <a:xfrm>
            <a:off x="667512" y="3127248"/>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15 completed / matched jobs</a:t>
            </a:r>
            <a:endParaRPr lang="en-US" sz="1600" dirty="0"/>
          </a:p>
        </p:txBody>
      </p:sp>
      <p:sp>
        <p:nvSpPr>
          <p:cNvPr id="19" name="Text 17"/>
          <p:cNvSpPr/>
          <p:nvPr/>
        </p:nvSpPr>
        <p:spPr>
          <a:xfrm>
            <a:off x="667512" y="3474720"/>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Minimum strong evidence</a:t>
            </a:r>
            <a:endParaRPr lang="en-US" sz="1450" dirty="0"/>
          </a:p>
        </p:txBody>
      </p:sp>
      <p:sp>
        <p:nvSpPr>
          <p:cNvPr id="20" name="Shape 18"/>
          <p:cNvSpPr/>
          <p:nvPr/>
        </p:nvSpPr>
        <p:spPr>
          <a:xfrm>
            <a:off x="4297680" y="2999232"/>
            <a:ext cx="3566160" cy="1234440"/>
          </a:xfrm>
          <a:prstGeom prst="roundRect">
            <a:avLst>
              <a:gd name="adj" fmla="val 5926"/>
            </a:avLst>
          </a:prstGeom>
          <a:solidFill>
            <a:srgbClr val="FFFFFF"/>
          </a:solidFill>
          <a:ln w="12700">
            <a:solidFill>
              <a:srgbClr val="C9D6E2"/>
            </a:solidFill>
            <a:prstDash val="solid"/>
          </a:ln>
        </p:spPr>
      </p:sp>
      <p:sp>
        <p:nvSpPr>
          <p:cNvPr id="21" name="Text 19"/>
          <p:cNvSpPr/>
          <p:nvPr/>
        </p:nvSpPr>
        <p:spPr>
          <a:xfrm>
            <a:off x="4462272" y="3127248"/>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5–8 categories</a:t>
            </a:r>
            <a:endParaRPr lang="en-US" sz="1600" dirty="0"/>
          </a:p>
        </p:txBody>
      </p:sp>
      <p:sp>
        <p:nvSpPr>
          <p:cNvPr id="22" name="Text 20"/>
          <p:cNvSpPr/>
          <p:nvPr/>
        </p:nvSpPr>
        <p:spPr>
          <a:xfrm>
            <a:off x="4462272" y="3474720"/>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Focused service scope</a:t>
            </a:r>
            <a:endParaRPr lang="en-US" sz="1450" dirty="0"/>
          </a:p>
        </p:txBody>
      </p:sp>
      <p:sp>
        <p:nvSpPr>
          <p:cNvPr id="23" name="Shape 21"/>
          <p:cNvSpPr/>
          <p:nvPr/>
        </p:nvSpPr>
        <p:spPr>
          <a:xfrm>
            <a:off x="8092440" y="2999232"/>
            <a:ext cx="3566160" cy="1234440"/>
          </a:xfrm>
          <a:prstGeom prst="roundRect">
            <a:avLst>
              <a:gd name="adj" fmla="val 5926"/>
            </a:avLst>
          </a:prstGeom>
          <a:solidFill>
            <a:srgbClr val="FFFFFF"/>
          </a:solidFill>
          <a:ln w="12700">
            <a:solidFill>
              <a:srgbClr val="C9D6E2"/>
            </a:solidFill>
            <a:prstDash val="solid"/>
          </a:ln>
        </p:spPr>
      </p:sp>
      <p:sp>
        <p:nvSpPr>
          <p:cNvPr id="24" name="Text 22"/>
          <p:cNvSpPr/>
          <p:nvPr/>
        </p:nvSpPr>
        <p:spPr>
          <a:xfrm>
            <a:off x="8257032" y="3127248"/>
            <a:ext cx="3236976" cy="274320"/>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tos" pitchFamily="34" charset="0"/>
                <a:ea typeface="Aptos" pitchFamily="34" charset="-122"/>
                <a:cs typeface="Aptos" pitchFamily="34" charset="-120"/>
              </a:rPr>
              <a:t>30–45 days</a:t>
            </a:r>
            <a:endParaRPr lang="en-US" sz="1600" dirty="0"/>
          </a:p>
        </p:txBody>
      </p:sp>
      <p:sp>
        <p:nvSpPr>
          <p:cNvPr id="25" name="Text 23"/>
          <p:cNvSpPr/>
          <p:nvPr/>
        </p:nvSpPr>
        <p:spPr>
          <a:xfrm>
            <a:off x="8257032" y="3474720"/>
            <a:ext cx="3236976" cy="667512"/>
          </a:xfrm>
          <a:prstGeom prst="rect">
            <a:avLst/>
          </a:prstGeom>
          <a:noFill/>
          <a:ln/>
        </p:spPr>
        <p:txBody>
          <a:bodyPr wrap="square" lIns="0" tIns="0" rIns="0" bIns="0" rtlCol="0" anchor="ctr">
            <a:normAutofit/>
          </a:bodyPr>
          <a:lstStyle/>
          <a:p>
            <a:pPr indent="0" marL="0">
              <a:buNone/>
            </a:pPr>
            <a:r>
              <a:rPr lang="en-US" sz="1450" dirty="0">
                <a:solidFill>
                  <a:srgbClr val="17324D"/>
                </a:solidFill>
                <a:latin typeface="Aptos" pitchFamily="34" charset="0"/>
                <a:ea typeface="Aptos" pitchFamily="34" charset="-122"/>
                <a:cs typeface="Aptos" pitchFamily="34" charset="-120"/>
              </a:rPr>
              <a:t>Active matching period</a:t>
            </a:r>
            <a:endParaRPr lang="en-US" sz="14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0E5A7A"/>
          </a:solidFill>
          <a:ln w="12700">
            <a:solidFill>
              <a:srgbClr val="0E5A7A"/>
            </a:solidFill>
            <a:prstDash val="solid"/>
          </a:ln>
        </p:spPr>
      </p:sp>
      <p:sp>
        <p:nvSpPr>
          <p:cNvPr id="3" name="Text 1"/>
          <p:cNvSpPr/>
          <p:nvPr/>
        </p:nvSpPr>
        <p:spPr>
          <a:xfrm>
            <a:off x="502920" y="1188720"/>
            <a:ext cx="11155680" cy="502920"/>
          </a:xfrm>
          <a:prstGeom prst="rect">
            <a:avLst/>
          </a:prstGeom>
          <a:noFill/>
          <a:ln/>
        </p:spPr>
        <p:txBody>
          <a:bodyPr wrap="square" lIns="0" tIns="0" rIns="0" bIns="0" rtlCol="0" anchor="ctr"/>
          <a:lstStyle/>
          <a:p>
            <a:pPr indent="0" marL="0">
              <a:buNone/>
            </a:pPr>
            <a:r>
              <a:rPr lang="en-US" sz="3600" b="1" dirty="0">
                <a:solidFill>
                  <a:srgbClr val="17324D"/>
                </a:solidFill>
              </a:rPr>
              <a:t>Final Reminder</a:t>
            </a:r>
            <a:endParaRPr lang="en-US" sz="3600" dirty="0"/>
          </a:p>
        </p:txBody>
      </p:sp>
      <p:sp>
        <p:nvSpPr>
          <p:cNvPr id="4" name="Text 2"/>
          <p:cNvSpPr/>
          <p:nvPr/>
        </p:nvSpPr>
        <p:spPr>
          <a:xfrm>
            <a:off x="502920" y="2011680"/>
            <a:ext cx="11155680" cy="457200"/>
          </a:xfrm>
          <a:prstGeom prst="rect">
            <a:avLst/>
          </a:prstGeom>
          <a:noFill/>
          <a:ln/>
        </p:spPr>
        <p:txBody>
          <a:bodyPr wrap="square" lIns="0" tIns="0" rIns="0" bIns="0" rtlCol="0" anchor="ctr"/>
          <a:lstStyle/>
          <a:p>
            <a:pPr indent="0" marL="0">
              <a:buNone/>
            </a:pPr>
            <a:r>
              <a:rPr lang="en-US" sz="2800" b="1" dirty="0">
                <a:solidFill>
                  <a:srgbClr val="0E5A7A"/>
                </a:solidFill>
              </a:rPr>
              <a:t>Do not build the full KAILA app yet.</a:t>
            </a:r>
            <a:endParaRPr lang="en-US" sz="2800" dirty="0"/>
          </a:p>
        </p:txBody>
      </p:sp>
      <p:sp>
        <p:nvSpPr>
          <p:cNvPr id="5" name="Text 3"/>
          <p:cNvSpPr/>
          <p:nvPr/>
        </p:nvSpPr>
        <p:spPr>
          <a:xfrm>
            <a:off x="502920" y="2834640"/>
            <a:ext cx="11064240" cy="1280160"/>
          </a:xfrm>
          <a:prstGeom prst="rect">
            <a:avLst/>
          </a:prstGeom>
          <a:noFill/>
          <a:ln/>
        </p:spPr>
        <p:txBody>
          <a:bodyPr wrap="square" lIns="635" tIns="635" rIns="635" bIns="635" rtlCol="0" anchor="ctr">
            <a:normAutofit/>
          </a:bodyPr>
          <a:lstStyle/>
          <a:p>
            <a:pPr indent="0" marL="0">
              <a:buNone/>
            </a:pPr>
            <a:r>
              <a:rPr lang="en-US" sz="2300" dirty="0">
                <a:solidFill>
                  <a:srgbClr val="17324D"/>
                </a:solidFill>
              </a:rPr>
              <a:t>Build proof first: provider list, client request form, request tracker, manual matching, offer comparison, completion confirmation, rating process, weekly review, and go/no-go decision.</a:t>
            </a:r>
            <a:endParaRPr lang="en-US" sz="2300" dirty="0"/>
          </a:p>
        </p:txBody>
      </p:sp>
      <p:sp>
        <p:nvSpPr>
          <p:cNvPr id="6" name="Text 4"/>
          <p:cNvSpPr/>
          <p:nvPr/>
        </p:nvSpPr>
        <p:spPr>
          <a:xfrm>
            <a:off x="502920" y="4572000"/>
            <a:ext cx="11064240" cy="502920"/>
          </a:xfrm>
          <a:prstGeom prst="rect">
            <a:avLst/>
          </a:prstGeom>
          <a:noFill/>
          <a:ln/>
        </p:spPr>
        <p:txBody>
          <a:bodyPr wrap="square" lIns="0" tIns="0" rIns="0" bIns="0" rtlCol="0" anchor="ctr"/>
          <a:lstStyle/>
          <a:p>
            <a:pPr indent="0" marL="0">
              <a:buNone/>
            </a:pPr>
            <a:r>
              <a:rPr lang="en-US" sz="2200" b="1" dirty="0">
                <a:solidFill>
                  <a:srgbClr val="2E7D32"/>
                </a:solidFill>
              </a:rPr>
              <a:t>Once this works, the MVP becomes easier because it is built from actual behavior.</a:t>
            </a:r>
            <a:endParaRPr lang="en-US" sz="2200" dirty="0"/>
          </a:p>
        </p:txBody>
      </p:sp>
      <p:sp>
        <p:nvSpPr>
          <p:cNvPr id="7" name="Text 5"/>
          <p:cNvSpPr/>
          <p:nvPr/>
        </p:nvSpPr>
        <p:spPr>
          <a:xfrm>
            <a:off x="502920" y="6473952"/>
            <a:ext cx="7772400" cy="201168"/>
          </a:xfrm>
          <a:prstGeom prst="rect">
            <a:avLst/>
          </a:prstGeom>
          <a:noFill/>
          <a:ln/>
        </p:spPr>
        <p:txBody>
          <a:bodyPr wrap="square" lIns="0" tIns="0" rIns="0" bIns="0" rtlCol="0" anchor="ctr"/>
          <a:lstStyle/>
          <a:p>
            <a:pPr indent="0" marL="0">
              <a:buNone/>
            </a:pPr>
            <a:r>
              <a:rPr lang="en-US" sz="850" dirty="0">
                <a:solidFill>
                  <a:srgbClr val="5A6B7A"/>
                </a:solidFill>
                <a:latin typeface="Aptos" pitchFamily="34" charset="0"/>
                <a:ea typeface="Aptos" pitchFamily="34" charset="-122"/>
                <a:cs typeface="Aptos" pitchFamily="34" charset="-120"/>
              </a:rPr>
              <a:t>KAILA</a:t>
            </a:r>
            <a:endParaRPr lang="en-US" sz="850" dirty="0"/>
          </a:p>
        </p:txBody>
      </p:sp>
      <p:sp>
        <p:nvSpPr>
          <p:cNvPr id="8" name="Text 6"/>
          <p:cNvSpPr/>
          <p:nvPr/>
        </p:nvSpPr>
        <p:spPr>
          <a:xfrm>
            <a:off x="11201400" y="6473952"/>
            <a:ext cx="457200" cy="201168"/>
          </a:xfrm>
          <a:prstGeom prst="rect">
            <a:avLst/>
          </a:prstGeom>
          <a:noFill/>
          <a:ln/>
        </p:spPr>
        <p:txBody>
          <a:bodyPr wrap="square" lIns="0" tIns="0" rIns="0" bIns="0" rtlCol="0" anchor="ctr"/>
          <a:lstStyle/>
          <a:p>
            <a:pPr algn="r" indent="0" marL="0">
              <a:buNone/>
            </a:pPr>
            <a:r>
              <a:rPr lang="en-US" sz="850" dirty="0">
                <a:solidFill>
                  <a:srgbClr val="5A6B7A"/>
                </a:solidFill>
                <a:latin typeface="Aptos" pitchFamily="34" charset="0"/>
                <a:ea typeface="Aptos" pitchFamily="34" charset="-122"/>
                <a:cs typeface="Aptos" pitchFamily="34" charset="-120"/>
              </a:rPr>
              <a:t>60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KAILA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KAILA Detailed To-Do List with Templates and Forms</dc:title>
  <dc:subject>Readable KAILA Detailed To-Do List with Templates and Forms</dc:subject>
  <dc:creator>OpenAI</dc:creator>
  <cp:lastModifiedBy>OpenAI</cp:lastModifiedBy>
  <cp:revision>1</cp:revision>
  <dcterms:created xsi:type="dcterms:W3CDTF">2026-05-31T07:51:21Z</dcterms:created>
  <dcterms:modified xsi:type="dcterms:W3CDTF">2026-05-31T07:51:21Z</dcterms:modified>
</cp:coreProperties>
</file>