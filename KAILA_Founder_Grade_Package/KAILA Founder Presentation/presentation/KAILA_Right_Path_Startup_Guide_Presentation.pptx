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24A"/>
    <a:srgbClr val="1F6F8B"/>
    <a:srgbClr val="2E8B57"/>
    <a:srgbClr val="7A4B93"/>
    <a:srgbClr val="F2B8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91892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08760" cy="1508760"/>
          </a:xfrm>
          <a:prstGeom prst="ellipse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4160520"/>
            <a:ext cx="2697480" cy="2697480"/>
          </a:xfrm>
          <a:prstGeom prst="ellipse">
            <a:avLst/>
          </a:prstGeom>
          <a:solidFill>
            <a:srgbClr val="0E5A6F"/>
          </a:solidFill>
          <a:ln w="12700">
            <a:solidFill>
              <a:srgbClr val="0E5A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89920" y="457200"/>
            <a:ext cx="1051560" cy="1051560"/>
          </a:xfrm>
          <a:prstGeom prst="ellipse">
            <a:avLst/>
          </a:prstGeom>
          <a:solidFill>
            <a:srgbClr val="F2B84B"/>
          </a:solidFill>
          <a:ln w="12700">
            <a:solidFill>
              <a:srgbClr val="F2B8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51460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</a:rPr>
              <a:t>KAILA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Right-Path Startup Guide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58368" y="3794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E8F4F8"/>
                </a:solidFill>
              </a:rPr>
              <a:t>A practical guide for starting the first KAILA pilot the right way.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58368" y="457200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2B84B"/>
                </a:solidFill>
              </a:rPr>
              <a:t>Validation first. Provider supply first. Trust first. Software second.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" y="62179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FE1E8"/>
                </a:solidFill>
              </a:rPr>
              <a:t>Based on the KAILA Founder-Grade Package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01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Main Rule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KAILA starts as a validation project before it becomes a software project.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9B2C2C"/>
                </a:solidFill>
              </a:rPr>
              <a:t>Do not build the full app first.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583680" y="15544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2E8B57"/>
                </a:solidFill>
              </a:rPr>
              <a:t>Build proof first.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5257800" y="2788920"/>
            <a:ext cx="1234440" cy="0"/>
          </a:xfrm>
          <a:prstGeom prst="line">
            <a:avLst/>
          </a:prstGeom>
          <a:noFill/>
          <a:ln w="38100">
            <a:solidFill>
              <a:srgbClr val="F2B84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31520" y="2331720"/>
            <a:ext cx="4069080" cy="1828800"/>
          </a:xfrm>
          <a:prstGeom prst="roundRect">
            <a:avLst>
              <a:gd name="adj" fmla="val 6000"/>
            </a:avLst>
          </a:prstGeom>
          <a:solidFill>
            <a:srgbClr val="FDECEC"/>
          </a:solidFill>
          <a:ln w="12700">
            <a:solidFill>
              <a:srgbClr val="E8B5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441448"/>
            <a:ext cx="3831336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Risky path</a:t>
            </a:r>
            <a:endParaRPr lang="en-US" sz="1700" dirty="0"/>
          </a:p>
          <a:p>
            <a:pPr marL="0" indent="0" algn="ctr">
              <a:buNone/>
            </a:pP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Full app -&gt; no users -&gt; wasted time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83680" y="2331720"/>
            <a:ext cx="4160520" cy="1828800"/>
          </a:xfrm>
          <a:prstGeom prst="roundRect">
            <a:avLst>
              <a:gd name="adj" fmla="val 6000"/>
            </a:avLst>
          </a:prstGeom>
          <a:solidFill>
            <a:srgbClr val="EEF7F2"/>
          </a:solidFill>
          <a:ln w="12700">
            <a:solidFill>
              <a:srgbClr val="A7D8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02552" y="2441448"/>
            <a:ext cx="3922776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Right path</a:t>
            </a:r>
            <a:endParaRPr lang="en-US" sz="1700" dirty="0"/>
          </a:p>
          <a:p>
            <a:pPr marL="0" indent="0" algn="ctr">
              <a:buNone/>
            </a:pP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Manual pilot -&gt; evidence -&gt; focused MVP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50749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24A"/>
                </a:solidFill>
              </a:rPr>
              <a:t>First proof needed: requests, provider offers, completed/strongly matched jobs, ratings, and manageable disputes.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02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Starting Roadmap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A disciplined sequence for turning KAILA into evidence.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2788920"/>
            <a:ext cx="9326880" cy="0"/>
          </a:xfrm>
          <a:prstGeom prst="line">
            <a:avLst/>
          </a:prstGeom>
          <a:noFill/>
          <a:ln w="27940">
            <a:solidFill>
              <a:srgbClr val="B6CAD4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85800" y="2148840"/>
            <a:ext cx="1737360" cy="1234440"/>
          </a:xfrm>
          <a:prstGeom prst="roundRect">
            <a:avLst>
              <a:gd name="adj" fmla="val 8889"/>
            </a:avLst>
          </a:prstGeom>
          <a:solidFill>
            <a:srgbClr val="12324A"/>
          </a:solidFill>
          <a:ln w="12700">
            <a:solidFill>
              <a:srgbClr val="1232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3957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Days 1-7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Foundation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926080" y="2148840"/>
            <a:ext cx="1737360" cy="1234440"/>
          </a:xfrm>
          <a:prstGeom prst="roundRect">
            <a:avLst>
              <a:gd name="adj" fmla="val 8889"/>
            </a:avLst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17520" y="23957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Days 8-21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01752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Recruit providers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66360" y="2148840"/>
            <a:ext cx="1737360" cy="1234440"/>
          </a:xfrm>
          <a:prstGeom prst="roundRect">
            <a:avLst>
              <a:gd name="adj" fmla="val 888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57800" y="23957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Days 22-30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25780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Validate clients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406640" y="2148840"/>
            <a:ext cx="1737360" cy="1234440"/>
          </a:xfrm>
          <a:prstGeom prst="roundRect">
            <a:avLst>
              <a:gd name="adj" fmla="val 8889"/>
            </a:avLst>
          </a:prstGeom>
          <a:solidFill>
            <a:srgbClr val="F2B84B"/>
          </a:solidFill>
          <a:ln w="12700">
            <a:solidFill>
              <a:srgbClr val="F2B84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0" y="23957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252E"/>
                </a:solidFill>
              </a:rPr>
              <a:t>Days 31-75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C252E"/>
                </a:solidFill>
              </a:rPr>
              <a:t>Concierge pilot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646920" y="2148840"/>
            <a:ext cx="1737360" cy="1234440"/>
          </a:xfrm>
          <a:prstGeom prst="roundRect">
            <a:avLst>
              <a:gd name="adj" fmla="val 8889"/>
            </a:avLst>
          </a:prstGeom>
          <a:solidFill>
            <a:srgbClr val="7A4B93"/>
          </a:solidFill>
          <a:ln w="12700">
            <a:solidFill>
              <a:srgbClr val="7A4B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38360" y="2395728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Days 76-90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738360" y="27889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Review decision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97280" y="4572000"/>
            <a:ext cx="9966960" cy="822960"/>
          </a:xfrm>
          <a:prstGeom prst="roundRect">
            <a:avLst>
              <a:gd name="adj" fmla="val 13333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16152" y="4681728"/>
            <a:ext cx="97292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52E"/>
                </a:solidFill>
              </a:rPr>
              <a:t>Output: forms, sheets, provider rules, provider list, real requests, tracked offers, ratings, and go/no-go decision.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03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0: Founder Alignment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Agree on the operating philosophy before asking anyone to join.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2324A"/>
                </a:solidFill>
              </a:rPr>
              <a:t>KAILA is not just an app.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731520" y="20574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E8B57"/>
                </a:solidFill>
              </a:rPr>
              <a:t>It is a local trust and service-matching system.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583680" y="1417320"/>
            <a:ext cx="2880360" cy="347472"/>
          </a:xfrm>
          <a:prstGeom prst="roundRect">
            <a:avLst>
              <a:gd name="adj" fmla="val 21053"/>
            </a:avLst>
          </a:prstGeom>
          <a:solidFill>
            <a:srgbClr val="12324A"/>
          </a:solidFill>
          <a:ln w="12700">
            <a:solidFill>
              <a:srgbClr val="12324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1499616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Local first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583680" y="2103120"/>
            <a:ext cx="2880360" cy="347472"/>
          </a:xfrm>
          <a:prstGeom prst="roundRect">
            <a:avLst>
              <a:gd name="adj" fmla="val 21053"/>
            </a:avLst>
          </a:prstGeom>
          <a:solidFill>
            <a:srgbClr val="1F6F8B"/>
          </a:solidFill>
          <a:ln w="12700">
            <a:solidFill>
              <a:srgbClr val="1F6F8B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2185416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Provider first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83680" y="2788920"/>
            <a:ext cx="2880360" cy="347472"/>
          </a:xfrm>
          <a:prstGeom prst="roundRect">
            <a:avLst>
              <a:gd name="adj" fmla="val 21053"/>
            </a:avLst>
          </a:prstGeom>
          <a:solidFill>
            <a:srgbClr val="2E8B57"/>
          </a:solidFill>
          <a:ln w="12700">
            <a:solidFill>
              <a:srgbClr val="2E8B57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2871216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Trust first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583680" y="3474720"/>
            <a:ext cx="2880360" cy="347472"/>
          </a:xfrm>
          <a:prstGeom prst="roundRect">
            <a:avLst>
              <a:gd name="adj" fmla="val 21053"/>
            </a:avLst>
          </a:prstGeom>
          <a:solidFill>
            <a:srgbClr val="F2B84B"/>
          </a:solidFill>
          <a:ln w="12700">
            <a:solidFill>
              <a:srgbClr val="F2B84B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3557016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C252E"/>
                </a:solidFill>
              </a:rPr>
              <a:t>Manual first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0" y="4160520"/>
            <a:ext cx="2880360" cy="347472"/>
          </a:xfrm>
          <a:prstGeom prst="roundRect">
            <a:avLst>
              <a:gd name="adj" fmla="val 21053"/>
            </a:avLst>
          </a:prstGeom>
          <a:solidFill>
            <a:srgbClr val="7A4B93"/>
          </a:solidFill>
          <a:ln w="12700">
            <a:solidFill>
              <a:srgbClr val="7A4B9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4242816"/>
            <a:ext cx="2788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Free first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68680" y="2971800"/>
            <a:ext cx="512064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650" dirty="0">
                <a:solidFill>
                  <a:srgbClr val="1C2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in one focused place, not everywhere.</a:t>
            </a:r>
            <a:endParaRPr lang="en-US" sz="1650" dirty="0"/>
          </a:p>
          <a:p>
            <a:r>
              <a:rPr lang="en-US" sz="1650" dirty="0">
                <a:solidFill>
                  <a:srgbClr val="1C2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supply before client demand.</a:t>
            </a:r>
            <a:endParaRPr lang="en-US" sz="1650" dirty="0"/>
          </a:p>
          <a:p>
            <a:r>
              <a:rPr lang="en-US" sz="1650" dirty="0">
                <a:solidFill>
                  <a:srgbClr val="1C2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trust levels instead of pretending all providers are equal.</a:t>
            </a:r>
            <a:endParaRPr lang="en-US" sz="1650" dirty="0"/>
          </a:p>
          <a:p>
            <a:r>
              <a:rPr lang="en-US" sz="1650" dirty="0">
                <a:solidFill>
                  <a:srgbClr val="1C2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the workflow manually before building the product.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04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Define the First Pilot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Keep the first version narrow enough to operate and measure.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17320"/>
            <a:ext cx="2103120" cy="502920"/>
          </a:xfrm>
          <a:prstGeom prst="roundRect">
            <a:avLst>
              <a:gd name="adj" fmla="val 21818"/>
            </a:avLst>
          </a:prstGeom>
          <a:solidFill>
            <a:srgbClr val="12324A"/>
          </a:solidFill>
          <a:ln w="12700">
            <a:solidFill>
              <a:srgbClr val="123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527048"/>
            <a:ext cx="18653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Area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971800" y="1417320"/>
            <a:ext cx="795528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90672" y="1527048"/>
            <a:ext cx="77175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C252E"/>
                </a:solidFill>
              </a:rPr>
              <a:t>Gingoog City or selected barangay cluster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2130552"/>
            <a:ext cx="2103120" cy="502920"/>
          </a:xfrm>
          <a:prstGeom prst="roundRect">
            <a:avLst>
              <a:gd name="adj" fmla="val 21818"/>
            </a:avLst>
          </a:prstGeom>
          <a:solidFill>
            <a:srgbClr val="12324A"/>
          </a:solidFill>
          <a:ln w="12700">
            <a:solidFill>
              <a:srgbClr val="1232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240280"/>
            <a:ext cx="18653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Clients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71800" y="2130552"/>
            <a:ext cx="795528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2240280"/>
            <a:ext cx="77175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C252E"/>
                </a:solidFill>
              </a:rPr>
              <a:t>Households, renters, homeowners, students, small businesses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2843784"/>
            <a:ext cx="2103120" cy="502920"/>
          </a:xfrm>
          <a:prstGeom prst="roundRect">
            <a:avLst>
              <a:gd name="adj" fmla="val 21818"/>
            </a:avLst>
          </a:prstGeom>
          <a:solidFill>
            <a:srgbClr val="12324A"/>
          </a:solidFill>
          <a:ln w="12700">
            <a:solidFill>
              <a:srgbClr val="1232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2953512"/>
            <a:ext cx="18653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Providers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971800" y="2843784"/>
            <a:ext cx="795528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90672" y="2953512"/>
            <a:ext cx="77175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C252E"/>
                </a:solidFill>
              </a:rPr>
              <a:t>Skilled workers, technicians, freelancers, shops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77240" y="3557016"/>
            <a:ext cx="2103120" cy="502920"/>
          </a:xfrm>
          <a:prstGeom prst="roundRect">
            <a:avLst>
              <a:gd name="adj" fmla="val 21818"/>
            </a:avLst>
          </a:prstGeom>
          <a:solidFill>
            <a:srgbClr val="12324A"/>
          </a:solidFill>
          <a:ln w="12700">
            <a:solidFill>
              <a:srgbClr val="1232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3666744"/>
            <a:ext cx="18653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71800" y="3557016"/>
            <a:ext cx="795528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90672" y="3666744"/>
            <a:ext cx="77175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C252E"/>
                </a:solidFill>
              </a:rPr>
              <a:t>30-45 days of active matching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7240" y="4270248"/>
            <a:ext cx="2103120" cy="502920"/>
          </a:xfrm>
          <a:prstGeom prst="roundRect">
            <a:avLst>
              <a:gd name="adj" fmla="val 21818"/>
            </a:avLst>
          </a:prstGeom>
          <a:solidFill>
            <a:srgbClr val="12324A"/>
          </a:solidFill>
          <a:ln w="12700">
            <a:solidFill>
              <a:srgbClr val="1232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4379976"/>
            <a:ext cx="186537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Pricing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971800" y="4270248"/>
            <a:ext cx="795528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90672" y="4379976"/>
            <a:ext cx="77175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1C252E"/>
                </a:solidFill>
              </a:rPr>
              <a:t>Free pilot for clients and providers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05840" y="5532120"/>
            <a:ext cx="9875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8B57"/>
                </a:solidFill>
              </a:rPr>
              <a:t>Goal: learn fast without creating a heavy operation.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05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5-8 Starting Categories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Select practical, common, and manageable local services.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325880"/>
            <a:ext cx="4983480" cy="685800"/>
          </a:xfrm>
          <a:prstGeom prst="roundRect">
            <a:avLst>
              <a:gd name="adj" fmla="val 16000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435608"/>
            <a:ext cx="47457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Appliance repair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urgent household need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17920" y="1325880"/>
            <a:ext cx="4983480" cy="685800"/>
          </a:xfrm>
          <a:prstGeom prst="roundRect">
            <a:avLst>
              <a:gd name="adj" fmla="val 16000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36792" y="1435608"/>
            <a:ext cx="47457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Plumbing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leaks and clogs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4983480" cy="685800"/>
          </a:xfrm>
          <a:prstGeom prst="roundRect">
            <a:avLst>
              <a:gd name="adj" fmla="val 16000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0392" y="2395728"/>
            <a:ext cx="47457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Electrical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common but safety-sensitive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286000"/>
            <a:ext cx="4983480" cy="685800"/>
          </a:xfrm>
          <a:prstGeom prst="roundRect">
            <a:avLst>
              <a:gd name="adj" fmla="val 16000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6792" y="2395728"/>
            <a:ext cx="47457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Computer repair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students/offices/homes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246120"/>
            <a:ext cx="4983480" cy="685800"/>
          </a:xfrm>
          <a:prstGeom prst="roundRect">
            <a:avLst>
              <a:gd name="adj" fmla="val 16000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50392" y="3355848"/>
            <a:ext cx="47457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Motorcycle repair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local mobility need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4983480" cy="685800"/>
          </a:xfrm>
          <a:prstGeom prst="roundRect">
            <a:avLst>
              <a:gd name="adj" fmla="val 16000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3355848"/>
            <a:ext cx="47457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Carpentry / maintenance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small repairs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206240"/>
            <a:ext cx="4983480" cy="685800"/>
          </a:xfrm>
          <a:prstGeom prst="roundRect">
            <a:avLst>
              <a:gd name="adj" fmla="val 16000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4315968"/>
            <a:ext cx="47457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Cleaning / odd jobs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flexible supply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17920" y="4206240"/>
            <a:ext cx="4983480" cy="685800"/>
          </a:xfrm>
          <a:prstGeom prst="roundRect">
            <a:avLst>
              <a:gd name="adj" fmla="val 16000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6792" y="4315968"/>
            <a:ext cx="474573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Digital services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layouts, designs, basic tech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14400" y="562356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B2C2C"/>
                </a:solidFill>
              </a:rPr>
              <a:t>Avoid high-risk or hard-to-control services at the start.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06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Build the Manual System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Use simple tools first. Let the process teach the software.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08760"/>
            <a:ext cx="32461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618488"/>
            <a:ext cx="300837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52E"/>
                </a:solidFill>
              </a:rPr>
              <a:t>Facebook Page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C252E"/>
                </a:solidFill>
              </a:rPr>
              <a:t>public presence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26280" y="1508760"/>
            <a:ext cx="32461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1618488"/>
            <a:ext cx="300837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52E"/>
                </a:solidFill>
              </a:rPr>
              <a:t>Provider Form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C252E"/>
                </a:solidFill>
              </a:rPr>
              <a:t>supply intake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275320" y="1508760"/>
            <a:ext cx="32461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94192" y="1618488"/>
            <a:ext cx="300837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52E"/>
                </a:solidFill>
              </a:rPr>
              <a:t>Client Request Form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C252E"/>
                </a:solidFill>
              </a:rPr>
              <a:t>demand intake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017520"/>
            <a:ext cx="32461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3127248"/>
            <a:ext cx="300837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52E"/>
                </a:solidFill>
              </a:rPr>
              <a:t>Provider Sheet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C252E"/>
                </a:solidFill>
              </a:rPr>
              <a:t>supply database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26280" y="3017520"/>
            <a:ext cx="32461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3127248"/>
            <a:ext cx="300837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52E"/>
                </a:solidFill>
              </a:rPr>
              <a:t>Request Tracker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C252E"/>
                </a:solidFill>
              </a:rPr>
              <a:t>job evidence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75320" y="3017520"/>
            <a:ext cx="324612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3127248"/>
            <a:ext cx="300837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252E"/>
                </a:solidFill>
              </a:rPr>
              <a:t>Messenger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C252E"/>
                </a:solidFill>
              </a:rPr>
              <a:t>manual matching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05840" y="512064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324A"/>
                </a:solidFill>
              </a:rPr>
              <a:t>This is the concierge pilot: manually doing what the app will later automate.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07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Recruit Providers First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Clients will only trust KAILA if relevant providers are already available.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17320"/>
            <a:ext cx="960120" cy="960120"/>
          </a:xfrm>
          <a:prstGeom prst="ellipse">
            <a:avLst/>
          </a:prstGeom>
          <a:noFill/>
          <a:ln w="38100">
            <a:solidFill>
              <a:srgbClr val="2E8B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2324A"/>
                </a:solidFill>
              </a:rPr>
              <a:t>50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45059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770"/>
                </a:solidFill>
              </a:rPr>
              <a:t>target providers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68880" y="1417320"/>
            <a:ext cx="960120" cy="960120"/>
          </a:xfrm>
          <a:prstGeom prst="ellipse">
            <a:avLst/>
          </a:prstGeom>
          <a:noFill/>
          <a:ln w="38100">
            <a:solidFill>
              <a:srgbClr val="1F6F8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58191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2324A"/>
                </a:solidFill>
              </a:rPr>
              <a:t>5-8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331720" y="245059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770"/>
                </a:solidFill>
              </a:rPr>
              <a:t>categories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14800" y="1417320"/>
            <a:ext cx="960120" cy="960120"/>
          </a:xfrm>
          <a:prstGeom prst="ellipse">
            <a:avLst/>
          </a:prstGeom>
          <a:noFill/>
          <a:ln w="38100">
            <a:solidFill>
              <a:srgbClr val="F2B8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60520" y="158191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2324A"/>
                </a:solidFill>
              </a:rPr>
              <a:t>3-5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977640" y="245059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5B6770"/>
                </a:solidFill>
              </a:rPr>
              <a:t>providers per request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3337560"/>
            <a:ext cx="100584" cy="457200"/>
          </a:xfrm>
          <a:prstGeom prst="rect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8B57"/>
                </a:solidFill>
              </a:rPr>
              <a:t>Recruitment channels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931920"/>
            <a:ext cx="4937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550" dirty="0">
                <a:solidFill>
                  <a:srgbClr val="1C2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network and local contacts</a:t>
            </a:r>
            <a:endParaRPr lang="en-US" sz="1550" dirty="0"/>
          </a:p>
          <a:p>
            <a:r>
              <a:rPr lang="en-US" sz="1550" dirty="0">
                <a:solidFill>
                  <a:srgbClr val="1C2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 groups, Marketplace, service posts</a:t>
            </a:r>
            <a:endParaRPr lang="en-US" sz="1550" dirty="0"/>
          </a:p>
          <a:p>
            <a:r>
              <a:rPr lang="en-US" sz="1550" dirty="0">
                <a:solidFill>
                  <a:srgbClr val="1C2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shops, hardware stores, motorcycle shops</a:t>
            </a:r>
            <a:endParaRPr lang="en-US" sz="1550" dirty="0"/>
          </a:p>
          <a:p>
            <a:r>
              <a:rPr lang="en-US" sz="1550" dirty="0">
                <a:solidFill>
                  <a:srgbClr val="1C2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referrals and provider-to-provider referrals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675120" y="3154680"/>
            <a:ext cx="4297680" cy="2194560"/>
          </a:xfrm>
          <a:prstGeom prst="roundRect">
            <a:avLst>
              <a:gd name="adj" fmla="val 5000"/>
            </a:avLst>
          </a:prstGeom>
          <a:solidFill>
            <a:srgbClr val="EEF7F2"/>
          </a:solidFill>
          <a:ln w="12700">
            <a:solidFill>
              <a:srgbClr val="A7D8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93992" y="3264408"/>
            <a:ext cx="405993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C252E"/>
                </a:solidFill>
              </a:rPr>
              <a:t>Provider pitch must answer:</a:t>
            </a:r>
            <a:endParaRPr lang="en-US" sz="1600" dirty="0"/>
          </a:p>
          <a:p>
            <a:pPr marL="0" indent="0" algn="l">
              <a:buNone/>
            </a:pP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C252E"/>
                </a:solidFill>
              </a:rPr>
              <a:t>Will this help me get clients?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C252E"/>
                </a:solidFill>
              </a:rPr>
              <a:t>Is it free?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C252E"/>
                </a:solidFill>
              </a:rPr>
              <a:t>Can I accept or decline?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C252E"/>
                </a:solidFill>
              </a:rPr>
              <a:t>Can I control my price?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08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4: Make Trust Visible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Do not present all providers as equally verified.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1920240" cy="1051560"/>
          </a:xfrm>
          <a:prstGeom prst="chevron">
            <a:avLst/>
          </a:prstGeom>
          <a:solidFill>
            <a:srgbClr val="1232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671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ln>
                  <a:solidFill>
                    <a:srgbClr val="12324A"/>
                  </a:solidFill>
                </a:ln>
                <a:solidFill>
                  <a:srgbClr val="FFFFFF"/>
                </a:solidFill>
              </a:rPr>
              <a:t>1</a:t>
            </a:r>
            <a:endParaRPr lang="en-US" sz="2300" dirty="0">
              <a:ln>
                <a:solidFill>
                  <a:srgbClr val="12324A"/>
                </a:solidFill>
              </a:ln>
            </a:endParaRPr>
          </a:p>
        </p:txBody>
      </p:sp>
      <p:sp>
        <p:nvSpPr>
          <p:cNvPr id="7" name="Text 5"/>
          <p:cNvSpPr/>
          <p:nvPr/>
        </p:nvSpPr>
        <p:spPr>
          <a:xfrm>
            <a:off x="1280160" y="22128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Listed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99232" y="2011680"/>
            <a:ext cx="1920240" cy="1051560"/>
          </a:xfrm>
          <a:prstGeom prst="chevron">
            <a:avLst/>
          </a:prstGeom>
          <a:solidFill>
            <a:srgbClr val="1F6F8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44952" y="21671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ln>
                  <a:solidFill>
                    <a:srgbClr val="1F6F8B"/>
                  </a:solidFill>
                </a:ln>
                <a:solidFill>
                  <a:srgbClr val="FFFFFF"/>
                </a:solidFill>
              </a:rPr>
              <a:t>2</a:t>
            </a:r>
            <a:endParaRPr lang="en-US" sz="2300" dirty="0">
              <a:ln>
                <a:solidFill>
                  <a:srgbClr val="1F6F8B"/>
                </a:solidFill>
              </a:ln>
            </a:endParaRPr>
          </a:p>
        </p:txBody>
      </p:sp>
      <p:sp>
        <p:nvSpPr>
          <p:cNvPr id="10" name="Text 8"/>
          <p:cNvSpPr/>
          <p:nvPr/>
        </p:nvSpPr>
        <p:spPr>
          <a:xfrm>
            <a:off x="3502152" y="22128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Identity Verified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221224" y="2011680"/>
            <a:ext cx="1920240" cy="1051560"/>
          </a:xfrm>
          <a:prstGeom prst="chevron">
            <a:avLst/>
          </a:prstGeom>
          <a:solidFill>
            <a:srgbClr val="2E8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66944" y="21671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ln>
                  <a:solidFill>
                    <a:srgbClr val="2E8B57"/>
                  </a:solidFill>
                </a:ln>
                <a:solidFill>
                  <a:srgbClr val="FFFFFF"/>
                </a:solidFill>
              </a:rPr>
              <a:t>3</a:t>
            </a:r>
            <a:endParaRPr lang="en-US" sz="2300" dirty="0">
              <a:ln>
                <a:solidFill>
                  <a:srgbClr val="2E8B57"/>
                </a:solidFill>
              </a:ln>
            </a:endParaRPr>
          </a:p>
        </p:txBody>
      </p:sp>
      <p:sp>
        <p:nvSpPr>
          <p:cNvPr id="13" name="Text 11"/>
          <p:cNvSpPr/>
          <p:nvPr/>
        </p:nvSpPr>
        <p:spPr>
          <a:xfrm>
            <a:off x="5724144" y="22128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Work Verified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43216" y="2011680"/>
            <a:ext cx="1920240" cy="1051560"/>
          </a:xfrm>
          <a:prstGeom prst="chevron">
            <a:avLst/>
          </a:prstGeom>
          <a:solidFill>
            <a:srgbClr val="F2B84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88936" y="21671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ln>
                  <a:solidFill>
                    <a:srgbClr val="F2B84B"/>
                  </a:solidFill>
                </a:ln>
                <a:solidFill>
                  <a:srgbClr val="1C252E"/>
                </a:solidFill>
              </a:rPr>
              <a:t>4</a:t>
            </a:r>
            <a:endParaRPr lang="en-US" sz="2300" dirty="0">
              <a:ln>
                <a:solidFill>
                  <a:srgbClr val="F2B84B"/>
                </a:solidFill>
              </a:ln>
            </a:endParaRPr>
          </a:p>
        </p:txBody>
      </p:sp>
      <p:sp>
        <p:nvSpPr>
          <p:cNvPr id="16" name="Text 14"/>
          <p:cNvSpPr/>
          <p:nvPr/>
        </p:nvSpPr>
        <p:spPr>
          <a:xfrm>
            <a:off x="7946136" y="22128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1C252E"/>
                </a:solidFill>
              </a:rPr>
              <a:t>Top Rated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665208" y="2011680"/>
            <a:ext cx="1920240" cy="1051560"/>
          </a:xfrm>
          <a:prstGeom prst="chevron">
            <a:avLst/>
          </a:prstGeom>
          <a:solidFill>
            <a:srgbClr val="7A4B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10928" y="216712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ln>
                  <a:solidFill>
                    <a:srgbClr val="7A4B93"/>
                  </a:solidFill>
                </a:ln>
                <a:solidFill>
                  <a:srgbClr val="FFFFFF"/>
                </a:solidFill>
              </a:rPr>
              <a:t>5</a:t>
            </a:r>
            <a:endParaRPr lang="en-US" sz="2300" dirty="0">
              <a:ln>
                <a:solidFill>
                  <a:srgbClr val="7A4B93"/>
                </a:solidFill>
              </a:ln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168128" y="221284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Certified / Business Verified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97280" y="4069080"/>
            <a:ext cx="97840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16152" y="4178808"/>
            <a:ext cx="95463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52E"/>
                </a:solidFill>
              </a:rPr>
              <a:t>Trust grows through identity checks, work samples, completed pilot jobs, ratings, response speed, and low dispute rate.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09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5: Validate Client Demand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Listen for repeated pain points before launching publicly.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25880"/>
            <a:ext cx="4754880" cy="502920"/>
          </a:xfrm>
          <a:prstGeom prst="roundRect">
            <a:avLst>
              <a:gd name="adj" fmla="val 21818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435608"/>
            <a:ext cx="4517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C252E"/>
                </a:solidFill>
              </a:rPr>
              <a:t>Lisod mangita ug kasaligan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806440" y="1325880"/>
            <a:ext cx="425196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5312" y="1435608"/>
            <a:ext cx="4014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1C252E"/>
                </a:solidFill>
              </a:rPr>
              <a:t>trust problem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2057400"/>
            <a:ext cx="4754880" cy="502920"/>
          </a:xfrm>
          <a:prstGeom prst="roundRect">
            <a:avLst>
              <a:gd name="adj" fmla="val 21818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41832" y="2167128"/>
            <a:ext cx="4517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C252E"/>
                </a:solidFill>
              </a:rPr>
              <a:t>Walay klaro nga presyo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806440" y="2057400"/>
            <a:ext cx="425196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25312" y="2167128"/>
            <a:ext cx="4014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1C252E"/>
                </a:solidFill>
              </a:rPr>
              <a:t>pricing problem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22960" y="2788920"/>
            <a:ext cx="4754880" cy="502920"/>
          </a:xfrm>
          <a:prstGeom prst="roundRect">
            <a:avLst>
              <a:gd name="adj" fmla="val 21818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1832" y="2898648"/>
            <a:ext cx="4517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C252E"/>
                </a:solidFill>
              </a:rPr>
              <a:t>Dugay mu-reply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806440" y="2788920"/>
            <a:ext cx="425196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25312" y="2898648"/>
            <a:ext cx="4014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1C252E"/>
                </a:solidFill>
              </a:rPr>
              <a:t>response problem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822960" y="3520440"/>
            <a:ext cx="4754880" cy="502920"/>
          </a:xfrm>
          <a:prstGeom prst="roundRect">
            <a:avLst>
              <a:gd name="adj" fmla="val 21818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1832" y="3630168"/>
            <a:ext cx="4517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C252E"/>
                </a:solidFill>
              </a:rPr>
              <a:t>Referral ra gyud mi magsalig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806440" y="3520440"/>
            <a:ext cx="425196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25312" y="3630168"/>
            <a:ext cx="4014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1C252E"/>
                </a:solidFill>
              </a:rPr>
              <a:t>informal discovery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22960" y="4251960"/>
            <a:ext cx="4754880" cy="502920"/>
          </a:xfrm>
          <a:prstGeom prst="roundRect">
            <a:avLst>
              <a:gd name="adj" fmla="val 21818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832" y="4361688"/>
            <a:ext cx="45171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1C252E"/>
                </a:solidFill>
              </a:rPr>
              <a:t>Wala ko kabalo kinsa duol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806440" y="4251960"/>
            <a:ext cx="4251960" cy="502920"/>
          </a:xfrm>
          <a:prstGeom prst="roundRect">
            <a:avLst>
              <a:gd name="adj" fmla="val 21818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25312" y="4361688"/>
            <a:ext cx="40142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1C252E"/>
                </a:solidFill>
              </a:rPr>
              <a:t>location discovery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097280" y="5486400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8B57"/>
                </a:solidFill>
              </a:rPr>
              <a:t>Target: 100 resident responses, or at least 30-50 strong responses before starting the first requests.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10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6: Run the Concierge Pilot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The first KAILA workflow should be manual, measurable, and repeatable.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03120" y="2331720"/>
            <a:ext cx="365760" cy="0"/>
          </a:xfrm>
          <a:prstGeom prst="line">
            <a:avLst/>
          </a:prstGeom>
          <a:noFill/>
          <a:ln w="22860">
            <a:solidFill>
              <a:srgbClr val="1F6F8B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023360" y="2331720"/>
            <a:ext cx="502920" cy="0"/>
          </a:xfrm>
          <a:prstGeom prst="line">
            <a:avLst/>
          </a:prstGeom>
          <a:noFill/>
          <a:ln w="22860">
            <a:solidFill>
              <a:srgbClr val="1F6F8B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080760" y="2331720"/>
            <a:ext cx="457200" cy="0"/>
          </a:xfrm>
          <a:prstGeom prst="line">
            <a:avLst/>
          </a:prstGeom>
          <a:noFill/>
          <a:ln w="22860">
            <a:solidFill>
              <a:srgbClr val="1F6F8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8092440" y="2331720"/>
            <a:ext cx="274320" cy="0"/>
          </a:xfrm>
          <a:prstGeom prst="line">
            <a:avLst/>
          </a:prstGeom>
          <a:noFill/>
          <a:ln w="22860">
            <a:solidFill>
              <a:srgbClr val="1F6F8B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921240" y="2331720"/>
            <a:ext cx="91440" cy="0"/>
          </a:xfrm>
          <a:prstGeom prst="line">
            <a:avLst/>
          </a:prstGeom>
          <a:noFill/>
          <a:ln w="22860">
            <a:solidFill>
              <a:srgbClr val="1F6F8B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1920240"/>
            <a:ext cx="15087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2029968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Client request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560320" y="1920240"/>
            <a:ext cx="1508760" cy="841248"/>
          </a:xfrm>
          <a:prstGeom prst="roundRect">
            <a:avLst>
              <a:gd name="adj" fmla="val 13043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79192" y="2029968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KAILA checks details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17720" y="1920240"/>
            <a:ext cx="15087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6592" y="2029968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Forward to providers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629400" y="1920240"/>
            <a:ext cx="1508760" cy="841248"/>
          </a:xfrm>
          <a:prstGeom prst="roundRect">
            <a:avLst>
              <a:gd name="adj" fmla="val 13043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48272" y="2029968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Offers received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58200" y="1920240"/>
            <a:ext cx="150876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7072" y="2029968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Client chooses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104120" y="1920240"/>
            <a:ext cx="1508760" cy="841248"/>
          </a:xfrm>
          <a:prstGeom prst="roundRect">
            <a:avLst>
              <a:gd name="adj" fmla="val 13043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22992" y="2029968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Job + ratings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1097280" y="4069080"/>
            <a:ext cx="996696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16152" y="4178808"/>
            <a:ext cx="9729216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C252E"/>
                </a:solidFill>
              </a:rPr>
              <a:t>Record every step: time received, providers contacted, response time, offers, selected provider, agreed amount, completion, ratings, and issues.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11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Matching Script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Use a consistent request format so providers can respond quickly.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508760"/>
            <a:ext cx="5029200" cy="3383280"/>
          </a:xfrm>
          <a:prstGeom prst="roundRect">
            <a:avLst>
              <a:gd name="adj" fmla="val 3243"/>
            </a:avLst>
          </a:prstGeom>
          <a:solidFill>
            <a:srgbClr val="EAF4F8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618488"/>
            <a:ext cx="4791456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C252E"/>
                </a:solidFill>
              </a:rPr>
              <a:t>KAILA Request #001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C252E"/>
                </a:solidFill>
              </a:rPr>
              <a:t>Category: Plumbing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C252E"/>
                </a:solidFill>
              </a:rPr>
              <a:t>Area: Barangay 23, Gingoog City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C252E"/>
                </a:solidFill>
              </a:rPr>
              <a:t>Problem: Clogged kitchen sink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C252E"/>
                </a:solidFill>
              </a:rPr>
              <a:t>Urgency: Today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C252E"/>
                </a:solidFill>
              </a:rPr>
              <a:t>Budget: PHP 500-PHP 800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1C252E"/>
                </a:solidFill>
              </a:rPr>
              <a:t>Can you take this job? If yes, send your offer and available time.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0" y="1645920"/>
            <a:ext cx="4389120" cy="2926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r>
              <a:rPr lang="en-US" sz="1800" dirty="0">
                <a:solidFill>
                  <a:srgbClr val="1C2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to 3-5 matching providers.</a:t>
            </a:r>
            <a:endParaRPr lang="en-US" sz="1800" dirty="0"/>
          </a:p>
          <a:p>
            <a:r>
              <a:rPr lang="en-US" sz="1800" dirty="0">
                <a:solidFill>
                  <a:srgbClr val="1C2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who replies and how fast.</a:t>
            </a:r>
            <a:endParaRPr lang="en-US" sz="1800" dirty="0"/>
          </a:p>
          <a:p>
            <a:r>
              <a:rPr lang="en-US" sz="1800" dirty="0">
                <a:solidFill>
                  <a:srgbClr val="1C2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client compare offers clearly.</a:t>
            </a:r>
            <a:endParaRPr lang="en-US" sz="1800" dirty="0"/>
          </a:p>
          <a:p>
            <a:r>
              <a:rPr lang="en-US" sz="1800" dirty="0">
                <a:solidFill>
                  <a:srgbClr val="1C25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share unnecessary private details too early.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12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7: Track the Right Metrics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The pilot must be judged by evidence, not excitement.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17320"/>
            <a:ext cx="24231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527048"/>
            <a:ext cx="218541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Active providers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supply strength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3566160" y="1417320"/>
            <a:ext cx="24231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85032" y="1527048"/>
            <a:ext cx="218541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Requests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demand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55080" y="1417320"/>
            <a:ext cx="24231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1527048"/>
            <a:ext cx="218541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Response rate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provider seriousness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9144000" y="1417320"/>
            <a:ext cx="24231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62872" y="1527048"/>
            <a:ext cx="218541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Offers/request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market activity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77240" y="2743200"/>
            <a:ext cx="24231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2852928"/>
            <a:ext cx="218541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Completed jobs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actual value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3566160" y="2743200"/>
            <a:ext cx="24231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85032" y="2852928"/>
            <a:ext cx="218541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Ratings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trust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355080" y="2743200"/>
            <a:ext cx="24231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73952" y="2852928"/>
            <a:ext cx="218541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Disputes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risk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9144000" y="2743200"/>
            <a:ext cx="242316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62872" y="2852928"/>
            <a:ext cx="218541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GMV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1C252E"/>
                </a:solidFill>
              </a:rPr>
              <a:t>peso value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005840" y="5166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2324A"/>
                </a:solidFill>
              </a:rPr>
              <a:t>GMV = total peso value of completed jobs through KAILA.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13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8: Go / No-Go Decision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After the pilot, choose the next move based on evidence.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1732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EEF7F2"/>
          </a:solidFill>
          <a:ln w="12700">
            <a:solidFill>
              <a:srgbClr val="A7D8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1527048"/>
            <a:ext cx="3145536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Proceed to MVP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Real requests, provider response, 15+ completed/strongly matched jobs, ratings accepted, disputes manageable.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34840" y="141732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EAF4F8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53712" y="1527048"/>
            <a:ext cx="3145536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Narrow scope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Only 1-2 categories work strongly. Focus on the winning categories instead of stopping.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92440" y="1417320"/>
            <a:ext cx="3383280" cy="2926080"/>
          </a:xfrm>
          <a:prstGeom prst="roundRect">
            <a:avLst>
              <a:gd name="adj" fmla="val 3750"/>
            </a:avLst>
          </a:prstGeom>
          <a:solidFill>
            <a:srgbClr val="FDECEC"/>
          </a:solidFill>
          <a:ln w="12700">
            <a:solidFill>
              <a:srgbClr val="E8B5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11312" y="1527048"/>
            <a:ext cx="3145536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Redesign / pause</a:t>
            </a:r>
            <a:endParaRPr lang="en-US" sz="1500" dirty="0"/>
          </a:p>
          <a:p>
            <a:pPr marL="0" indent="0" algn="l">
              <a:buNone/>
            </a:pP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1C252E"/>
                </a:solidFill>
              </a:rPr>
              <a:t>Providers refuse, clients avoid posting, trust barriers are too high, or operations cannot support matching.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257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324A"/>
                </a:solidFill>
              </a:rPr>
              <a:t>Decision question: What does the data say?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14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9: Build MVP Only After Strong Signals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The MVP should digitize the proven manual workflow.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1732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41832" y="1527048"/>
            <a:ext cx="2871216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Client</a:t>
            </a:r>
            <a:endParaRPr lang="en-US" sz="1700" dirty="0"/>
          </a:p>
          <a:p>
            <a:pPr marL="0" indent="0" algn="ctr">
              <a:buNone/>
            </a:pP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Register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Post request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Compare offers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Choose provider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Confirm + rate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26280" y="141732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45152" y="1527048"/>
            <a:ext cx="2871216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Provider</a:t>
            </a:r>
            <a:endParaRPr lang="en-US" sz="1700" dirty="0"/>
          </a:p>
          <a:p>
            <a:pPr marL="0" indent="0" algn="ctr">
              <a:buNone/>
            </a:pP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Create profile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View matching requests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Send offer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Update job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Rate client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0" y="1417320"/>
            <a:ext cx="3108960" cy="3474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48472" y="1527048"/>
            <a:ext cx="2871216" cy="32552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Admin</a:t>
            </a:r>
            <a:endParaRPr lang="en-US" sz="1700" dirty="0"/>
          </a:p>
          <a:p>
            <a:pPr marL="0" indent="0" algn="ctr">
              <a:buNone/>
            </a:pP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Manage users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Verify providers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Track jobs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Handle disputes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1C252E"/>
                </a:solidFill>
              </a:rPr>
              <a:t>View reports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15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Build These Yet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Avoid heavy features before the core marketplace behavior is proven.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1508760"/>
            <a:ext cx="3840480" cy="502920"/>
          </a:xfrm>
          <a:prstGeom prst="roundRect">
            <a:avLst>
              <a:gd name="adj" fmla="val 21818"/>
            </a:avLst>
          </a:prstGeom>
          <a:solidFill>
            <a:srgbClr val="FDECEC"/>
          </a:solidFill>
          <a:ln w="12700">
            <a:solidFill>
              <a:srgbClr val="E8B5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99032" y="1618488"/>
            <a:ext cx="3602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B2C2C"/>
                </a:solidFill>
              </a:rPr>
              <a:t>In-app payments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2286000"/>
            <a:ext cx="3840480" cy="502920"/>
          </a:xfrm>
          <a:prstGeom prst="roundRect">
            <a:avLst>
              <a:gd name="adj" fmla="val 21818"/>
            </a:avLst>
          </a:prstGeom>
          <a:solidFill>
            <a:srgbClr val="FDECEC"/>
          </a:solidFill>
          <a:ln w="12700">
            <a:solidFill>
              <a:srgbClr val="E8B5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99032" y="2395728"/>
            <a:ext cx="3602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B2C2C"/>
                </a:solidFill>
              </a:rPr>
              <a:t>GPS live tracking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80160" y="3063240"/>
            <a:ext cx="3840480" cy="502920"/>
          </a:xfrm>
          <a:prstGeom prst="roundRect">
            <a:avLst>
              <a:gd name="adj" fmla="val 21818"/>
            </a:avLst>
          </a:prstGeom>
          <a:solidFill>
            <a:srgbClr val="FDECEC"/>
          </a:solidFill>
          <a:ln w="12700">
            <a:solidFill>
              <a:srgbClr val="E8B5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99032" y="3172968"/>
            <a:ext cx="3602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B2C2C"/>
                </a:solidFill>
              </a:rPr>
              <a:t>Native mobile apps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80160" y="3840480"/>
            <a:ext cx="3840480" cy="502920"/>
          </a:xfrm>
          <a:prstGeom prst="roundRect">
            <a:avLst>
              <a:gd name="adj" fmla="val 21818"/>
            </a:avLst>
          </a:prstGeom>
          <a:solidFill>
            <a:srgbClr val="FDECEC"/>
          </a:solidFill>
          <a:ln w="12700">
            <a:solidFill>
              <a:srgbClr val="E8B5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99032" y="3950208"/>
            <a:ext cx="3602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B2C2C"/>
                </a:solidFill>
              </a:rPr>
              <a:t>Complex AI matching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80160" y="4617720"/>
            <a:ext cx="3840480" cy="502920"/>
          </a:xfrm>
          <a:prstGeom prst="roundRect">
            <a:avLst>
              <a:gd name="adj" fmla="val 21818"/>
            </a:avLst>
          </a:prstGeom>
          <a:solidFill>
            <a:srgbClr val="FDECEC"/>
          </a:solidFill>
          <a:ln w="12700">
            <a:solidFill>
              <a:srgbClr val="E8B5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99032" y="4727448"/>
            <a:ext cx="360273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B2C2C"/>
                </a:solidFill>
              </a:rPr>
              <a:t>Large-scale automation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0" y="1645920"/>
            <a:ext cx="4389120" cy="3108960"/>
          </a:xfrm>
          <a:prstGeom prst="roundRect">
            <a:avLst>
              <a:gd name="adj" fmla="val 3529"/>
            </a:avLst>
          </a:prstGeom>
          <a:solidFill>
            <a:srgbClr val="EEF7F2"/>
          </a:solidFill>
          <a:ln w="12700">
            <a:solidFill>
              <a:srgbClr val="A7D8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19672" y="1755648"/>
            <a:ext cx="4151376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C252E"/>
                </a:solidFill>
              </a:rPr>
              <a:t>First prove:</a:t>
            </a:r>
            <a:endParaRPr lang="en-US" sz="2000" dirty="0"/>
          </a:p>
          <a:p>
            <a:pPr marL="0" indent="0" algn="ctr">
              <a:buNone/>
            </a:pPr>
            <a:endParaRPr lang="en-US" sz="20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1C252E"/>
                </a:solidFill>
              </a:rPr>
              <a:t>request posting -&gt; provider offers -&gt; client selection -&gt; job completion -&gt; ratings -&gt; trust improvement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16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10: Monetize Slowly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Do not charge until providers feel real value.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23360"/>
            <a:ext cx="2743200" cy="1325880"/>
          </a:xfrm>
          <a:prstGeom prst="upArrow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51560" y="43891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n>
                  <a:solidFill>
                    <a:srgbClr val="2E8B57"/>
                  </a:solidFill>
                </a:ln>
                <a:solidFill>
                  <a:srgbClr val="FFFFFF"/>
                </a:solidFill>
              </a:rPr>
              <a:t>1</a:t>
            </a:r>
            <a:endParaRPr lang="en-US" sz="2200" dirty="0">
              <a:ln>
                <a:solidFill>
                  <a:srgbClr val="2E8B57"/>
                </a:solidFill>
              </a:ln>
            </a:endParaRPr>
          </a:p>
        </p:txBody>
      </p:sp>
      <p:sp>
        <p:nvSpPr>
          <p:cNvPr id="7" name="Text 5"/>
          <p:cNvSpPr/>
          <p:nvPr/>
        </p:nvSpPr>
        <p:spPr>
          <a:xfrm>
            <a:off x="1554480" y="44439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Free pilot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23488" y="480060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80" dirty="0">
                <a:ln w="3175">
                  <a:noFill/>
                </a:ln>
                <a:solidFill>
                  <a:srgbClr val="E8F4F8"/>
                </a:solidFill>
              </a:rPr>
              <a:t>b</a:t>
            </a:r>
            <a:r>
              <a:rPr lang="en-US" sz="980" dirty="0">
                <a:solidFill>
                  <a:srgbClr val="E8F4F8"/>
                </a:solidFill>
              </a:rPr>
              <a:t>uild trust</a:t>
            </a:r>
            <a:endParaRPr lang="en-US" sz="980" dirty="0"/>
          </a:p>
        </p:txBody>
      </p:sp>
      <p:sp>
        <p:nvSpPr>
          <p:cNvPr id="9" name="Shape 7"/>
          <p:cNvSpPr/>
          <p:nvPr/>
        </p:nvSpPr>
        <p:spPr>
          <a:xfrm>
            <a:off x="4572000" y="3200400"/>
            <a:ext cx="2743200" cy="1737360"/>
          </a:xfrm>
          <a:prstGeom prst="upArrow">
            <a:avLst/>
          </a:prstGeom>
          <a:solidFill>
            <a:srgbClr val="1F6F8B"/>
          </a:solidFill>
          <a:ln w="12700">
            <a:solidFill>
              <a:srgbClr val="1F6F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356616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n>
                  <a:solidFill>
                    <a:srgbClr val="1F6F8B"/>
                  </a:solidFill>
                </a:ln>
                <a:solidFill>
                  <a:srgbClr val="FFFFFF"/>
                </a:solidFill>
              </a:rPr>
              <a:t>2</a:t>
            </a:r>
            <a:endParaRPr lang="en-US" sz="2200" dirty="0">
              <a:ln>
                <a:solidFill>
                  <a:srgbClr val="1F6F8B"/>
                </a:solidFill>
              </a:ln>
            </a:endParaRPr>
          </a:p>
        </p:txBody>
      </p:sp>
      <p:sp>
        <p:nvSpPr>
          <p:cNvPr id="11" name="Text 9"/>
          <p:cNvSpPr/>
          <p:nvPr/>
        </p:nvSpPr>
        <p:spPr>
          <a:xfrm>
            <a:off x="5212080" y="36210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Visibility products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298342" y="397764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E8F4F8"/>
                </a:solidFill>
              </a:rPr>
              <a:t>premium profiles /</a:t>
            </a:r>
          </a:p>
          <a:p>
            <a:pPr marL="0" indent="0">
              <a:buNone/>
            </a:pPr>
            <a:r>
              <a:rPr lang="en-US" sz="980" dirty="0">
                <a:solidFill>
                  <a:srgbClr val="E8F4F8"/>
                </a:solidFill>
              </a:rPr>
              <a:t>featured listing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8229600" y="2377440"/>
            <a:ext cx="2743200" cy="2148840"/>
          </a:xfrm>
          <a:prstGeom prst="upArrow">
            <a:avLst/>
          </a:prstGeom>
          <a:solidFill>
            <a:srgbClr val="12324A"/>
          </a:solidFill>
          <a:ln w="12700">
            <a:solidFill>
              <a:srgbClr val="1232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66760" y="2743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n>
                  <a:solidFill>
                    <a:srgbClr val="12324A"/>
                  </a:solidFill>
                </a:ln>
                <a:solidFill>
                  <a:srgbClr val="FFFFFF"/>
                </a:solidFill>
              </a:rPr>
              <a:t>3</a:t>
            </a:r>
            <a:endParaRPr lang="en-US" sz="2200" dirty="0">
              <a:ln>
                <a:solidFill>
                  <a:srgbClr val="12324A"/>
                </a:solidFill>
              </a:ln>
            </a:endParaRPr>
          </a:p>
        </p:txBody>
      </p:sp>
      <p:sp>
        <p:nvSpPr>
          <p:cNvPr id="15" name="Text 13"/>
          <p:cNvSpPr/>
          <p:nvPr/>
        </p:nvSpPr>
        <p:spPr>
          <a:xfrm>
            <a:off x="8869680" y="284119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400" b="1" dirty="0">
                <a:ln>
                  <a:solidFill>
                    <a:srgbClr val="12324A"/>
                  </a:solidFill>
                </a:ln>
                <a:solidFill>
                  <a:srgbClr val="FFFFFF"/>
                </a:solidFill>
              </a:rPr>
              <a:t>L</a:t>
            </a:r>
            <a:r>
              <a:rPr lang="en-US" sz="1400" b="1" dirty="0">
                <a:solidFill>
                  <a:srgbClr val="FFFFFF"/>
                </a:solidFill>
              </a:rPr>
              <a:t>ead or transaction revenue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69680" y="319781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980" dirty="0">
                <a:solidFill>
                  <a:srgbClr val="E8F4F8"/>
                </a:solidFill>
              </a:rPr>
              <a:t>lead credits / subscriptions / commission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1097280" y="1371600"/>
            <a:ext cx="9784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E8B57"/>
                </a:solidFill>
              </a:rPr>
              <a:t>Recommended first paid product: Provider visibility, not commission.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17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Roles Must Be Clear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Even if one person holds multiple roles, responsibilities should be named.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78240" y="3017520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97112" y="312724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52E"/>
                </a:solidFill>
              </a:rPr>
              <a:t>Product / Tech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949440" y="4680497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68312" y="4790225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52E"/>
                </a:solidFill>
              </a:rPr>
              <a:t>Provider Acquisition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91840" y="4680497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10712" y="4790225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52E"/>
                </a:solidFill>
              </a:rPr>
              <a:t>Operations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463040" y="3017520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81912" y="312724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52E"/>
                </a:solidFill>
              </a:rPr>
              <a:t>Marketing / Community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291840" y="1354543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10712" y="1464271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52E"/>
                </a:solidFill>
              </a:rPr>
              <a:t>Finance / Admin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949440" y="1354543"/>
            <a:ext cx="1828800" cy="548640"/>
          </a:xfrm>
          <a:prstGeom prst="roundRect">
            <a:avLst>
              <a:gd name="adj" fmla="val 20000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68312" y="1464271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52E"/>
                </a:solidFill>
              </a:rPr>
              <a:t>Business Strategy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66360" y="2606040"/>
            <a:ext cx="1737360" cy="1737360"/>
          </a:xfrm>
          <a:prstGeom prst="ellipse">
            <a:avLst/>
          </a:prstGeom>
          <a:solidFill>
            <a:srgbClr val="12324A"/>
          </a:solidFill>
          <a:ln w="12700">
            <a:solidFill>
              <a:srgbClr val="1232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76672" y="306324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KAILA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Pilot Team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18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KAILA Early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Treat data, brand, provider records, and internal strategy carefully.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417320"/>
            <a:ext cx="3154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527048"/>
            <a:ext cx="291693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52E"/>
                </a:solidFill>
              </a:rPr>
              <a:t>Provider list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C252E"/>
                </a:solidFill>
              </a:rPr>
              <a:t>limit access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0" y="1417320"/>
            <a:ext cx="3154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1527048"/>
            <a:ext cx="291693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52E"/>
                </a:solidFill>
              </a:rPr>
              <a:t>Client requests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C252E"/>
                </a:solidFill>
              </a:rPr>
              <a:t>share only needed details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75320" y="1417320"/>
            <a:ext cx="3154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94192" y="1527048"/>
            <a:ext cx="291693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52E"/>
                </a:solidFill>
              </a:rPr>
              <a:t>Photos/videos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C252E"/>
                </a:solidFill>
              </a:rPr>
              <a:t>ask permission before posting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68680" y="2834640"/>
            <a:ext cx="3154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7552" y="2944368"/>
            <a:ext cx="291693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52E"/>
                </a:solidFill>
              </a:rPr>
              <a:t>Ratings/disputes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C252E"/>
                </a:solidFill>
              </a:rPr>
              <a:t>keep factual records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0" y="2834640"/>
            <a:ext cx="3154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90872" y="2944368"/>
            <a:ext cx="291693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52E"/>
                </a:solidFill>
              </a:rPr>
              <a:t>Brand/docs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C252E"/>
                </a:solidFill>
              </a:rPr>
              <a:t>organize source files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75320" y="2834640"/>
            <a:ext cx="315468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944368"/>
            <a:ext cx="291693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C252E"/>
                </a:solidFill>
              </a:rPr>
              <a:t>Code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C252E"/>
                </a:solidFill>
              </a:rPr>
              <a:t>clarify ownership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05840" y="5166360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9B2C2C"/>
                </a:solidFill>
              </a:rPr>
              <a:t>Trust can be damaged by poor data handling before the app even exists.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19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Operating Rhythm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Review evidence, improve the workflow, and assign next actions.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17320"/>
            <a:ext cx="1828800" cy="640080"/>
          </a:xfrm>
          <a:prstGeom prst="roundRect">
            <a:avLst>
              <a:gd name="adj" fmla="val 17143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152704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Providers joined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971800" y="1417320"/>
            <a:ext cx="1828800" cy="640080"/>
          </a:xfrm>
          <a:prstGeom prst="roundRect">
            <a:avLst>
              <a:gd name="adj" fmla="val 17143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90672" y="152704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Active providers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212080" y="1417320"/>
            <a:ext cx="1828800" cy="640080"/>
          </a:xfrm>
          <a:prstGeom prst="roundRect">
            <a:avLst>
              <a:gd name="adj" fmla="val 17143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30952" y="152704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Client requests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452360" y="1417320"/>
            <a:ext cx="1828800" cy="640080"/>
          </a:xfrm>
          <a:prstGeom prst="roundRect">
            <a:avLst>
              <a:gd name="adj" fmla="val 17143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71232" y="152704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Top categories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692640" y="1417320"/>
            <a:ext cx="1828800" cy="640080"/>
          </a:xfrm>
          <a:prstGeom prst="roundRect">
            <a:avLst>
              <a:gd name="adj" fmla="val 17143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811512" y="152704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Response time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1828800" cy="640080"/>
          </a:xfrm>
          <a:prstGeom prst="roundRect">
            <a:avLst>
              <a:gd name="adj" fmla="val 17143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" y="267004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Offers/request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2971800" y="2560320"/>
            <a:ext cx="1828800" cy="640080"/>
          </a:xfrm>
          <a:prstGeom prst="roundRect">
            <a:avLst>
              <a:gd name="adj" fmla="val 17143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90672" y="267004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Completed jobs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212080" y="2560320"/>
            <a:ext cx="1828800" cy="640080"/>
          </a:xfrm>
          <a:prstGeom prst="roundRect">
            <a:avLst>
              <a:gd name="adj" fmla="val 17143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30952" y="267004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Ratings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452360" y="2560320"/>
            <a:ext cx="1828800" cy="640080"/>
          </a:xfrm>
          <a:prstGeom prst="roundRect">
            <a:avLst>
              <a:gd name="adj" fmla="val 17143"/>
            </a:avLst>
          </a:prstGeom>
          <a:solidFill>
            <a:srgbClr val="EAF4F8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71232" y="267004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Disputes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9692640" y="2560320"/>
            <a:ext cx="1828800" cy="640080"/>
          </a:xfrm>
          <a:prstGeom prst="roundRect">
            <a:avLst>
              <a:gd name="adj" fmla="val 17143"/>
            </a:avLst>
          </a:prstGeom>
          <a:solidFill>
            <a:srgbClr val="EEF7F2"/>
          </a:solidFill>
          <a:ln w="12700">
            <a:solidFill>
              <a:srgbClr val="D7E3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11512" y="2670048"/>
            <a:ext cx="1591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252E"/>
                </a:solidFill>
              </a:rPr>
              <a:t>Next actions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097280" y="4709160"/>
            <a:ext cx="9784080" cy="777240"/>
          </a:xfrm>
          <a:prstGeom prst="roundRect">
            <a:avLst>
              <a:gd name="adj" fmla="val 14118"/>
            </a:avLst>
          </a:prstGeom>
          <a:solidFill>
            <a:srgbClr val="12324A"/>
          </a:solidFill>
          <a:ln w="12700">
            <a:solidFill>
              <a:srgbClr val="1232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216152" y="4818888"/>
            <a:ext cx="954633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Weekly output: metrics summary, top lessons, problems found, assigned next actions, and decision notes.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20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01752"/>
            <a:ext cx="8046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23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7 Days: Exact Starter Checklist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30352" y="74980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5B6770"/>
                </a:solidFill>
              </a:rPr>
              <a:t>Start immediately without building the app.</a:t>
            </a:r>
            <a:endParaRPr lang="en-US" sz="1080" dirty="0"/>
          </a:p>
        </p:txBody>
      </p:sp>
      <p:sp>
        <p:nvSpPr>
          <p:cNvPr id="4" name="Shape 2"/>
          <p:cNvSpPr/>
          <p:nvPr/>
        </p:nvSpPr>
        <p:spPr>
          <a:xfrm>
            <a:off x="502920" y="1069848"/>
            <a:ext cx="11201400" cy="0"/>
          </a:xfrm>
          <a:prstGeom prst="line">
            <a:avLst/>
          </a:prstGeom>
          <a:noFill/>
          <a:ln w="12700">
            <a:solidFill>
              <a:srgbClr val="D7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874520"/>
            <a:ext cx="1234440" cy="1234440"/>
          </a:xfrm>
          <a:prstGeom prst="roundRect">
            <a:avLst>
              <a:gd name="adj" fmla="val 8889"/>
            </a:avLst>
          </a:prstGeom>
          <a:solidFill>
            <a:srgbClr val="1232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2140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49808" y="2514600"/>
            <a:ext cx="1106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FFFFFF"/>
                </a:solidFill>
              </a:rPr>
              <a:t>Pilot scope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2313432" y="1874520"/>
            <a:ext cx="1234440" cy="1234440"/>
          </a:xfrm>
          <a:prstGeom prst="roundRect">
            <a:avLst>
              <a:gd name="adj" fmla="val 8889"/>
            </a:avLst>
          </a:prstGeom>
          <a:solidFill>
            <a:srgbClr val="1F6F8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04872" y="212140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514600"/>
            <a:ext cx="1106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FFFFFF"/>
                </a:solidFill>
              </a:rPr>
              <a:t>Facebook page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3941064" y="1874520"/>
            <a:ext cx="1234440" cy="1234440"/>
          </a:xfrm>
          <a:prstGeom prst="roundRect">
            <a:avLst>
              <a:gd name="adj" fmla="val 8889"/>
            </a:avLst>
          </a:prstGeom>
          <a:solidFill>
            <a:srgbClr val="2E8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32504" y="212140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05072" y="2514600"/>
            <a:ext cx="1106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FFFFFF"/>
                </a:solidFill>
              </a:rPr>
              <a:t>Provider form + sheet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568696" y="1874520"/>
            <a:ext cx="1234440" cy="1234440"/>
          </a:xfrm>
          <a:prstGeom prst="roundRect">
            <a:avLst>
              <a:gd name="adj" fmla="val 8889"/>
            </a:avLst>
          </a:prstGeom>
          <a:solidFill>
            <a:srgbClr val="F2B84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0136" y="212140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252E"/>
                </a:solidFill>
              </a:rPr>
              <a:t>Day 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32704" y="2514600"/>
            <a:ext cx="1106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1C252E"/>
                </a:solidFill>
              </a:rPr>
              <a:t>Client form + tracker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7196328" y="1874520"/>
            <a:ext cx="1234440" cy="1234440"/>
          </a:xfrm>
          <a:prstGeom prst="roundRect">
            <a:avLst>
              <a:gd name="adj" fmla="val 8889"/>
            </a:avLst>
          </a:prstGeom>
          <a:solidFill>
            <a:srgbClr val="7A4B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87768" y="212140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60336" y="2514600"/>
            <a:ext cx="1106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FFFFFF"/>
                </a:solidFill>
              </a:rPr>
              <a:t>Rules + scripts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8823960" y="1874520"/>
            <a:ext cx="1234440" cy="1234440"/>
          </a:xfrm>
          <a:prstGeom prst="roundRect">
            <a:avLst>
              <a:gd name="adj" fmla="val 8889"/>
            </a:avLst>
          </a:prstGeom>
          <a:solidFill>
            <a:srgbClr val="2E8B5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15400" y="212140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6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87968" y="2514600"/>
            <a:ext cx="1106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FFFFFF"/>
                </a:solidFill>
              </a:rPr>
              <a:t>100 provider leads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10451592" y="1874520"/>
            <a:ext cx="1234440" cy="1234440"/>
          </a:xfrm>
          <a:prstGeom prst="roundRect">
            <a:avLst>
              <a:gd name="adj" fmla="val 8889"/>
            </a:avLst>
          </a:prstGeom>
          <a:solidFill>
            <a:srgbClr val="1F6F8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43032" y="2121408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515600" y="2514600"/>
            <a:ext cx="11064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dirty="0">
                <a:solidFill>
                  <a:srgbClr val="FFFFFF"/>
                </a:solidFill>
              </a:rPr>
              <a:t>Start outreach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1005840" y="4663440"/>
            <a:ext cx="10149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2324A"/>
                </a:solidFill>
              </a:rPr>
              <a:t>Week 1 is successful if KAILA can be explained clearly, collect signups, receive requests, and track everything.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21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32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</a:rPr>
              <a:t>Recommended First Move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713232" y="132588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2B84B"/>
                </a:solidFill>
              </a:rPr>
              <a:t>KAILA Gingoog Concierge Pilot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2240280"/>
            <a:ext cx="3017520" cy="868680"/>
          </a:xfrm>
          <a:prstGeom prst="roundRect">
            <a:avLst>
              <a:gd name="adj" fmla="val 12632"/>
            </a:avLst>
          </a:prstGeom>
          <a:solidFill>
            <a:srgbClr val="173F5B"/>
          </a:solidFill>
          <a:ln w="12700">
            <a:solidFill>
              <a:srgbClr val="335E7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42316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E8B57"/>
                </a:solidFill>
              </a:rPr>
              <a:t>50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874520" y="252374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providers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480560" y="2240280"/>
            <a:ext cx="3017520" cy="868680"/>
          </a:xfrm>
          <a:prstGeom prst="roundRect">
            <a:avLst>
              <a:gd name="adj" fmla="val 12632"/>
            </a:avLst>
          </a:prstGeom>
          <a:solidFill>
            <a:srgbClr val="173F5B"/>
          </a:solidFill>
          <a:ln w="12700">
            <a:solidFill>
              <a:srgbClr val="335E7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242316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E8B57"/>
                </a:solidFill>
              </a:rPr>
              <a:t>100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532120" y="252374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client responses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138160" y="2240280"/>
            <a:ext cx="3017520" cy="868680"/>
          </a:xfrm>
          <a:prstGeom prst="roundRect">
            <a:avLst>
              <a:gd name="adj" fmla="val 12632"/>
            </a:avLst>
          </a:prstGeom>
          <a:solidFill>
            <a:srgbClr val="173F5B"/>
          </a:solidFill>
          <a:ln w="12700">
            <a:solidFill>
              <a:srgbClr val="335E7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242316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E8B57"/>
                </a:solidFill>
              </a:rPr>
              <a:t>30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9189720" y="252374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real requests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3657600"/>
            <a:ext cx="3017520" cy="868680"/>
          </a:xfrm>
          <a:prstGeom prst="roundRect">
            <a:avLst>
              <a:gd name="adj" fmla="val 12632"/>
            </a:avLst>
          </a:prstGeom>
          <a:solidFill>
            <a:srgbClr val="173F5B"/>
          </a:solidFill>
          <a:ln w="12700">
            <a:solidFill>
              <a:srgbClr val="335E7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84048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E8B57"/>
                </a:solidFill>
              </a:rPr>
              <a:t>15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874520" y="394106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completed/strongly matched jobs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480560" y="3657600"/>
            <a:ext cx="3017520" cy="868680"/>
          </a:xfrm>
          <a:prstGeom prst="roundRect">
            <a:avLst>
              <a:gd name="adj" fmla="val 12632"/>
            </a:avLst>
          </a:prstGeom>
          <a:solidFill>
            <a:srgbClr val="173F5B"/>
          </a:solidFill>
          <a:ln w="12700">
            <a:solidFill>
              <a:srgbClr val="335E7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63440" y="384048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E8B57"/>
                </a:solidFill>
              </a:rPr>
              <a:t>5-8</a:t>
            </a:r>
            <a:endParaRPr lang="en-US" sz="2300" dirty="0"/>
          </a:p>
        </p:txBody>
      </p:sp>
      <p:sp>
        <p:nvSpPr>
          <p:cNvPr id="18" name="Text 16"/>
          <p:cNvSpPr/>
          <p:nvPr/>
        </p:nvSpPr>
        <p:spPr>
          <a:xfrm>
            <a:off x="5532120" y="394106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categories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138160" y="3657600"/>
            <a:ext cx="3017520" cy="868680"/>
          </a:xfrm>
          <a:prstGeom prst="roundRect">
            <a:avLst>
              <a:gd name="adj" fmla="val 12632"/>
            </a:avLst>
          </a:prstGeom>
          <a:solidFill>
            <a:srgbClr val="173F5B"/>
          </a:solidFill>
          <a:ln w="12700">
            <a:solidFill>
              <a:srgbClr val="335E7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1040" y="3840480"/>
            <a:ext cx="777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2E8B57"/>
                </a:solidFill>
              </a:rPr>
              <a:t>30-45</a:t>
            </a:r>
            <a:endParaRPr lang="en-US" sz="2300" dirty="0"/>
          </a:p>
        </p:txBody>
      </p:sp>
      <p:sp>
        <p:nvSpPr>
          <p:cNvPr id="21" name="Text 19"/>
          <p:cNvSpPr/>
          <p:nvPr/>
        </p:nvSpPr>
        <p:spPr>
          <a:xfrm>
            <a:off x="9189720" y="3941064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</a:rPr>
              <a:t>active matching days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4400" y="56692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If the pilot shows strong behavior and trust, build the MVP around the proven workflow.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2920" y="651052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5B6770"/>
                </a:solidFill>
              </a:rPr>
              <a:t>KAILA Right-Path Startup Guide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338560" y="65105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5B6770"/>
                </a:solidFill>
              </a:rPr>
              <a:t>22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1469</Words>
  <Application>Microsoft Office PowerPoint</Application>
  <PresentationFormat>Widescreen</PresentationFormat>
  <Paragraphs>369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4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KAILA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KAILA Right-Path Startup Guide</dc:title>
  <dc:subject>Right-Path Startup Guide</dc:subject>
  <dc:creator>OpenAI</dc:creator>
  <cp:lastModifiedBy>John Mark Agustin Acido</cp:lastModifiedBy>
  <cp:revision>2</cp:revision>
  <dcterms:created xsi:type="dcterms:W3CDTF">2026-05-31T06:17:21Z</dcterms:created>
  <dcterms:modified xsi:type="dcterms:W3CDTF">2026-05-31T07:13:31Z</dcterms:modified>
</cp:coreProperties>
</file>